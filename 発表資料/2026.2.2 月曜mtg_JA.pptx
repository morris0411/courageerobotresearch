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296" r:id="rId5"/>
    <p:sldId id="3162" r:id="rId6"/>
    <p:sldId id="3128" r:id="rId7"/>
    <p:sldId id="3133" r:id="rId8"/>
    <p:sldId id="3130" r:id="rId9"/>
    <p:sldId id="3168" r:id="rId10"/>
    <p:sldId id="3163" r:id="rId11"/>
    <p:sldId id="3164" r:id="rId12"/>
    <p:sldId id="3170" r:id="rId13"/>
    <p:sldId id="3165" r:id="rId14"/>
    <p:sldId id="3193" r:id="rId15"/>
    <p:sldId id="3177" r:id="rId16"/>
    <p:sldId id="3186" r:id="rId17"/>
    <p:sldId id="3185" r:id="rId18"/>
    <p:sldId id="3189" r:id="rId19"/>
    <p:sldId id="3183" r:id="rId20"/>
    <p:sldId id="3194" r:id="rId21"/>
    <p:sldId id="3195" r:id="rId22"/>
    <p:sldId id="3192" r:id="rId23"/>
    <p:sldId id="3180" r:id="rId24"/>
    <p:sldId id="3202" r:id="rId25"/>
    <p:sldId id="3203" r:id="rId26"/>
    <p:sldId id="3205" r:id="rId27"/>
    <p:sldId id="3196" r:id="rId28"/>
    <p:sldId id="3206" r:id="rId29"/>
    <p:sldId id="3207" r:id="rId30"/>
    <p:sldId id="3208" r:id="rId31"/>
    <p:sldId id="3210" r:id="rId32"/>
    <p:sldId id="3211" r:id="rId33"/>
    <p:sldId id="3212" r:id="rId34"/>
    <p:sldId id="3213" r:id="rId3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F8F8"/>
    <a:srgbClr val="FFFFCC"/>
    <a:srgbClr val="3B6FBB"/>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CD84D7-F66E-454E-97C6-989A3C443B7D}" v="504" dt="2024-09-25T02:27:54.52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07" autoAdjust="0"/>
    <p:restoredTop sz="77602" autoAdjust="0"/>
  </p:normalViewPr>
  <p:slideViewPr>
    <p:cSldViewPr snapToGrid="0">
      <p:cViewPr varScale="1">
        <p:scale>
          <a:sx n="82" d="100"/>
          <a:sy n="82" d="100"/>
        </p:scale>
        <p:origin x="1482" y="126"/>
      </p:cViewPr>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2026/2/3</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a:t>
            </a:fld>
            <a:endParaRPr kumimoji="1" lang="ja-JP" altLang="en-US"/>
          </a:p>
        </p:txBody>
      </p:sp>
    </p:spTree>
    <p:extLst>
      <p:ext uri="{BB962C8B-B14F-4D97-AF65-F5344CB8AC3E}">
        <p14:creationId xmlns:p14="http://schemas.microsoft.com/office/powerpoint/2010/main" val="3857246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7CCA2-582D-3669-EE45-69FA6E5F00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DA32BD-6AD0-C8B7-9998-34E2C9D965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60628E-CEA2-6714-A276-335A9E8BF66F}"/>
              </a:ext>
            </a:extLst>
          </p:cNvPr>
          <p:cNvSpPr>
            <a:spLocks noGrp="1"/>
          </p:cNvSpPr>
          <p:nvPr>
            <p:ph type="body" idx="1"/>
          </p:nvPr>
        </p:nvSpPr>
        <p:spPr/>
        <p:txBody>
          <a:bodyPr/>
          <a:lstStyle/>
          <a:p>
            <a:pPr rtl="0"/>
            <a:r>
              <a:rPr lang="ja-JP" altLang="en-US" sz="1800" b="0" i="0" u="none" strike="noStrike" dirty="0">
                <a:solidFill>
                  <a:srgbClr val="000000"/>
                </a:solidFill>
                <a:effectLst/>
                <a:latin typeface="Arial" panose="020B0604020202020204" pitchFamily="34" charset="0"/>
              </a:rPr>
              <a:t>日本社会では共通する課題として「過度に失敗を恐れる」ということがあります。</a:t>
            </a:r>
            <a:endParaRPr lang="ja-JP" altLang="en-US" sz="8800" b="0" dirty="0">
              <a:effectLst/>
            </a:endParaRPr>
          </a:p>
          <a:p>
            <a:br>
              <a:rPr lang="ja-JP" altLang="en-US" sz="6600" dirty="0"/>
            </a:br>
            <a:r>
              <a:rPr lang="en-US" altLang="ja-JP" sz="6600" dirty="0"/>
              <a:t>OECD</a:t>
            </a:r>
            <a:r>
              <a:rPr lang="ja-JP" altLang="en-US" sz="6600" dirty="0"/>
              <a:t>諸国の中では最も失敗を恐れる程度が高いという報告があります。その理由として、</a:t>
            </a:r>
            <a:r>
              <a:rPr lang="en-US" altLang="ja-JP" sz="6600" dirty="0"/>
              <a:t>『</a:t>
            </a:r>
            <a:r>
              <a:rPr lang="ja-JP" altLang="en-US" sz="6600" dirty="0"/>
              <a:t>失敗したらどうしよう</a:t>
            </a:r>
            <a:r>
              <a:rPr lang="en-US" altLang="ja-JP" sz="6600" dirty="0"/>
              <a:t>』</a:t>
            </a:r>
            <a:r>
              <a:rPr lang="ja-JP" altLang="en-US" sz="6600" dirty="0"/>
              <a:t>という恐怖や、日本社会に根強く残る保守的な文化が挙げられます。その結果挑戦を避け、現状に滞る人が増えています。</a:t>
            </a:r>
            <a:endParaRPr lang="en-US" altLang="ja-JP" sz="6600" dirty="0"/>
          </a:p>
          <a:p>
            <a:endParaRPr lang="en-US" altLang="ja-JP" sz="6600" dirty="0"/>
          </a:p>
          <a:p>
            <a:r>
              <a:rPr lang="ja-JP" altLang="en-US" sz="6600" dirty="0"/>
              <a:t>こうなってしまう理由として、コンフォートゾーンにとどまってしますことが挙げられます。</a:t>
            </a:r>
            <a:endParaRPr lang="en-US" altLang="ja-JP" sz="4800" dirty="0"/>
          </a:p>
        </p:txBody>
      </p:sp>
      <p:sp>
        <p:nvSpPr>
          <p:cNvPr id="4" name="スライド番号プレースホルダー 3">
            <a:extLst>
              <a:ext uri="{FF2B5EF4-FFF2-40B4-BE49-F238E27FC236}">
                <a16:creationId xmlns:a16="http://schemas.microsoft.com/office/drawing/2014/main" id="{A8871BFE-3E62-CD99-CDA8-97DA7E08C0CC}"/>
              </a:ext>
            </a:extLst>
          </p:cNvPr>
          <p:cNvSpPr>
            <a:spLocks noGrp="1"/>
          </p:cNvSpPr>
          <p:nvPr>
            <p:ph type="sldNum" sz="quarter" idx="10"/>
          </p:nvPr>
        </p:nvSpPr>
        <p:spPr/>
        <p:txBody>
          <a:bodyPr/>
          <a:lstStyle/>
          <a:p>
            <a:fld id="{BF1016EC-65C3-447D-A0D4-B8E130C4A6B8}" type="slidenum">
              <a:rPr kumimoji="1" lang="ja-JP" altLang="en-US" smtClean="0"/>
              <a:t>2</a:t>
            </a:fld>
            <a:endParaRPr kumimoji="1" lang="ja-JP" altLang="en-US"/>
          </a:p>
        </p:txBody>
      </p:sp>
    </p:spTree>
    <p:extLst>
      <p:ext uri="{BB962C8B-B14F-4D97-AF65-F5344CB8AC3E}">
        <p14:creationId xmlns:p14="http://schemas.microsoft.com/office/powerpoint/2010/main" val="2286343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C88B-EAAB-FD8E-0A15-3F35A13FF5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F05F62-C7EB-2160-7E21-D8537EB518A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07D02C-3F01-96ED-C230-2F11E51F71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800" dirty="0"/>
              <a:t>コンフォートゾーンとは、慣れ親しんだ環境や状態のことです。</a:t>
            </a:r>
            <a:br>
              <a:rPr lang="ja-JP" altLang="en-US" sz="8800" dirty="0"/>
            </a:br>
            <a:r>
              <a:rPr lang="ja-JP" altLang="en-US" sz="8800" dirty="0"/>
              <a:t>メリットとしては、安全や安心を感じられるため、ストレスが少ない点が挙げられます。</a:t>
            </a:r>
            <a:br>
              <a:rPr lang="ja-JP" altLang="en-US" sz="8800" dirty="0"/>
            </a:br>
            <a:r>
              <a:rPr lang="ja-JP" altLang="en-US" sz="8800" dirty="0"/>
              <a:t>一方で、挑戦や成長の機会を逃しやすくなったり、変化を拒んでこの状態を維持しようとするというデメリットもあります。</a:t>
            </a:r>
            <a:br>
              <a:rPr lang="ja-JP" altLang="en-US" sz="8800" dirty="0"/>
            </a:br>
            <a:r>
              <a:rPr lang="ja-JP" altLang="en-US" sz="8800" dirty="0"/>
              <a:t>図のように、コンフォートゾーンの外には学習ゾーンやパニックゾーンが存在し、成長にはこの外に踏み出す必要があるとされています。</a:t>
            </a:r>
            <a:endParaRPr lang="en-US" altLang="ja-JP" sz="4800" dirty="0"/>
          </a:p>
        </p:txBody>
      </p:sp>
      <p:sp>
        <p:nvSpPr>
          <p:cNvPr id="4" name="スライド番号プレースホルダー 3">
            <a:extLst>
              <a:ext uri="{FF2B5EF4-FFF2-40B4-BE49-F238E27FC236}">
                <a16:creationId xmlns:a16="http://schemas.microsoft.com/office/drawing/2014/main" id="{E7E64E64-669B-C41E-F36F-3B7D6307E332}"/>
              </a:ext>
            </a:extLst>
          </p:cNvPr>
          <p:cNvSpPr>
            <a:spLocks noGrp="1"/>
          </p:cNvSpPr>
          <p:nvPr>
            <p:ph type="sldNum" sz="quarter" idx="10"/>
          </p:nvPr>
        </p:nvSpPr>
        <p:spPr/>
        <p:txBody>
          <a:bodyPr/>
          <a:lstStyle/>
          <a:p>
            <a:fld id="{BF1016EC-65C3-447D-A0D4-B8E130C4A6B8}" type="slidenum">
              <a:rPr kumimoji="1" lang="ja-JP" altLang="en-US" smtClean="0"/>
              <a:t>3</a:t>
            </a:fld>
            <a:endParaRPr kumimoji="1" lang="ja-JP" altLang="en-US"/>
          </a:p>
        </p:txBody>
      </p:sp>
    </p:spTree>
    <p:extLst>
      <p:ext uri="{BB962C8B-B14F-4D97-AF65-F5344CB8AC3E}">
        <p14:creationId xmlns:p14="http://schemas.microsoft.com/office/powerpoint/2010/main" val="2512425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54FE2-3C7E-22A7-6A77-A8C7BF72E2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2868CA8-2070-B480-EBA2-7E9205769C9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AA4B7C-2241-CE51-9E67-9F5420B681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800" dirty="0"/>
              <a:t>このコンフォートゾーンにいながら、安全な選択肢を取ることで、短期的には安心感を得られるかもしれません。</a:t>
            </a:r>
            <a:endParaRPr lang="en-US" altLang="ja-JP" sz="88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800" dirty="0"/>
              <a:t>しかし、それが長期的になってしまうと、後々になって、後悔が積み重なってしまう恐れがあります。</a:t>
            </a:r>
            <a:endParaRPr lang="en-US" altLang="ja-JP" sz="88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600" b="0" dirty="0">
                <a:latin typeface="メイリオ" panose="020B0604030504040204" pitchFamily="50" charset="-128"/>
                <a:ea typeface="メイリオ" panose="020B0604030504040204" pitchFamily="50" charset="-128"/>
              </a:rPr>
              <a:t>人が最も後悔し苦しむのは、義務や責任に関することではなく、「理想の自己」として生きることができなかった後悔、という報告もされていて、</a:t>
            </a:r>
            <a:endParaRPr lang="en-US" altLang="ja-JP" sz="88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800" dirty="0"/>
              <a:t>挑戦しない人生では、</a:t>
            </a:r>
            <a:r>
              <a:rPr lang="en-US" altLang="ja-JP" sz="8800" dirty="0"/>
              <a:t>『</a:t>
            </a:r>
            <a:r>
              <a:rPr lang="ja-JP" altLang="en-US" sz="8800" dirty="0"/>
              <a:t>あのときやっておけばよかった</a:t>
            </a:r>
            <a:r>
              <a:rPr lang="en-US" altLang="ja-JP" sz="8800" dirty="0"/>
              <a:t>』</a:t>
            </a:r>
            <a:r>
              <a:rPr lang="ja-JP" altLang="en-US" sz="8800" dirty="0"/>
              <a:t>という後悔が積み重なり、最終的には</a:t>
            </a:r>
            <a:r>
              <a:rPr lang="en-US" altLang="ja-JP" sz="8800" dirty="0"/>
              <a:t>『</a:t>
            </a:r>
            <a:r>
              <a:rPr lang="ja-JP" altLang="en-US" sz="8800" dirty="0"/>
              <a:t>何も残らなかった</a:t>
            </a:r>
            <a:r>
              <a:rPr lang="en-US" altLang="ja-JP" sz="8800" dirty="0"/>
              <a:t>』</a:t>
            </a:r>
            <a:r>
              <a:rPr lang="ja-JP" altLang="en-US" sz="8800" dirty="0"/>
              <a:t>という虚無感や絶望感に襲われる可能性があります。</a:t>
            </a:r>
            <a:endParaRPr lang="en-US" altLang="ja-JP" sz="8800" dirty="0"/>
          </a:p>
        </p:txBody>
      </p:sp>
      <p:sp>
        <p:nvSpPr>
          <p:cNvPr id="4" name="スライド番号プレースホルダー 3">
            <a:extLst>
              <a:ext uri="{FF2B5EF4-FFF2-40B4-BE49-F238E27FC236}">
                <a16:creationId xmlns:a16="http://schemas.microsoft.com/office/drawing/2014/main" id="{DA0510AD-A48B-32D8-89AA-E8961C55D530}"/>
              </a:ext>
            </a:extLst>
          </p:cNvPr>
          <p:cNvSpPr>
            <a:spLocks noGrp="1"/>
          </p:cNvSpPr>
          <p:nvPr>
            <p:ph type="sldNum" sz="quarter" idx="10"/>
          </p:nvPr>
        </p:nvSpPr>
        <p:spPr/>
        <p:txBody>
          <a:bodyPr/>
          <a:lstStyle/>
          <a:p>
            <a:fld id="{BF1016EC-65C3-447D-A0D4-B8E130C4A6B8}" type="slidenum">
              <a:rPr kumimoji="1" lang="ja-JP" altLang="en-US" smtClean="0"/>
              <a:t>4</a:t>
            </a:fld>
            <a:endParaRPr kumimoji="1" lang="ja-JP" altLang="en-US"/>
          </a:p>
        </p:txBody>
      </p:sp>
    </p:spTree>
    <p:extLst>
      <p:ext uri="{BB962C8B-B14F-4D97-AF65-F5344CB8AC3E}">
        <p14:creationId xmlns:p14="http://schemas.microsoft.com/office/powerpoint/2010/main" val="1969714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920D5-98BF-B70F-8535-F5403945895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F5B6AF-C51A-BB00-A847-661C56CEB3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01BA9E9-410A-69A2-1A22-6877238EF0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800" dirty="0"/>
              <a:t>コンフォートゾーンを飛び出すには、他者の行動を観察することが効果的です。</a:t>
            </a:r>
            <a:br>
              <a:rPr lang="ja-JP" altLang="en-US" sz="8800" dirty="0"/>
            </a:br>
            <a:r>
              <a:rPr lang="ja-JP" altLang="en-US" sz="8800" dirty="0"/>
              <a:t>社会的学習の理論では、人は他者の行動を見て学ぶとされています。</a:t>
            </a:r>
            <a:br>
              <a:rPr lang="ja-JP" altLang="en-US" sz="8800" dirty="0"/>
            </a:br>
            <a:r>
              <a:rPr lang="ja-JP" altLang="en-US" sz="8800" dirty="0"/>
              <a:t>また、他者の挑戦を見ることで</a:t>
            </a:r>
            <a:r>
              <a:rPr lang="en-US" altLang="ja-JP" sz="8800" dirty="0"/>
              <a:t>『</a:t>
            </a:r>
            <a:r>
              <a:rPr lang="ja-JP" altLang="en-US" sz="8800" dirty="0"/>
              <a:t>自分にもできるかもしれない</a:t>
            </a:r>
            <a:r>
              <a:rPr lang="en-US" altLang="ja-JP" sz="8800" dirty="0"/>
              <a:t>』</a:t>
            </a:r>
            <a:r>
              <a:rPr lang="ja-JP" altLang="en-US" sz="8800" dirty="0"/>
              <a:t>と自己効力感が高まりやすくなります。</a:t>
            </a:r>
            <a:br>
              <a:rPr lang="ja-JP" altLang="en-US" sz="8800" dirty="0"/>
            </a:br>
            <a:r>
              <a:rPr lang="ja-JP" altLang="en-US" sz="8800" dirty="0"/>
              <a:t>さらに、自分と同じ立場の人が挑戦しているのを見ると、心理的ハードルが下がり、自分の行動を後押ししてくれます。</a:t>
            </a:r>
            <a:endParaRPr lang="en-US" altLang="ja-JP" sz="4800" dirty="0"/>
          </a:p>
        </p:txBody>
      </p:sp>
      <p:sp>
        <p:nvSpPr>
          <p:cNvPr id="4" name="スライド番号プレースホルダー 3">
            <a:extLst>
              <a:ext uri="{FF2B5EF4-FFF2-40B4-BE49-F238E27FC236}">
                <a16:creationId xmlns:a16="http://schemas.microsoft.com/office/drawing/2014/main" id="{0A71A00C-5047-0988-6EA4-C16C5D074C10}"/>
              </a:ext>
            </a:extLst>
          </p:cNvPr>
          <p:cNvSpPr>
            <a:spLocks noGrp="1"/>
          </p:cNvSpPr>
          <p:nvPr>
            <p:ph type="sldNum" sz="quarter" idx="10"/>
          </p:nvPr>
        </p:nvSpPr>
        <p:spPr/>
        <p:txBody>
          <a:bodyPr/>
          <a:lstStyle/>
          <a:p>
            <a:fld id="{BF1016EC-65C3-447D-A0D4-B8E130C4A6B8}" type="slidenum">
              <a:rPr kumimoji="1" lang="ja-JP" altLang="en-US" smtClean="0"/>
              <a:t>5</a:t>
            </a:fld>
            <a:endParaRPr kumimoji="1" lang="ja-JP" altLang="en-US"/>
          </a:p>
        </p:txBody>
      </p:sp>
    </p:spTree>
    <p:extLst>
      <p:ext uri="{BB962C8B-B14F-4D97-AF65-F5344CB8AC3E}">
        <p14:creationId xmlns:p14="http://schemas.microsoft.com/office/powerpoint/2010/main" val="1641328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C9598-680A-1CF1-3CD2-93EEAD78D28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E6A3C2-B5DB-6D08-60C8-5308C5F3AA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C3BDF1-0842-C896-276F-D0D74A3871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600" dirty="0"/>
              <a:t>関連する研究で、人が他者の行動を観察することで自らの行動にも影響を受けるということは、しばしば報告されています。</a:t>
            </a:r>
            <a:endParaRPr lang="en-US" altLang="ja-JP" sz="66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600" dirty="0"/>
              <a:t>たとえば、大人が努力する姿を見た乳児が、目標達成に向けてより粘り強く取り組むことが報告されています。</a:t>
            </a:r>
            <a:endParaRPr lang="en-US" altLang="ja-JP" sz="66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600" dirty="0"/>
              <a:t>また、犬のエージェントが困難に立ち向かう様子を見た人は、自分も頑張ろうと感じる傾向が示されています。</a:t>
            </a:r>
            <a:endParaRPr lang="en-US" altLang="ja-JP" sz="66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600" dirty="0"/>
              <a:t>これらの研究は、努力する他者の存在が観察者の行動意欲を高めることを示唆しています。</a:t>
            </a:r>
            <a:endParaRPr lang="en-US" altLang="ja-JP" sz="66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600" dirty="0"/>
              <a:t>これを踏まえ、私は他者の勇気ある姿にも同様の効果が得られるのではないかと考え、</a:t>
            </a:r>
            <a:r>
              <a:rPr lang="en-US" altLang="ja-JP" sz="6600" dirty="0"/>
              <a:t>『</a:t>
            </a:r>
            <a:r>
              <a:rPr kumimoji="1" lang="ja-JP" altLang="en-US" sz="6600" dirty="0">
                <a:latin typeface="メイリオ" panose="020B0604030504040204" pitchFamily="50" charset="-128"/>
                <a:ea typeface="メイリオ" panose="020B0604030504040204" pitchFamily="50" charset="-128"/>
              </a:rPr>
              <a:t>他者</a:t>
            </a:r>
            <a:r>
              <a:rPr lang="ja-JP" altLang="en-US" sz="6600" dirty="0">
                <a:latin typeface="メイリオ" panose="020B0604030504040204" pitchFamily="50" charset="-128"/>
                <a:ea typeface="メイリオ" panose="020B0604030504040204" pitchFamily="50" charset="-128"/>
              </a:rPr>
              <a:t>の勇気ある行動</a:t>
            </a:r>
            <a:r>
              <a:rPr kumimoji="1" lang="ja-JP" altLang="en-US" sz="6600" dirty="0">
                <a:latin typeface="メイリオ" panose="020B0604030504040204" pitchFamily="50" charset="-128"/>
                <a:ea typeface="メイリオ" panose="020B0604030504040204" pitchFamily="50" charset="-128"/>
              </a:rPr>
              <a:t>を観察す</a:t>
            </a:r>
            <a:r>
              <a:rPr lang="ja-JP" altLang="en-US" sz="6600" dirty="0">
                <a:latin typeface="メイリオ" panose="020B0604030504040204" pitchFamily="50" charset="-128"/>
                <a:ea typeface="メイリオ" panose="020B0604030504040204" pitchFamily="50" charset="-128"/>
              </a:rPr>
              <a:t>ることで自分も勇気ある行動をとろうと思うのではないか</a:t>
            </a:r>
            <a:r>
              <a:rPr lang="en-US" altLang="ja-JP" sz="6600" dirty="0"/>
              <a:t>』</a:t>
            </a:r>
            <a:r>
              <a:rPr lang="ja-JP" altLang="en-US" sz="6600" dirty="0"/>
              <a:t>という仮説を立てました。</a:t>
            </a:r>
            <a:endParaRPr lang="en-US" altLang="ja-JP" sz="4800" dirty="0"/>
          </a:p>
        </p:txBody>
      </p:sp>
      <p:sp>
        <p:nvSpPr>
          <p:cNvPr id="4" name="スライド番号プレースホルダー 3">
            <a:extLst>
              <a:ext uri="{FF2B5EF4-FFF2-40B4-BE49-F238E27FC236}">
                <a16:creationId xmlns:a16="http://schemas.microsoft.com/office/drawing/2014/main" id="{73D0A95D-4F2E-953D-43AB-EFD833A45EC4}"/>
              </a:ext>
            </a:extLst>
          </p:cNvPr>
          <p:cNvSpPr>
            <a:spLocks noGrp="1"/>
          </p:cNvSpPr>
          <p:nvPr>
            <p:ph type="sldNum" sz="quarter" idx="10"/>
          </p:nvPr>
        </p:nvSpPr>
        <p:spPr/>
        <p:txBody>
          <a:bodyPr/>
          <a:lstStyle/>
          <a:p>
            <a:fld id="{BF1016EC-65C3-447D-A0D4-B8E130C4A6B8}" type="slidenum">
              <a:rPr kumimoji="1" lang="ja-JP" altLang="en-US" smtClean="0"/>
              <a:t>6</a:t>
            </a:fld>
            <a:endParaRPr kumimoji="1" lang="ja-JP" altLang="en-US"/>
          </a:p>
        </p:txBody>
      </p:sp>
    </p:spTree>
    <p:extLst>
      <p:ext uri="{BB962C8B-B14F-4D97-AF65-F5344CB8AC3E}">
        <p14:creationId xmlns:p14="http://schemas.microsoft.com/office/powerpoint/2010/main" val="3670478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4C29-9A66-1478-7AA2-C18C4906D6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31D9181-34A7-7C24-5376-0E1F57632C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C69F6B-B263-C7B8-035C-90848D73F67E}"/>
              </a:ext>
            </a:extLst>
          </p:cNvPr>
          <p:cNvSpPr>
            <a:spLocks noGrp="1"/>
          </p:cNvSpPr>
          <p:nvPr>
            <p:ph type="body" idx="1"/>
          </p:nvPr>
        </p:nvSpPr>
        <p:spPr/>
        <p:txBody>
          <a:bodyPr/>
          <a:lstStyle/>
          <a:p>
            <a:r>
              <a:rPr lang="ja-JP" altLang="en-US" sz="6600" dirty="0"/>
              <a:t>そこで、本研究の目的は、エージェントの勇気ある行動を観察することで、観察者の勇気を引き出せるかを検証することです。</a:t>
            </a:r>
            <a:endParaRPr lang="en-US" altLang="ja-JP" sz="6600" dirty="0"/>
          </a:p>
          <a:p>
            <a:r>
              <a:rPr lang="ja-JP" altLang="en-US" sz="6600" dirty="0"/>
              <a:t>先行研究では、他者の</a:t>
            </a:r>
            <a:r>
              <a:rPr lang="en-US" altLang="ja-JP" sz="6600" dirty="0"/>
              <a:t>『</a:t>
            </a:r>
            <a:r>
              <a:rPr lang="ja-JP" altLang="en-US" sz="6600" dirty="0"/>
              <a:t>粘り強い努力</a:t>
            </a:r>
            <a:r>
              <a:rPr lang="en-US" altLang="ja-JP" sz="6600" dirty="0"/>
              <a:t>』</a:t>
            </a:r>
            <a:r>
              <a:rPr lang="ja-JP" altLang="en-US" sz="6600" dirty="0"/>
              <a:t>に焦点を当てていましたが、本研究では、他者の「勇気ある行動」に焦点を当てます。</a:t>
            </a:r>
            <a:endParaRPr lang="en-US" altLang="ja-JP" sz="4800" dirty="0"/>
          </a:p>
        </p:txBody>
      </p:sp>
      <p:sp>
        <p:nvSpPr>
          <p:cNvPr id="4" name="スライド番号プレースホルダー 3">
            <a:extLst>
              <a:ext uri="{FF2B5EF4-FFF2-40B4-BE49-F238E27FC236}">
                <a16:creationId xmlns:a16="http://schemas.microsoft.com/office/drawing/2014/main" id="{C730F130-7172-1D18-35C8-277CBA50BB6F}"/>
              </a:ext>
            </a:extLst>
          </p:cNvPr>
          <p:cNvSpPr>
            <a:spLocks noGrp="1"/>
          </p:cNvSpPr>
          <p:nvPr>
            <p:ph type="sldNum" sz="quarter" idx="10"/>
          </p:nvPr>
        </p:nvSpPr>
        <p:spPr/>
        <p:txBody>
          <a:bodyPr/>
          <a:lstStyle/>
          <a:p>
            <a:fld id="{BF1016EC-65C3-447D-A0D4-B8E130C4A6B8}" type="slidenum">
              <a:rPr kumimoji="1" lang="ja-JP" altLang="en-US" smtClean="0"/>
              <a:t>7</a:t>
            </a:fld>
            <a:endParaRPr kumimoji="1" lang="ja-JP" altLang="en-US"/>
          </a:p>
        </p:txBody>
      </p:sp>
    </p:spTree>
    <p:extLst>
      <p:ext uri="{BB962C8B-B14F-4D97-AF65-F5344CB8AC3E}">
        <p14:creationId xmlns:p14="http://schemas.microsoft.com/office/powerpoint/2010/main" val="244892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A6BB-28FB-2555-F1EC-20E99A245C9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D2B5F3-1628-93BF-55CF-483D0529993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117962-E9A2-587D-204D-DFF239653D3C}"/>
              </a:ext>
            </a:extLst>
          </p:cNvPr>
          <p:cNvSpPr>
            <a:spLocks noGrp="1"/>
          </p:cNvSpPr>
          <p:nvPr>
            <p:ph type="body" idx="1"/>
          </p:nvPr>
        </p:nvSpPr>
        <p:spPr/>
        <p:txBody>
          <a:bodyPr/>
          <a:lstStyle/>
          <a:p>
            <a:r>
              <a:rPr lang="ja-JP" altLang="en-US" sz="6600" b="1" dirty="0"/>
              <a:t>では、エージェントの勇気ある行動をどう作るか？</a:t>
            </a:r>
            <a:endParaRPr lang="ja-JP" altLang="en-US" sz="6600" dirty="0"/>
          </a:p>
          <a:p>
            <a:r>
              <a:rPr lang="ja-JP" altLang="en-US" sz="6600" dirty="0"/>
              <a:t>勇気ある行動の表現には「葛藤を表現する」ことが重要です。</a:t>
            </a:r>
          </a:p>
          <a:p>
            <a:r>
              <a:rPr lang="ja-JP" altLang="en-US" sz="6600" dirty="0"/>
              <a:t>勇気は、単に行動に移すことではありません</a:t>
            </a:r>
            <a:br>
              <a:rPr lang="ja-JP" altLang="en-US" sz="6600" dirty="0"/>
            </a:br>
            <a:r>
              <a:rPr lang="ja-JP" altLang="en-US" sz="6600" dirty="0"/>
              <a:t>まず葛藤があり、その葛藤を乗り越えることで行動につながります</a:t>
            </a:r>
          </a:p>
          <a:p>
            <a:r>
              <a:rPr lang="ja-JP" altLang="en-US" sz="6600" dirty="0"/>
              <a:t>ここでいう葛藤とは、自己の中の目標や信念、感情の不一致から生じる精神的な緊張を指します</a:t>
            </a:r>
          </a:p>
          <a:p>
            <a:endParaRPr lang="en-US" altLang="ja-JP" sz="6600" dirty="0"/>
          </a:p>
        </p:txBody>
      </p:sp>
      <p:sp>
        <p:nvSpPr>
          <p:cNvPr id="4" name="スライド番号プレースホルダー 3">
            <a:extLst>
              <a:ext uri="{FF2B5EF4-FFF2-40B4-BE49-F238E27FC236}">
                <a16:creationId xmlns:a16="http://schemas.microsoft.com/office/drawing/2014/main" id="{4AFB74E6-CA3C-1984-2EC6-5B504B9DA39E}"/>
              </a:ext>
            </a:extLst>
          </p:cNvPr>
          <p:cNvSpPr>
            <a:spLocks noGrp="1"/>
          </p:cNvSpPr>
          <p:nvPr>
            <p:ph type="sldNum" sz="quarter" idx="10"/>
          </p:nvPr>
        </p:nvSpPr>
        <p:spPr/>
        <p:txBody>
          <a:bodyPr/>
          <a:lstStyle/>
          <a:p>
            <a:fld id="{BF1016EC-65C3-447D-A0D4-B8E130C4A6B8}" type="slidenum">
              <a:rPr kumimoji="1" lang="ja-JP" altLang="en-US" smtClean="0"/>
              <a:t>8</a:t>
            </a:fld>
            <a:endParaRPr kumimoji="1" lang="ja-JP" altLang="en-US"/>
          </a:p>
        </p:txBody>
      </p:sp>
    </p:spTree>
    <p:extLst>
      <p:ext uri="{BB962C8B-B14F-4D97-AF65-F5344CB8AC3E}">
        <p14:creationId xmlns:p14="http://schemas.microsoft.com/office/powerpoint/2010/main" val="2985655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B20B-05A6-6BAA-3993-0BECF69B9A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150339-4A66-87E5-4F83-2E61E522E33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A4D63A-AB44-1B77-650E-F57047DAA7CE}"/>
              </a:ext>
            </a:extLst>
          </p:cNvPr>
          <p:cNvSpPr>
            <a:spLocks noGrp="1"/>
          </p:cNvSpPr>
          <p:nvPr>
            <p:ph type="body" idx="1"/>
          </p:nvPr>
        </p:nvSpPr>
        <p:spPr/>
        <p:txBody>
          <a:bodyPr/>
          <a:lstStyle/>
          <a:p>
            <a:r>
              <a:rPr lang="ja-JP" altLang="en-US" sz="8800" dirty="0"/>
              <a:t>また、葛藤は、</a:t>
            </a:r>
            <a:r>
              <a:rPr lang="en-US" altLang="ja-JP" sz="8800" dirty="0"/>
              <a:t>3</a:t>
            </a:r>
            <a:r>
              <a:rPr lang="ja-JP" altLang="en-US" sz="8800" dirty="0"/>
              <a:t>つのタイプに分類できるとされています。</a:t>
            </a:r>
            <a:endParaRPr lang="en-US" altLang="ja-JP" sz="8800" dirty="0"/>
          </a:p>
          <a:p>
            <a:r>
              <a:rPr lang="ja-JP" altLang="en-US" sz="8800" b="1" dirty="0"/>
              <a:t>接近</a:t>
            </a:r>
            <a:r>
              <a:rPr lang="en-US" altLang="ja-JP" sz="8800" b="1" dirty="0"/>
              <a:t>-</a:t>
            </a:r>
            <a:r>
              <a:rPr lang="ja-JP" altLang="en-US" sz="8800" b="1" dirty="0"/>
              <a:t>接近型葛藤</a:t>
            </a:r>
            <a:r>
              <a:rPr lang="ja-JP" altLang="en-US" sz="8800" dirty="0"/>
              <a:t>は</a:t>
            </a:r>
            <a:r>
              <a:rPr lang="en-US" altLang="ja-JP" sz="8800" dirty="0"/>
              <a:t>2</a:t>
            </a:r>
            <a:r>
              <a:rPr lang="ja-JP" altLang="en-US" sz="8800" dirty="0"/>
              <a:t>つ以上の魅力的な選択肢の間で迷う状況です。</a:t>
            </a:r>
          </a:p>
          <a:p>
            <a:pPr>
              <a:buFont typeface="+mj-lt"/>
              <a:buNone/>
            </a:pPr>
            <a:r>
              <a:rPr lang="ja-JP" altLang="en-US" sz="8800" b="1" dirty="0"/>
              <a:t>回避</a:t>
            </a:r>
            <a:r>
              <a:rPr lang="en-US" altLang="ja-JP" sz="8800" b="1" dirty="0"/>
              <a:t>-</a:t>
            </a:r>
            <a:r>
              <a:rPr lang="ja-JP" altLang="en-US" sz="8800" b="1" dirty="0"/>
              <a:t>回避型葛藤</a:t>
            </a:r>
            <a:r>
              <a:rPr lang="ja-JP" altLang="en-US" sz="8800" dirty="0"/>
              <a:t>は</a:t>
            </a:r>
            <a:r>
              <a:rPr lang="en-US" altLang="ja-JP" sz="8800" dirty="0"/>
              <a:t>2</a:t>
            </a:r>
            <a:r>
              <a:rPr lang="ja-JP" altLang="en-US" sz="8800" dirty="0"/>
              <a:t>つの望ましくない選択肢の間で選ばなければならない状況です。</a:t>
            </a:r>
          </a:p>
          <a:p>
            <a:pPr>
              <a:buFont typeface="+mj-lt"/>
              <a:buNone/>
            </a:pPr>
            <a:r>
              <a:rPr lang="ja-JP" altLang="en-US" sz="8800" b="1" dirty="0"/>
              <a:t>接近</a:t>
            </a:r>
            <a:r>
              <a:rPr lang="en-US" altLang="ja-JP" sz="8800" b="1" dirty="0"/>
              <a:t>-</a:t>
            </a:r>
            <a:r>
              <a:rPr lang="ja-JP" altLang="en-US" sz="8800" b="1" dirty="0"/>
              <a:t>回避型葛藤</a:t>
            </a:r>
            <a:r>
              <a:rPr lang="ja-JP" altLang="en-US" sz="8800" dirty="0"/>
              <a:t>は</a:t>
            </a:r>
            <a:r>
              <a:rPr lang="en-US" altLang="ja-JP" sz="8800" dirty="0"/>
              <a:t>1</a:t>
            </a:r>
            <a:r>
              <a:rPr lang="ja-JP" altLang="en-US" sz="8800" dirty="0"/>
              <a:t>つの選択肢が魅力的な面と望ましくない面の両方を持つ状況です。</a:t>
            </a:r>
            <a:endParaRPr lang="en-US" altLang="ja-JP" sz="8800" dirty="0"/>
          </a:p>
          <a:p>
            <a:pPr>
              <a:buFont typeface="+mj-lt"/>
              <a:buNone/>
            </a:pPr>
            <a:endParaRPr lang="en-US" altLang="ja-JP" sz="8800" dirty="0"/>
          </a:p>
          <a:p>
            <a:pPr>
              <a:buFont typeface="+mj-lt"/>
              <a:buNone/>
            </a:pPr>
            <a:r>
              <a:rPr lang="ja-JP" altLang="en-US" sz="8800" dirty="0"/>
              <a:t>本研究で論点としている、勇気ある行動をとるかどうかの状況においては、</a:t>
            </a:r>
            <a:r>
              <a:rPr lang="ja-JP" altLang="en-US" sz="9600" dirty="0"/>
              <a:t>「目標に向かって前進したい」という</a:t>
            </a:r>
            <a:r>
              <a:rPr lang="ja-JP" altLang="en-US" sz="9600" b="1" dirty="0"/>
              <a:t>接近動機</a:t>
            </a:r>
            <a:r>
              <a:rPr lang="ja-JP" altLang="en-US" sz="9600" dirty="0"/>
              <a:t>と「失敗や損失を避けたい」という</a:t>
            </a:r>
            <a:r>
              <a:rPr lang="ja-JP" altLang="en-US" sz="9600" b="1" dirty="0"/>
              <a:t>回避動機</a:t>
            </a:r>
            <a:r>
              <a:rPr lang="ja-JP" altLang="en-US" sz="9600" dirty="0"/>
              <a:t>のせめぎ合いが起こりますので、③の接近回避型葛藤が当てはまります。</a:t>
            </a:r>
            <a:endParaRPr lang="ja-JP" altLang="en-US" sz="8800" dirty="0"/>
          </a:p>
        </p:txBody>
      </p:sp>
      <p:sp>
        <p:nvSpPr>
          <p:cNvPr id="4" name="スライド番号プレースホルダー 3">
            <a:extLst>
              <a:ext uri="{FF2B5EF4-FFF2-40B4-BE49-F238E27FC236}">
                <a16:creationId xmlns:a16="http://schemas.microsoft.com/office/drawing/2014/main" id="{0F1FDB67-1B19-C332-D4AE-C4E591C8EA75}"/>
              </a:ext>
            </a:extLst>
          </p:cNvPr>
          <p:cNvSpPr>
            <a:spLocks noGrp="1"/>
          </p:cNvSpPr>
          <p:nvPr>
            <p:ph type="sldNum" sz="quarter" idx="10"/>
          </p:nvPr>
        </p:nvSpPr>
        <p:spPr/>
        <p:txBody>
          <a:bodyPr/>
          <a:lstStyle/>
          <a:p>
            <a:fld id="{BF1016EC-65C3-447D-A0D4-B8E130C4A6B8}" type="slidenum">
              <a:rPr kumimoji="1" lang="ja-JP" altLang="en-US" smtClean="0"/>
              <a:t>9</a:t>
            </a:fld>
            <a:endParaRPr kumimoji="1" lang="ja-JP" altLang="en-US"/>
          </a:p>
        </p:txBody>
      </p:sp>
    </p:spTree>
    <p:extLst>
      <p:ext uri="{BB962C8B-B14F-4D97-AF65-F5344CB8AC3E}">
        <p14:creationId xmlns:p14="http://schemas.microsoft.com/office/powerpoint/2010/main" val="1880892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DC8F-594D-3EE7-B394-6D980D8E00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C230B7-C92E-401F-704D-F6D9B2242F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470BB7-F67E-0011-822B-EBF2BDA6E139}"/>
              </a:ext>
            </a:extLst>
          </p:cNvPr>
          <p:cNvSpPr>
            <a:spLocks noGrp="1"/>
          </p:cNvSpPr>
          <p:nvPr>
            <p:ph type="body" idx="1"/>
          </p:nvPr>
        </p:nvSpPr>
        <p:spPr/>
        <p:txBody>
          <a:bodyPr/>
          <a:lstStyle/>
          <a:p>
            <a:r>
              <a:rPr lang="ja-JP" altLang="en-US" sz="6600" dirty="0"/>
              <a:t>では、このような通常現実世界では視認することが難しい葛藤を、いかにして表現するかですが、本研究ではエージェントの頭上に吹き出しを出すことで表現しようと考えました。</a:t>
            </a:r>
            <a:endParaRPr lang="en-US" altLang="ja-JP" sz="6600" dirty="0"/>
          </a:p>
          <a:p>
            <a:r>
              <a:rPr lang="ja-JP" altLang="en-US" sz="8800" dirty="0"/>
              <a:t>吹き出しは、従来コミックなどで「思考」や「感情」の表現手段として用いられ、非言語的な内面を即座に伝達する視覚メタファーとして定着している。</a:t>
            </a:r>
            <a:endParaRPr lang="en-US" altLang="ja-JP" sz="8800" dirty="0"/>
          </a:p>
          <a:p>
            <a:r>
              <a:rPr lang="ja-JP" altLang="en-US" sz="8800" dirty="0"/>
              <a:t>そのため、視線や表情だけでは伝えにくい「迷い」「葛藤」といった複雑な内面状態を表現できる。</a:t>
            </a:r>
            <a:endParaRPr lang="en-US" altLang="ja-JP" sz="8800" dirty="0"/>
          </a:p>
          <a:p>
            <a:r>
              <a:rPr lang="ja-JP" altLang="en-US" sz="8800" dirty="0"/>
              <a:t>さらに、先行研究では、ユーザーは吹き出しを通してエージェントの内的な注意や意識を直感的に受け取り、「内面を持つ存在」として認識しやすくなることが示されており、</a:t>
            </a:r>
            <a:r>
              <a:rPr lang="ja-JP" altLang="en-US" sz="6600" dirty="0"/>
              <a:t>エージェントの内情表現を効果的に伝達できるのではないかと考えています。</a:t>
            </a:r>
            <a:endParaRPr lang="en-US" altLang="ja-JP" sz="4800" dirty="0"/>
          </a:p>
        </p:txBody>
      </p:sp>
      <p:sp>
        <p:nvSpPr>
          <p:cNvPr id="4" name="スライド番号プレースホルダー 3">
            <a:extLst>
              <a:ext uri="{FF2B5EF4-FFF2-40B4-BE49-F238E27FC236}">
                <a16:creationId xmlns:a16="http://schemas.microsoft.com/office/drawing/2014/main" id="{C70FC739-0601-B67C-2C03-72E7C06349DF}"/>
              </a:ext>
            </a:extLst>
          </p:cNvPr>
          <p:cNvSpPr>
            <a:spLocks noGrp="1"/>
          </p:cNvSpPr>
          <p:nvPr>
            <p:ph type="sldNum" sz="quarter" idx="10"/>
          </p:nvPr>
        </p:nvSpPr>
        <p:spPr/>
        <p:txBody>
          <a:bodyPr/>
          <a:lstStyle/>
          <a:p>
            <a:fld id="{BF1016EC-65C3-447D-A0D4-B8E130C4A6B8}" type="slidenum">
              <a:rPr kumimoji="1" lang="ja-JP" altLang="en-US" smtClean="0"/>
              <a:t>10</a:t>
            </a:fld>
            <a:endParaRPr kumimoji="1" lang="ja-JP" altLang="en-US"/>
          </a:p>
        </p:txBody>
      </p:sp>
    </p:spTree>
    <p:extLst>
      <p:ext uri="{BB962C8B-B14F-4D97-AF65-F5344CB8AC3E}">
        <p14:creationId xmlns:p14="http://schemas.microsoft.com/office/powerpoint/2010/main" val="1496613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具体的には、このようにロボットの頭上にプロジェクターで吹き出しを映し出し、内面を表出させます。</a:t>
            </a:r>
            <a:endParaRPr kumimoji="1" lang="en-US" altLang="ja-JP" dirty="0"/>
          </a:p>
          <a:p>
            <a:endParaRPr kumimoji="1" lang="en-US" altLang="ja-JP" dirty="0"/>
          </a:p>
          <a:p>
            <a:r>
              <a:rPr kumimoji="1" lang="ja-JP" altLang="en-US" dirty="0"/>
              <a:t>ただし、このように吹き出しを使って葛藤を表現する方法は一様ではありません。</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11</a:t>
            </a:fld>
            <a:endParaRPr kumimoji="1" lang="ja-JP" altLang="en-US"/>
          </a:p>
        </p:txBody>
      </p:sp>
    </p:spTree>
    <p:extLst>
      <p:ext uri="{BB962C8B-B14F-4D97-AF65-F5344CB8AC3E}">
        <p14:creationId xmlns:p14="http://schemas.microsoft.com/office/powerpoint/2010/main" val="3911095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D4B61-3C19-9F26-4FB7-C1840E77B8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3759F2-1A77-1F45-EDB1-9B13C37DF7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5C841C-5AF0-A00C-8C0D-DE00A477ABCA}"/>
              </a:ext>
            </a:extLst>
          </p:cNvPr>
          <p:cNvSpPr>
            <a:spLocks noGrp="1"/>
          </p:cNvSpPr>
          <p:nvPr>
            <p:ph type="body" idx="1"/>
          </p:nvPr>
        </p:nvSpPr>
        <p:spPr/>
        <p:txBody>
          <a:bodyPr/>
          <a:lstStyle/>
          <a:p>
            <a:r>
              <a:rPr kumimoji="1" lang="ja-JP" altLang="en-US" dirty="0"/>
              <a:t>そこでまず、エージェントの勇気ある行動を適切に表現する方法を選定する必要があると考え、実験１を設定しました。</a:t>
            </a:r>
            <a:endParaRPr kumimoji="1" lang="en-US" altLang="ja-JP" dirty="0"/>
          </a:p>
          <a:p>
            <a:endParaRPr kumimoji="1" lang="en-US" altLang="ja-JP" dirty="0"/>
          </a:p>
          <a:p>
            <a:r>
              <a:rPr kumimoji="1" lang="ja-JP" altLang="en-US" dirty="0"/>
              <a:t>本発表では実験①について報告します。</a:t>
            </a:r>
          </a:p>
        </p:txBody>
      </p:sp>
      <p:sp>
        <p:nvSpPr>
          <p:cNvPr id="4" name="スライド番号プレースホルダー 3">
            <a:extLst>
              <a:ext uri="{FF2B5EF4-FFF2-40B4-BE49-F238E27FC236}">
                <a16:creationId xmlns:a16="http://schemas.microsoft.com/office/drawing/2014/main" id="{7B68B6FA-01CC-3C08-9C47-045DECABBC3F}"/>
              </a:ext>
            </a:extLst>
          </p:cNvPr>
          <p:cNvSpPr>
            <a:spLocks noGrp="1"/>
          </p:cNvSpPr>
          <p:nvPr>
            <p:ph type="sldNum" sz="quarter" idx="5"/>
          </p:nvPr>
        </p:nvSpPr>
        <p:spPr/>
        <p:txBody>
          <a:bodyPr/>
          <a:lstStyle/>
          <a:p>
            <a:fld id="{059A420A-BDF0-4775-9670-07D3BFB5E94B}" type="slidenum">
              <a:rPr kumimoji="1" lang="ja-JP" altLang="en-US" smtClean="0"/>
              <a:t>12</a:t>
            </a:fld>
            <a:endParaRPr kumimoji="1" lang="ja-JP" altLang="en-US"/>
          </a:p>
        </p:txBody>
      </p:sp>
    </p:spTree>
    <p:extLst>
      <p:ext uri="{BB962C8B-B14F-4D97-AF65-F5344CB8AC3E}">
        <p14:creationId xmlns:p14="http://schemas.microsoft.com/office/powerpoint/2010/main" val="3814402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A984B-6FF5-872A-2B12-C043E28B96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D18721-3810-6DF0-EB46-155E9861411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5A19CE-E4C5-972A-CCD7-B9668127A8D1}"/>
              </a:ext>
            </a:extLst>
          </p:cNvPr>
          <p:cNvSpPr>
            <a:spLocks noGrp="1"/>
          </p:cNvSpPr>
          <p:nvPr>
            <p:ph type="body" idx="1"/>
          </p:nvPr>
        </p:nvSpPr>
        <p:spPr/>
        <p:txBody>
          <a:bodyPr/>
          <a:lstStyle/>
          <a:p>
            <a:r>
              <a:rPr kumimoji="1" lang="ja-JP" altLang="en-US" dirty="0"/>
              <a:t>いくつか条件を設け、エージェントが勇気ある行動をとっている様子を動画にしてオンラインでアンケートを取りました。</a:t>
            </a:r>
            <a:endParaRPr kumimoji="1" lang="en-US" altLang="ja-JP" dirty="0"/>
          </a:p>
          <a:p>
            <a:endParaRPr kumimoji="1" lang="en-US" altLang="ja-JP" dirty="0"/>
          </a:p>
          <a:p>
            <a:r>
              <a:rPr kumimoji="1" lang="ja-JP" altLang="en-US" dirty="0"/>
              <a:t>用意した条件は</a:t>
            </a:r>
            <a:r>
              <a:rPr kumimoji="1" lang="en-US" altLang="ja-JP" dirty="0"/>
              <a:t>2</a:t>
            </a:r>
            <a:r>
              <a:rPr kumimoji="1" lang="ja-JP" altLang="en-US" dirty="0"/>
              <a:t>要因４水準です。</a:t>
            </a:r>
            <a:endParaRPr kumimoji="1" lang="en-US" altLang="ja-JP" dirty="0"/>
          </a:p>
          <a:p>
            <a:endParaRPr kumimoji="1" lang="en-US" altLang="ja-JP" dirty="0"/>
          </a:p>
          <a:p>
            <a:r>
              <a:rPr kumimoji="1" lang="ja-JP" altLang="en-US" dirty="0"/>
              <a:t>まず１要因目として、葛藤の有無を設定しました。</a:t>
            </a:r>
            <a:endParaRPr kumimoji="1" lang="en-US" altLang="ja-JP" dirty="0"/>
          </a:p>
          <a:p>
            <a:r>
              <a:rPr kumimoji="1" lang="ja-JP" altLang="en-US" dirty="0"/>
              <a:t>葛藤なしでは、接近動機のみ、葛藤ありでは接近動機と回避動機が表示されます。</a:t>
            </a:r>
            <a:endParaRPr kumimoji="1" lang="en-US" altLang="ja-JP" dirty="0"/>
          </a:p>
        </p:txBody>
      </p:sp>
      <p:sp>
        <p:nvSpPr>
          <p:cNvPr id="4" name="スライド番号プレースホルダー 3">
            <a:extLst>
              <a:ext uri="{FF2B5EF4-FFF2-40B4-BE49-F238E27FC236}">
                <a16:creationId xmlns:a16="http://schemas.microsoft.com/office/drawing/2014/main" id="{13C0E4E6-33B4-A898-8556-AD5D80025C05}"/>
              </a:ext>
            </a:extLst>
          </p:cNvPr>
          <p:cNvSpPr>
            <a:spLocks noGrp="1"/>
          </p:cNvSpPr>
          <p:nvPr>
            <p:ph type="sldNum" sz="quarter" idx="5"/>
          </p:nvPr>
        </p:nvSpPr>
        <p:spPr/>
        <p:txBody>
          <a:bodyPr/>
          <a:lstStyle/>
          <a:p>
            <a:fld id="{059A420A-BDF0-4775-9670-07D3BFB5E94B}" type="slidenum">
              <a:rPr kumimoji="1" lang="ja-JP" altLang="en-US" smtClean="0"/>
              <a:t>13</a:t>
            </a:fld>
            <a:endParaRPr kumimoji="1" lang="ja-JP" altLang="en-US"/>
          </a:p>
        </p:txBody>
      </p:sp>
    </p:spTree>
    <p:extLst>
      <p:ext uri="{BB962C8B-B14F-4D97-AF65-F5344CB8AC3E}">
        <p14:creationId xmlns:p14="http://schemas.microsoft.com/office/powerpoint/2010/main" val="3283346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78DC-BA7E-8882-3EC1-B858D78D7F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8D24E7-2214-3904-5579-D3303220B3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9E30576-F166-4D87-9C2E-C78540EDB414}"/>
              </a:ext>
            </a:extLst>
          </p:cNvPr>
          <p:cNvSpPr>
            <a:spLocks noGrp="1"/>
          </p:cNvSpPr>
          <p:nvPr>
            <p:ph type="body" idx="1"/>
          </p:nvPr>
        </p:nvSpPr>
        <p:spPr/>
        <p:txBody>
          <a:bodyPr/>
          <a:lstStyle/>
          <a:p>
            <a:r>
              <a:rPr lang="ja-JP" altLang="en-US" dirty="0"/>
              <a:t>また二つ目の要因として提示方法を用意し、二種類を設定しました。</a:t>
            </a:r>
          </a:p>
          <a:p>
            <a:r>
              <a:rPr lang="en-US" altLang="ja-JP" b="1" dirty="0"/>
              <a:t>Sequential</a:t>
            </a:r>
            <a:r>
              <a:rPr lang="ja-JP" altLang="en-US" dirty="0"/>
              <a:t>：接近動機と回避動機が時間的に連続して表示される形式です。迷いながら行動するプロセスを表現します。</a:t>
            </a:r>
          </a:p>
          <a:p>
            <a:r>
              <a:rPr lang="en-US" altLang="ja-JP" b="1" dirty="0"/>
              <a:t>Simultaneous</a:t>
            </a:r>
            <a:r>
              <a:rPr lang="ja-JP" altLang="en-US" dirty="0"/>
              <a:t>：接近動機と回避動機が天秤のように同時に表示される形式です。拮抗する二つの動機が同時に存在していることを強調します。</a:t>
            </a:r>
          </a:p>
          <a:p>
            <a:r>
              <a:rPr lang="ja-JP" altLang="en-US" dirty="0"/>
              <a:t>この二つを選んだのは、葛藤の表し方には </a:t>
            </a:r>
            <a:r>
              <a:rPr lang="ja-JP" altLang="en-US" b="1" dirty="0"/>
              <a:t>時間的な揺れ動き</a:t>
            </a:r>
            <a:r>
              <a:rPr lang="ja-JP" altLang="en-US" dirty="0"/>
              <a:t> と </a:t>
            </a:r>
            <a:r>
              <a:rPr lang="ja-JP" altLang="en-US" b="1" dirty="0"/>
              <a:t>構造的な拮抗状態</a:t>
            </a:r>
            <a:r>
              <a:rPr lang="ja-JP" altLang="en-US" dirty="0"/>
              <a:t> の二つの側面があり、両方をカバーすることで必要十分な比較が可能になると考えたためです。</a:t>
            </a:r>
          </a:p>
          <a:p>
            <a:r>
              <a:rPr lang="ja-JP" altLang="en-US" dirty="0"/>
              <a:t>実験では、この二要因を組み合わせた</a:t>
            </a:r>
            <a:r>
              <a:rPr lang="en-US" altLang="ja-JP" dirty="0"/>
              <a:t>4</a:t>
            </a:r>
            <a:r>
              <a:rPr lang="ja-JP" altLang="en-US" dirty="0"/>
              <a:t>条件を用意し、観察者がどの表現をもっとも「勇気を感じる」と評価するかを調べました。</a:t>
            </a:r>
          </a:p>
          <a:p>
            <a:endParaRPr kumimoji="1" lang="ja-JP" altLang="en-US" dirty="0"/>
          </a:p>
        </p:txBody>
      </p:sp>
      <p:sp>
        <p:nvSpPr>
          <p:cNvPr id="4" name="スライド番号プレースホルダー 3">
            <a:extLst>
              <a:ext uri="{FF2B5EF4-FFF2-40B4-BE49-F238E27FC236}">
                <a16:creationId xmlns:a16="http://schemas.microsoft.com/office/drawing/2014/main" id="{1BED4413-E350-AF0D-E917-3D016D90D6A8}"/>
              </a:ext>
            </a:extLst>
          </p:cNvPr>
          <p:cNvSpPr>
            <a:spLocks noGrp="1"/>
          </p:cNvSpPr>
          <p:nvPr>
            <p:ph type="sldNum" sz="quarter" idx="5"/>
          </p:nvPr>
        </p:nvSpPr>
        <p:spPr/>
        <p:txBody>
          <a:bodyPr/>
          <a:lstStyle/>
          <a:p>
            <a:fld id="{059A420A-BDF0-4775-9670-07D3BFB5E94B}" type="slidenum">
              <a:rPr kumimoji="1" lang="ja-JP" altLang="en-US" smtClean="0"/>
              <a:t>14</a:t>
            </a:fld>
            <a:endParaRPr kumimoji="1" lang="ja-JP" altLang="en-US"/>
          </a:p>
        </p:txBody>
      </p:sp>
    </p:spTree>
    <p:extLst>
      <p:ext uri="{BB962C8B-B14F-4D97-AF65-F5344CB8AC3E}">
        <p14:creationId xmlns:p14="http://schemas.microsoft.com/office/powerpoint/2010/main" val="397388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7561-DCBA-EBAF-2414-DC61065C288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5C3F67-02B6-CF58-141E-BF6357ACC9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F9FEF2-4163-B61D-0E05-1F32F239AACA}"/>
              </a:ext>
            </a:extLst>
          </p:cNvPr>
          <p:cNvSpPr>
            <a:spLocks noGrp="1"/>
          </p:cNvSpPr>
          <p:nvPr>
            <p:ph type="body" idx="1"/>
          </p:nvPr>
        </p:nvSpPr>
        <p:spPr/>
        <p:txBody>
          <a:bodyPr/>
          <a:lstStyle/>
          <a:p>
            <a:r>
              <a:rPr kumimoji="1" lang="ja-JP" altLang="en-US" dirty="0"/>
              <a:t>また、エージェントが勇気ある行動をとる状況として二つのシナリオを用意しました。</a:t>
            </a:r>
            <a:endParaRPr kumimoji="1" lang="en-US" altLang="ja-JP" dirty="0"/>
          </a:p>
          <a:p>
            <a:endParaRPr kumimoji="1" lang="en-US" altLang="ja-JP" dirty="0"/>
          </a:p>
          <a:p>
            <a:r>
              <a:rPr kumimoji="1" lang="ja-JP" altLang="en-US" dirty="0"/>
              <a:t>一つめはごみをポイ捨てしている人を注意するシーン、二つ目は授業中に大勢の前で質問するというシーンです。</a:t>
            </a:r>
            <a:endParaRPr kumimoji="1" lang="en-US" altLang="ja-JP" dirty="0"/>
          </a:p>
          <a:p>
            <a:endParaRPr kumimoji="1" lang="en-US" altLang="ja-JP" dirty="0"/>
          </a:p>
          <a:p>
            <a:r>
              <a:rPr kumimoji="1" lang="ja-JP" altLang="en-US" dirty="0"/>
              <a:t>これらのシナリオは参加者が動画を視聴する前に共有済みです。</a:t>
            </a:r>
          </a:p>
        </p:txBody>
      </p:sp>
      <p:sp>
        <p:nvSpPr>
          <p:cNvPr id="4" name="スライド番号プレースホルダー 3">
            <a:extLst>
              <a:ext uri="{FF2B5EF4-FFF2-40B4-BE49-F238E27FC236}">
                <a16:creationId xmlns:a16="http://schemas.microsoft.com/office/drawing/2014/main" id="{7DED66CE-61B1-F069-DEBB-BC801F1B4E20}"/>
              </a:ext>
            </a:extLst>
          </p:cNvPr>
          <p:cNvSpPr>
            <a:spLocks noGrp="1"/>
          </p:cNvSpPr>
          <p:nvPr>
            <p:ph type="sldNum" sz="quarter" idx="5"/>
          </p:nvPr>
        </p:nvSpPr>
        <p:spPr/>
        <p:txBody>
          <a:bodyPr/>
          <a:lstStyle/>
          <a:p>
            <a:fld id="{059A420A-BDF0-4775-9670-07D3BFB5E94B}" type="slidenum">
              <a:rPr kumimoji="1" lang="ja-JP" altLang="en-US" smtClean="0"/>
              <a:t>15</a:t>
            </a:fld>
            <a:endParaRPr kumimoji="1" lang="ja-JP" altLang="en-US"/>
          </a:p>
        </p:txBody>
      </p:sp>
    </p:spTree>
    <p:extLst>
      <p:ext uri="{BB962C8B-B14F-4D97-AF65-F5344CB8AC3E}">
        <p14:creationId xmlns:p14="http://schemas.microsoft.com/office/powerpoint/2010/main" val="3898905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F6B48-686A-B41A-35CF-B9E01654C2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51D858-EAED-30BC-B842-0A4D4A5A65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D9FF154-3C79-675E-1185-28D495DD1766}"/>
              </a:ext>
            </a:extLst>
          </p:cNvPr>
          <p:cNvSpPr>
            <a:spLocks noGrp="1"/>
          </p:cNvSpPr>
          <p:nvPr>
            <p:ph type="body" idx="1"/>
          </p:nvPr>
        </p:nvSpPr>
        <p:spPr/>
        <p:txBody>
          <a:bodyPr/>
          <a:lstStyle/>
          <a:p>
            <a:r>
              <a:rPr kumimoji="1" lang="ja-JP" altLang="en-US" dirty="0"/>
              <a:t>最後に、葛藤あり、同時条件です</a:t>
            </a:r>
          </a:p>
        </p:txBody>
      </p:sp>
      <p:sp>
        <p:nvSpPr>
          <p:cNvPr id="4" name="スライド番号プレースホルダー 3">
            <a:extLst>
              <a:ext uri="{FF2B5EF4-FFF2-40B4-BE49-F238E27FC236}">
                <a16:creationId xmlns:a16="http://schemas.microsoft.com/office/drawing/2014/main" id="{C8C7B3C3-E37C-EA2F-E231-ECDC583891D1}"/>
              </a:ext>
            </a:extLst>
          </p:cNvPr>
          <p:cNvSpPr>
            <a:spLocks noGrp="1"/>
          </p:cNvSpPr>
          <p:nvPr>
            <p:ph type="sldNum" sz="quarter" idx="5"/>
          </p:nvPr>
        </p:nvSpPr>
        <p:spPr/>
        <p:txBody>
          <a:bodyPr/>
          <a:lstStyle/>
          <a:p>
            <a:fld id="{059A420A-BDF0-4775-9670-07D3BFB5E94B}" type="slidenum">
              <a:rPr kumimoji="1" lang="ja-JP" altLang="en-US" smtClean="0"/>
              <a:t>16</a:t>
            </a:fld>
            <a:endParaRPr kumimoji="1" lang="ja-JP" altLang="en-US"/>
          </a:p>
        </p:txBody>
      </p:sp>
    </p:spTree>
    <p:extLst>
      <p:ext uri="{BB962C8B-B14F-4D97-AF65-F5344CB8AC3E}">
        <p14:creationId xmlns:p14="http://schemas.microsoft.com/office/powerpoint/2010/main" val="3289536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A91F5-E216-3ABF-96E7-B00E22AB1F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D7C2C3-AA9D-D4AA-BB70-5042CBFD7BB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F61B52-2112-0727-A53B-AE6A6EA0DACB}"/>
              </a:ext>
            </a:extLst>
          </p:cNvPr>
          <p:cNvSpPr>
            <a:spLocks noGrp="1"/>
          </p:cNvSpPr>
          <p:nvPr>
            <p:ph type="body" idx="1"/>
          </p:nvPr>
        </p:nvSpPr>
        <p:spPr/>
        <p:txBody>
          <a:bodyPr/>
          <a:lstStyle/>
          <a:p>
            <a:r>
              <a:rPr lang="ja-JP" altLang="en-US" dirty="0"/>
              <a:t>従属変数として二つを設定しました。</a:t>
            </a:r>
          </a:p>
          <a:p>
            <a:r>
              <a:rPr lang="ja-JP" altLang="en-US" dirty="0"/>
              <a:t>まず「葛藤項目」は、エージェントがどの程度葛藤しているように見えるかを測定する指標です。これは、葛藤条件が適切に葛藤を喚起しているかどうかを確認するためのマニピュレーションチェックとして用意しました。</a:t>
            </a:r>
          </a:p>
          <a:p>
            <a:r>
              <a:rPr lang="ja-JP" altLang="en-US" dirty="0"/>
              <a:t>次に「勇気尺度」は、エージェントがどの程度勇気を出して一歩踏み出しているように見えるかを測定する指標です。</a:t>
            </a:r>
          </a:p>
        </p:txBody>
      </p:sp>
      <p:sp>
        <p:nvSpPr>
          <p:cNvPr id="4" name="スライド番号プレースホルダー 3">
            <a:extLst>
              <a:ext uri="{FF2B5EF4-FFF2-40B4-BE49-F238E27FC236}">
                <a16:creationId xmlns:a16="http://schemas.microsoft.com/office/drawing/2014/main" id="{34F8FFC0-0129-C981-9946-64B96A694469}"/>
              </a:ext>
            </a:extLst>
          </p:cNvPr>
          <p:cNvSpPr>
            <a:spLocks noGrp="1"/>
          </p:cNvSpPr>
          <p:nvPr>
            <p:ph type="sldNum" sz="quarter" idx="5"/>
          </p:nvPr>
        </p:nvSpPr>
        <p:spPr/>
        <p:txBody>
          <a:bodyPr/>
          <a:lstStyle/>
          <a:p>
            <a:fld id="{059A420A-BDF0-4775-9670-07D3BFB5E94B}" type="slidenum">
              <a:rPr kumimoji="1" lang="ja-JP" altLang="en-US" smtClean="0"/>
              <a:t>17</a:t>
            </a:fld>
            <a:endParaRPr kumimoji="1" lang="ja-JP" altLang="en-US"/>
          </a:p>
        </p:txBody>
      </p:sp>
    </p:spTree>
    <p:extLst>
      <p:ext uri="{BB962C8B-B14F-4D97-AF65-F5344CB8AC3E}">
        <p14:creationId xmlns:p14="http://schemas.microsoft.com/office/powerpoint/2010/main" val="811380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BA0B7-6874-5AB7-4296-77961CD430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697EE0-8197-587F-F342-077CEAD147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551116-9193-26E7-DC19-386345716087}"/>
              </a:ext>
            </a:extLst>
          </p:cNvPr>
          <p:cNvSpPr>
            <a:spLocks noGrp="1"/>
          </p:cNvSpPr>
          <p:nvPr>
            <p:ph type="body" idx="1"/>
          </p:nvPr>
        </p:nvSpPr>
        <p:spPr/>
        <p:txBody>
          <a:bodyPr/>
          <a:lstStyle/>
          <a:p>
            <a:r>
              <a:rPr lang="ja-JP" altLang="en-US" dirty="0"/>
              <a:t>こちらは実験</a:t>
            </a:r>
            <a:r>
              <a:rPr lang="en-US" altLang="ja-JP" dirty="0"/>
              <a:t>1</a:t>
            </a:r>
            <a:r>
              <a:rPr lang="ja-JP" altLang="en-US" dirty="0"/>
              <a:t>の結果、</a:t>
            </a:r>
            <a:r>
              <a:rPr lang="ja-JP" altLang="en-US" b="1" dirty="0"/>
              <a:t>葛藤項目</a:t>
            </a:r>
            <a:r>
              <a:rPr lang="ja-JP" altLang="en-US" dirty="0"/>
              <a:t>の評価です。</a:t>
            </a:r>
          </a:p>
          <a:p>
            <a:r>
              <a:rPr lang="ja-JP" altLang="en-US" dirty="0"/>
              <a:t>まず、両方のシーンにおいて、</a:t>
            </a:r>
            <a:r>
              <a:rPr lang="ja-JP" altLang="en-US" b="1" dirty="0"/>
              <a:t>葛藤なし条件よりも葛藤あり条件の方が有意に高い評価</a:t>
            </a:r>
            <a:r>
              <a:rPr lang="ja-JP" altLang="en-US" dirty="0"/>
              <a:t>となりました。</a:t>
            </a:r>
            <a:br>
              <a:rPr lang="ja-JP" altLang="en-US" dirty="0"/>
            </a:br>
            <a:r>
              <a:rPr lang="ja-JP" altLang="en-US" dirty="0"/>
              <a:t>これは、設定した「葛藤あり条件」が実際に観察者に葛藤を感じさせていたことを示しており、マニピュレーションチェックが有効だったといえます。</a:t>
            </a:r>
          </a:p>
          <a:p>
            <a:r>
              <a:rPr lang="ja-JP" altLang="en-US" dirty="0"/>
              <a:t>また、表示方法に関しても差が見られ、</a:t>
            </a:r>
            <a:r>
              <a:rPr lang="ja-JP" altLang="en-US" b="1" dirty="0"/>
              <a:t>連続条件よりも同時条件の方が葛藤が強く感じられる</a:t>
            </a:r>
            <a:r>
              <a:rPr lang="ja-JP" altLang="en-US" dirty="0"/>
              <a:t>傾向が確認されました。</a:t>
            </a:r>
          </a:p>
        </p:txBody>
      </p:sp>
      <p:sp>
        <p:nvSpPr>
          <p:cNvPr id="4" name="スライド番号プレースホルダー 3">
            <a:extLst>
              <a:ext uri="{FF2B5EF4-FFF2-40B4-BE49-F238E27FC236}">
                <a16:creationId xmlns:a16="http://schemas.microsoft.com/office/drawing/2014/main" id="{B688937A-1CEE-4E27-A743-6F2582CDE99B}"/>
              </a:ext>
            </a:extLst>
          </p:cNvPr>
          <p:cNvSpPr>
            <a:spLocks noGrp="1"/>
          </p:cNvSpPr>
          <p:nvPr>
            <p:ph type="sldNum" sz="quarter" idx="5"/>
          </p:nvPr>
        </p:nvSpPr>
        <p:spPr/>
        <p:txBody>
          <a:bodyPr/>
          <a:lstStyle/>
          <a:p>
            <a:fld id="{059A420A-BDF0-4775-9670-07D3BFB5E94B}" type="slidenum">
              <a:rPr kumimoji="1" lang="ja-JP" altLang="en-US" smtClean="0"/>
              <a:t>18</a:t>
            </a:fld>
            <a:endParaRPr kumimoji="1" lang="ja-JP" altLang="en-US"/>
          </a:p>
        </p:txBody>
      </p:sp>
    </p:spTree>
    <p:extLst>
      <p:ext uri="{BB962C8B-B14F-4D97-AF65-F5344CB8AC3E}">
        <p14:creationId xmlns:p14="http://schemas.microsoft.com/office/powerpoint/2010/main" val="2215574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93B46-51D5-CD2F-A884-D3B4E70D5B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BA1F97-6C9F-D69F-7E4C-E2EC7D4084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A7C837-1D39-C0E7-CE9F-12E3661184EC}"/>
              </a:ext>
            </a:extLst>
          </p:cNvPr>
          <p:cNvSpPr>
            <a:spLocks noGrp="1"/>
          </p:cNvSpPr>
          <p:nvPr>
            <p:ph type="body" idx="1"/>
          </p:nvPr>
        </p:nvSpPr>
        <p:spPr/>
        <p:txBody>
          <a:bodyPr/>
          <a:lstStyle/>
          <a:p>
            <a:r>
              <a:rPr lang="ja-JP" altLang="en-US" dirty="0"/>
              <a:t>次に、勇気尺度の結果です。</a:t>
            </a:r>
          </a:p>
          <a:p>
            <a:r>
              <a:rPr lang="ja-JP" altLang="en-US" dirty="0"/>
              <a:t>両方のシーンにおいて、</a:t>
            </a:r>
            <a:r>
              <a:rPr lang="ja-JP" altLang="en-US" b="1" dirty="0"/>
              <a:t>葛藤なし条件よりも葛藤あり条件の方が、エージェントが勇気を出しているように見える</a:t>
            </a:r>
            <a:r>
              <a:rPr lang="ja-JP" altLang="en-US" dirty="0"/>
              <a:t>傾向が確認されました。</a:t>
            </a:r>
            <a:br>
              <a:rPr lang="ja-JP" altLang="en-US" dirty="0"/>
            </a:br>
            <a:r>
              <a:rPr lang="ja-JP" altLang="en-US" dirty="0"/>
              <a:t>つまり、葛藤を示すことで、観察者はロボットの行動をより「勇気ある行動」として解釈しやすくなっていました。</a:t>
            </a:r>
          </a:p>
          <a:p>
            <a:r>
              <a:rPr lang="ja-JP" altLang="en-US" dirty="0"/>
              <a:t>また、提示方法に関しても、</a:t>
            </a:r>
            <a:r>
              <a:rPr lang="ja-JP" altLang="en-US" b="1" dirty="0"/>
              <a:t>連続表示より同時表示の方が勇気を感じやすい</a:t>
            </a:r>
            <a:r>
              <a:rPr lang="ja-JP" altLang="en-US" dirty="0"/>
              <a:t>という結果が得られました。</a:t>
            </a:r>
            <a:br>
              <a:rPr lang="ja-JP" altLang="en-US" dirty="0"/>
            </a:br>
            <a:r>
              <a:rPr lang="ja-JP" altLang="en-US" dirty="0"/>
              <a:t>これは、二つの動機が同時に拮抗している様子を見せることで、ロボットが勇気を振り絞って一歩踏み出す印象がより強く伝わるためと考えられます。</a:t>
            </a:r>
          </a:p>
          <a:p>
            <a:endParaRPr kumimoji="1" lang="ja-JP" altLang="en-US" dirty="0"/>
          </a:p>
        </p:txBody>
      </p:sp>
      <p:sp>
        <p:nvSpPr>
          <p:cNvPr id="4" name="スライド番号プレースホルダー 3">
            <a:extLst>
              <a:ext uri="{FF2B5EF4-FFF2-40B4-BE49-F238E27FC236}">
                <a16:creationId xmlns:a16="http://schemas.microsoft.com/office/drawing/2014/main" id="{1B3CCCC7-A1E6-94BB-A8EC-C43C91C256A5}"/>
              </a:ext>
            </a:extLst>
          </p:cNvPr>
          <p:cNvSpPr>
            <a:spLocks noGrp="1"/>
          </p:cNvSpPr>
          <p:nvPr>
            <p:ph type="sldNum" sz="quarter" idx="5"/>
          </p:nvPr>
        </p:nvSpPr>
        <p:spPr/>
        <p:txBody>
          <a:bodyPr/>
          <a:lstStyle/>
          <a:p>
            <a:fld id="{059A420A-BDF0-4775-9670-07D3BFB5E94B}" type="slidenum">
              <a:rPr kumimoji="1" lang="ja-JP" altLang="en-US" smtClean="0"/>
              <a:t>19</a:t>
            </a:fld>
            <a:endParaRPr kumimoji="1" lang="ja-JP" altLang="en-US"/>
          </a:p>
        </p:txBody>
      </p:sp>
    </p:spTree>
    <p:extLst>
      <p:ext uri="{BB962C8B-B14F-4D97-AF65-F5344CB8AC3E}">
        <p14:creationId xmlns:p14="http://schemas.microsoft.com/office/powerpoint/2010/main" val="1846726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FB82F-1153-6967-F81C-F1FE58AE35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F9A757-D5BC-B256-4D88-FD76028FD8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F91123-6494-2905-F61B-53EDC69E25FB}"/>
              </a:ext>
            </a:extLst>
          </p:cNvPr>
          <p:cNvSpPr>
            <a:spLocks noGrp="1"/>
          </p:cNvSpPr>
          <p:nvPr>
            <p:ph type="body" idx="1"/>
          </p:nvPr>
        </p:nvSpPr>
        <p:spPr/>
        <p:txBody>
          <a:bodyPr/>
          <a:lstStyle/>
          <a:p>
            <a:r>
              <a:rPr lang="ja-JP" altLang="en-US" dirty="0"/>
              <a:t>ここでは実験</a:t>
            </a:r>
            <a:r>
              <a:rPr lang="en-US" altLang="ja-JP" dirty="0"/>
              <a:t>1</a:t>
            </a:r>
            <a:r>
              <a:rPr lang="ja-JP" altLang="en-US" dirty="0"/>
              <a:t>の結論をまとめます。</a:t>
            </a:r>
          </a:p>
          <a:p>
            <a:r>
              <a:rPr lang="ja-JP" altLang="en-US" dirty="0"/>
              <a:t>まず、</a:t>
            </a:r>
            <a:r>
              <a:rPr lang="ja-JP" altLang="en-US" b="1" dirty="0"/>
              <a:t>葛藤のスコアが高いと勇気のスコアも高くなる</a:t>
            </a:r>
            <a:r>
              <a:rPr lang="ja-JP" altLang="en-US" dirty="0"/>
              <a:t>ことが確認されました。</a:t>
            </a:r>
            <a:br>
              <a:rPr lang="ja-JP" altLang="en-US" dirty="0"/>
            </a:br>
            <a:r>
              <a:rPr lang="ja-JP" altLang="en-US" dirty="0"/>
              <a:t>つまり、葛藤を表現することで、エージェントの行動がより勇気あるものとして評価されやすいことがわかります。</a:t>
            </a:r>
          </a:p>
          <a:p>
            <a:r>
              <a:rPr lang="ja-JP" altLang="en-US" dirty="0"/>
              <a:t>次に、</a:t>
            </a:r>
            <a:r>
              <a:rPr lang="ja-JP" altLang="en-US" b="1" dirty="0"/>
              <a:t>最も勇気のスコアが高かったのは「葛藤あり </a:t>
            </a:r>
            <a:r>
              <a:rPr lang="en-US" altLang="ja-JP" b="1" dirty="0"/>
              <a:t>× </a:t>
            </a:r>
            <a:r>
              <a:rPr lang="ja-JP" altLang="en-US" b="1" dirty="0"/>
              <a:t>同時」条件</a:t>
            </a:r>
            <a:r>
              <a:rPr lang="ja-JP" altLang="en-US" dirty="0"/>
              <a:t>でした。</a:t>
            </a:r>
            <a:br>
              <a:rPr lang="ja-JP" altLang="en-US" dirty="0"/>
            </a:br>
            <a:r>
              <a:rPr lang="ja-JP" altLang="en-US" dirty="0"/>
              <a:t>この条件は、実験</a:t>
            </a:r>
            <a:r>
              <a:rPr lang="en-US" altLang="ja-JP" dirty="0"/>
              <a:t>2</a:t>
            </a:r>
            <a:r>
              <a:rPr lang="ja-JP" altLang="en-US" dirty="0"/>
              <a:t>でも用いることにしています。</a:t>
            </a:r>
          </a:p>
          <a:p>
            <a:r>
              <a:rPr lang="ja-JP" altLang="en-US" dirty="0"/>
              <a:t>また全体的な傾向として、シーン</a:t>
            </a:r>
            <a:r>
              <a:rPr lang="en-US" altLang="ja-JP" dirty="0"/>
              <a:t>2</a:t>
            </a:r>
            <a:r>
              <a:rPr lang="ja-JP" altLang="en-US" dirty="0"/>
              <a:t>ではシーン</a:t>
            </a:r>
            <a:r>
              <a:rPr lang="en-US" altLang="ja-JP" dirty="0"/>
              <a:t>1</a:t>
            </a:r>
            <a:r>
              <a:rPr lang="ja-JP" altLang="en-US" dirty="0"/>
              <a:t>に比べて葛藤項目・勇気尺度ともにスコアが低い結果となりました。</a:t>
            </a:r>
            <a:br>
              <a:rPr lang="ja-JP" altLang="en-US" dirty="0"/>
            </a:br>
            <a:r>
              <a:rPr lang="ja-JP" altLang="en-US" dirty="0"/>
              <a:t>これは、シーン</a:t>
            </a:r>
            <a:r>
              <a:rPr lang="en-US" altLang="ja-JP" dirty="0"/>
              <a:t>2</a:t>
            </a:r>
            <a:r>
              <a:rPr lang="ja-JP" altLang="en-US" dirty="0"/>
              <a:t>の「授業中の質問」という設定が、参加者にとって比較的コンフォートゾーン内の行動だった可能性が考えられます。</a:t>
            </a:r>
            <a:br>
              <a:rPr lang="ja-JP" altLang="en-US" dirty="0"/>
            </a:br>
            <a:r>
              <a:rPr lang="ja-JP" altLang="en-US" dirty="0"/>
              <a:t>このため、実験</a:t>
            </a:r>
            <a:r>
              <a:rPr lang="en-US" altLang="ja-JP" dirty="0"/>
              <a:t>2</a:t>
            </a:r>
            <a:r>
              <a:rPr lang="ja-JP" altLang="en-US" dirty="0"/>
              <a:t>ではシーン</a:t>
            </a:r>
            <a:r>
              <a:rPr lang="en-US" altLang="ja-JP" dirty="0"/>
              <a:t>1</a:t>
            </a:r>
            <a:r>
              <a:rPr lang="ja-JP" altLang="en-US" dirty="0"/>
              <a:t>を採用しました。</a:t>
            </a:r>
          </a:p>
          <a:p>
            <a:endParaRPr kumimoji="1" lang="ja-JP" altLang="en-US" dirty="0"/>
          </a:p>
        </p:txBody>
      </p:sp>
      <p:sp>
        <p:nvSpPr>
          <p:cNvPr id="4" name="スライド番号プレースホルダー 3">
            <a:extLst>
              <a:ext uri="{FF2B5EF4-FFF2-40B4-BE49-F238E27FC236}">
                <a16:creationId xmlns:a16="http://schemas.microsoft.com/office/drawing/2014/main" id="{9691A0F8-A6A6-F39E-448D-4184DACFE82D}"/>
              </a:ext>
            </a:extLst>
          </p:cNvPr>
          <p:cNvSpPr>
            <a:spLocks noGrp="1"/>
          </p:cNvSpPr>
          <p:nvPr>
            <p:ph type="sldNum" sz="quarter" idx="5"/>
          </p:nvPr>
        </p:nvSpPr>
        <p:spPr/>
        <p:txBody>
          <a:bodyPr/>
          <a:lstStyle/>
          <a:p>
            <a:fld id="{059A420A-BDF0-4775-9670-07D3BFB5E94B}" type="slidenum">
              <a:rPr kumimoji="1" lang="ja-JP" altLang="en-US" smtClean="0"/>
              <a:t>20</a:t>
            </a:fld>
            <a:endParaRPr kumimoji="1" lang="ja-JP" altLang="en-US"/>
          </a:p>
        </p:txBody>
      </p:sp>
    </p:spTree>
    <p:extLst>
      <p:ext uri="{BB962C8B-B14F-4D97-AF65-F5344CB8AC3E}">
        <p14:creationId xmlns:p14="http://schemas.microsoft.com/office/powerpoint/2010/main" val="1583103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DE5EA-AFCF-A618-821B-0928FACBEF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910DFC-C72F-F52E-7D1A-652901F073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8D419A-5285-ABAD-5284-3EAEA4F72A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82CD49-583E-6FE8-695D-471692B6B203}"/>
              </a:ext>
            </a:extLst>
          </p:cNvPr>
          <p:cNvSpPr>
            <a:spLocks noGrp="1"/>
          </p:cNvSpPr>
          <p:nvPr>
            <p:ph type="sldNum" sz="quarter" idx="5"/>
          </p:nvPr>
        </p:nvSpPr>
        <p:spPr/>
        <p:txBody>
          <a:bodyPr/>
          <a:lstStyle/>
          <a:p>
            <a:fld id="{059A420A-BDF0-4775-9670-07D3BFB5E94B}" type="slidenum">
              <a:rPr kumimoji="1" lang="ja-JP" altLang="en-US" smtClean="0"/>
              <a:t>21</a:t>
            </a:fld>
            <a:endParaRPr kumimoji="1" lang="ja-JP" altLang="en-US"/>
          </a:p>
        </p:txBody>
      </p:sp>
    </p:spTree>
    <p:extLst>
      <p:ext uri="{BB962C8B-B14F-4D97-AF65-F5344CB8AC3E}">
        <p14:creationId xmlns:p14="http://schemas.microsoft.com/office/powerpoint/2010/main" val="1807789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9498-F7A6-765D-999D-9748EA0058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C3D7E9-F566-3704-E885-3278B2FD33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0A29736-0CBE-06CC-858F-50E98813E4F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39071AEB-B923-2550-19B1-FD4EB991C068}"/>
              </a:ext>
            </a:extLst>
          </p:cNvPr>
          <p:cNvSpPr>
            <a:spLocks noGrp="1"/>
          </p:cNvSpPr>
          <p:nvPr>
            <p:ph type="sldNum" sz="quarter" idx="5"/>
          </p:nvPr>
        </p:nvSpPr>
        <p:spPr/>
        <p:txBody>
          <a:bodyPr/>
          <a:lstStyle/>
          <a:p>
            <a:fld id="{059A420A-BDF0-4775-9670-07D3BFB5E94B}" type="slidenum">
              <a:rPr kumimoji="1" lang="ja-JP" altLang="en-US" smtClean="0"/>
              <a:t>22</a:t>
            </a:fld>
            <a:endParaRPr kumimoji="1" lang="ja-JP" altLang="en-US"/>
          </a:p>
        </p:txBody>
      </p:sp>
    </p:spTree>
    <p:extLst>
      <p:ext uri="{BB962C8B-B14F-4D97-AF65-F5344CB8AC3E}">
        <p14:creationId xmlns:p14="http://schemas.microsoft.com/office/powerpoint/2010/main" val="3873344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345A8-A491-59A2-3F49-12584F0E99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8B56AB-1FEF-0658-FE93-89595AA411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E35E16-965D-E131-4199-2CA691D8996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B508C00-2F73-C6B3-A34F-64C8CDD6FBE5}"/>
              </a:ext>
            </a:extLst>
          </p:cNvPr>
          <p:cNvSpPr>
            <a:spLocks noGrp="1"/>
          </p:cNvSpPr>
          <p:nvPr>
            <p:ph type="sldNum" sz="quarter" idx="5"/>
          </p:nvPr>
        </p:nvSpPr>
        <p:spPr/>
        <p:txBody>
          <a:bodyPr/>
          <a:lstStyle/>
          <a:p>
            <a:fld id="{059A420A-BDF0-4775-9670-07D3BFB5E94B}" type="slidenum">
              <a:rPr kumimoji="1" lang="ja-JP" altLang="en-US" smtClean="0"/>
              <a:t>23</a:t>
            </a:fld>
            <a:endParaRPr kumimoji="1" lang="ja-JP" altLang="en-US"/>
          </a:p>
        </p:txBody>
      </p:sp>
    </p:spTree>
    <p:extLst>
      <p:ext uri="{BB962C8B-B14F-4D97-AF65-F5344CB8AC3E}">
        <p14:creationId xmlns:p14="http://schemas.microsoft.com/office/powerpoint/2010/main" val="13536314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24</a:t>
            </a:fld>
            <a:endParaRPr kumimoji="1" lang="ja-JP" altLang="en-US"/>
          </a:p>
        </p:txBody>
      </p:sp>
    </p:spTree>
    <p:extLst>
      <p:ext uri="{BB962C8B-B14F-4D97-AF65-F5344CB8AC3E}">
        <p14:creationId xmlns:p14="http://schemas.microsoft.com/office/powerpoint/2010/main" val="2939007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464E-EDD3-8A9D-AA74-E419FEB568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DC9AEB2-DF43-5373-D842-4BD3ACFFC4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471A8F-4429-249F-5DC1-808AE46AF5A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AC079DC-0231-8A51-809E-7381E2C9154C}"/>
              </a:ext>
            </a:extLst>
          </p:cNvPr>
          <p:cNvSpPr>
            <a:spLocks noGrp="1"/>
          </p:cNvSpPr>
          <p:nvPr>
            <p:ph type="sldNum" sz="quarter" idx="5"/>
          </p:nvPr>
        </p:nvSpPr>
        <p:spPr/>
        <p:txBody>
          <a:bodyPr/>
          <a:lstStyle/>
          <a:p>
            <a:fld id="{059A420A-BDF0-4775-9670-07D3BFB5E94B}" type="slidenum">
              <a:rPr kumimoji="1" lang="ja-JP" altLang="en-US" smtClean="0"/>
              <a:t>25</a:t>
            </a:fld>
            <a:endParaRPr kumimoji="1" lang="ja-JP" altLang="en-US"/>
          </a:p>
        </p:txBody>
      </p:sp>
    </p:spTree>
    <p:extLst>
      <p:ext uri="{BB962C8B-B14F-4D97-AF65-F5344CB8AC3E}">
        <p14:creationId xmlns:p14="http://schemas.microsoft.com/office/powerpoint/2010/main" val="1505398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50639-3573-46EE-52A6-7A32F7CA67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812201-E70B-95F2-FAE5-B115023186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3CCCFF3-1876-9AA9-9BE8-1ACD08F333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CB813-BB6B-95A5-36D2-A56965733D9A}"/>
              </a:ext>
            </a:extLst>
          </p:cNvPr>
          <p:cNvSpPr>
            <a:spLocks noGrp="1"/>
          </p:cNvSpPr>
          <p:nvPr>
            <p:ph type="sldNum" sz="quarter" idx="5"/>
          </p:nvPr>
        </p:nvSpPr>
        <p:spPr/>
        <p:txBody>
          <a:bodyPr/>
          <a:lstStyle/>
          <a:p>
            <a:fld id="{059A420A-BDF0-4775-9670-07D3BFB5E94B}" type="slidenum">
              <a:rPr kumimoji="1" lang="ja-JP" altLang="en-US" smtClean="0"/>
              <a:t>26</a:t>
            </a:fld>
            <a:endParaRPr kumimoji="1" lang="ja-JP" altLang="en-US"/>
          </a:p>
        </p:txBody>
      </p:sp>
    </p:spTree>
    <p:extLst>
      <p:ext uri="{BB962C8B-B14F-4D97-AF65-F5344CB8AC3E}">
        <p14:creationId xmlns:p14="http://schemas.microsoft.com/office/powerpoint/2010/main" val="1153651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CA8F6-946E-1D08-7F7A-A7DEBF2EEC1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9C708A-09D8-1BAD-3B95-8EC7814531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B933D27-3256-F4F8-CD28-D576323BC8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0D0D1D8-C992-BA72-4EF6-7CA012BCDE27}"/>
              </a:ext>
            </a:extLst>
          </p:cNvPr>
          <p:cNvSpPr>
            <a:spLocks noGrp="1"/>
          </p:cNvSpPr>
          <p:nvPr>
            <p:ph type="sldNum" sz="quarter" idx="5"/>
          </p:nvPr>
        </p:nvSpPr>
        <p:spPr/>
        <p:txBody>
          <a:bodyPr/>
          <a:lstStyle/>
          <a:p>
            <a:fld id="{059A420A-BDF0-4775-9670-07D3BFB5E94B}" type="slidenum">
              <a:rPr kumimoji="1" lang="ja-JP" altLang="en-US" smtClean="0"/>
              <a:t>27</a:t>
            </a:fld>
            <a:endParaRPr kumimoji="1" lang="ja-JP" altLang="en-US"/>
          </a:p>
        </p:txBody>
      </p:sp>
    </p:spTree>
    <p:extLst>
      <p:ext uri="{BB962C8B-B14F-4D97-AF65-F5344CB8AC3E}">
        <p14:creationId xmlns:p14="http://schemas.microsoft.com/office/powerpoint/2010/main" val="2741001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B858-3608-ECEF-A874-AFE732B717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8A068E-0B76-0010-ACDE-9421E1D268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7B25A2-9949-6482-5E2F-FF844C50C57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7AC69D9-10EB-BE0B-7431-C2B1F97AB957}"/>
              </a:ext>
            </a:extLst>
          </p:cNvPr>
          <p:cNvSpPr>
            <a:spLocks noGrp="1"/>
          </p:cNvSpPr>
          <p:nvPr>
            <p:ph type="sldNum" sz="quarter" idx="5"/>
          </p:nvPr>
        </p:nvSpPr>
        <p:spPr/>
        <p:txBody>
          <a:bodyPr/>
          <a:lstStyle/>
          <a:p>
            <a:fld id="{059A420A-BDF0-4775-9670-07D3BFB5E94B}" type="slidenum">
              <a:rPr kumimoji="1" lang="ja-JP" altLang="en-US" smtClean="0"/>
              <a:t>28</a:t>
            </a:fld>
            <a:endParaRPr kumimoji="1" lang="ja-JP" altLang="en-US"/>
          </a:p>
        </p:txBody>
      </p:sp>
    </p:spTree>
    <p:extLst>
      <p:ext uri="{BB962C8B-B14F-4D97-AF65-F5344CB8AC3E}">
        <p14:creationId xmlns:p14="http://schemas.microsoft.com/office/powerpoint/2010/main" val="39007107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9D23-FC36-8C61-D623-658D599B37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111315-6BC0-4801-6831-6888060926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7F91382-593F-0164-8E17-A952821E7DD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789981B-50DC-6BBF-2BA3-BE0854C0C106}"/>
              </a:ext>
            </a:extLst>
          </p:cNvPr>
          <p:cNvSpPr>
            <a:spLocks noGrp="1"/>
          </p:cNvSpPr>
          <p:nvPr>
            <p:ph type="sldNum" sz="quarter" idx="5"/>
          </p:nvPr>
        </p:nvSpPr>
        <p:spPr/>
        <p:txBody>
          <a:bodyPr/>
          <a:lstStyle/>
          <a:p>
            <a:fld id="{059A420A-BDF0-4775-9670-07D3BFB5E94B}" type="slidenum">
              <a:rPr kumimoji="1" lang="ja-JP" altLang="en-US" smtClean="0"/>
              <a:t>29</a:t>
            </a:fld>
            <a:endParaRPr kumimoji="1" lang="ja-JP" altLang="en-US"/>
          </a:p>
        </p:txBody>
      </p:sp>
    </p:spTree>
    <p:extLst>
      <p:ext uri="{BB962C8B-B14F-4D97-AF65-F5344CB8AC3E}">
        <p14:creationId xmlns:p14="http://schemas.microsoft.com/office/powerpoint/2010/main" val="3353942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6F551-0007-1BD4-730E-AB1302826C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89C819-D244-4573-87A5-8C52E2D080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3743646-C164-4478-8C5E-E7BA9B77556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9FAAD9F-CDEE-5BE7-E2A3-D140F083D48C}"/>
              </a:ext>
            </a:extLst>
          </p:cNvPr>
          <p:cNvSpPr>
            <a:spLocks noGrp="1"/>
          </p:cNvSpPr>
          <p:nvPr>
            <p:ph type="sldNum" sz="quarter" idx="5"/>
          </p:nvPr>
        </p:nvSpPr>
        <p:spPr/>
        <p:txBody>
          <a:bodyPr/>
          <a:lstStyle/>
          <a:p>
            <a:fld id="{059A420A-BDF0-4775-9670-07D3BFB5E94B}" type="slidenum">
              <a:rPr kumimoji="1" lang="ja-JP" altLang="en-US" smtClean="0"/>
              <a:t>30</a:t>
            </a:fld>
            <a:endParaRPr kumimoji="1" lang="ja-JP" altLang="en-US"/>
          </a:p>
        </p:txBody>
      </p:sp>
    </p:spTree>
    <p:extLst>
      <p:ext uri="{BB962C8B-B14F-4D97-AF65-F5344CB8AC3E}">
        <p14:creationId xmlns:p14="http://schemas.microsoft.com/office/powerpoint/2010/main" val="1343505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88F38-6DDC-6751-9BB1-D9C1D51EE9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FE64D0-E573-1F45-3BDF-8BA0BB38B5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F29C72-247D-8C1B-D94B-182A8055E5F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2278968-121C-C787-159B-B3E5A7B258AA}"/>
              </a:ext>
            </a:extLst>
          </p:cNvPr>
          <p:cNvSpPr>
            <a:spLocks noGrp="1"/>
          </p:cNvSpPr>
          <p:nvPr>
            <p:ph type="sldNum" sz="quarter" idx="5"/>
          </p:nvPr>
        </p:nvSpPr>
        <p:spPr/>
        <p:txBody>
          <a:bodyPr/>
          <a:lstStyle/>
          <a:p>
            <a:fld id="{059A420A-BDF0-4775-9670-07D3BFB5E94B}" type="slidenum">
              <a:rPr kumimoji="1" lang="ja-JP" altLang="en-US" smtClean="0"/>
              <a:t>31</a:t>
            </a:fld>
            <a:endParaRPr kumimoji="1" lang="ja-JP" altLang="en-US"/>
          </a:p>
        </p:txBody>
      </p:sp>
    </p:spTree>
    <p:extLst>
      <p:ext uri="{BB962C8B-B14F-4D97-AF65-F5344CB8AC3E}">
        <p14:creationId xmlns:p14="http://schemas.microsoft.com/office/powerpoint/2010/main" val="2939798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a:t>発表の内容と構成が想像できる</a:t>
            </a:r>
            <a:br>
              <a:rPr kumimoji="1" lang="en-US" altLang="ja-JP"/>
            </a:br>
            <a:r>
              <a:rPr kumimoji="1" lang="ja-JP" altLang="en-US"/>
              <a:t>発表題目をここに書く．</a:t>
            </a:r>
            <a:br>
              <a:rPr kumimoji="1" lang="en-US" altLang="ja-JP"/>
            </a:br>
            <a:r>
              <a:rPr kumimoji="1" lang="ja-JP" altLang="en-US"/>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Medium" panose="020B0500000000000000" pitchFamily="50" charset="-128"/>
                <a:ea typeface="游ゴシック Medium" panose="020B05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発表者名</a:t>
            </a:r>
            <a:endParaRPr kumimoji="1" lang="en-US" altLang="ja-JP"/>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a:t>身分や所属など</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a:t>題目の説明の助けになる図があれば載せる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58800" y="1015999"/>
            <a:ext cx="11099800" cy="938159"/>
          </a:xfrm>
        </p:spPr>
        <p:txBody>
          <a:bodyPr>
            <a:noAutofit/>
          </a:bodyPr>
          <a:lstStyle>
            <a:lvl1pPr>
              <a:defRPr sz="3600" b="1">
                <a:solidFill>
                  <a:schemeClr val="tx1"/>
                </a:solidFill>
                <a:latin typeface="游ゴシック" panose="020B0400000000000000" pitchFamily="50" charset="-128"/>
                <a:ea typeface="游ゴシック" panose="020B0400000000000000" pitchFamily="50" charset="-128"/>
              </a:defRPr>
            </a:lvl1pPr>
          </a:lstStyle>
          <a:p>
            <a:r>
              <a:rPr kumimoji="1" lang="ja-JP" altLang="en-US"/>
              <a:t>話題について一番伝えたいメッセージ（要点）</a:t>
            </a:r>
          </a:p>
        </p:txBody>
      </p:sp>
      <p:sp>
        <p:nvSpPr>
          <p:cNvPr id="3" name="コンテンツ プレースホルダー 2"/>
          <p:cNvSpPr>
            <a:spLocks noGrp="1"/>
          </p:cNvSpPr>
          <p:nvPr>
            <p:ph idx="1" hasCustomPrompt="1"/>
          </p:nvPr>
        </p:nvSpPr>
        <p:spPr>
          <a:xfrm>
            <a:off x="558800" y="2013155"/>
            <a:ext cx="11099800" cy="4572000"/>
          </a:xfrm>
        </p:spPr>
        <p:txBody>
          <a:bodyPr/>
          <a:lstStyle>
            <a:lvl1pPr marL="457200" indent="-4572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游ゴシック Medium" panose="020B0500000000000000" pitchFamily="50" charset="-128"/>
                <a:ea typeface="游ゴシック Medium" panose="020B0500000000000000" pitchFamily="50" charset="-128"/>
              </a:defRPr>
            </a:lvl2pPr>
          </a:lstStyle>
          <a:p>
            <a:pPr lvl="0"/>
            <a:r>
              <a:rPr kumimoji="1" lang="ja-JP" altLang="en-US"/>
              <a:t>メッセージの補足説明</a:t>
            </a:r>
            <a:endParaRPr kumimoji="1" lang="en-US" altLang="ja-JP"/>
          </a:p>
          <a:p>
            <a:pPr lvl="1"/>
            <a:r>
              <a:rPr kumimoji="1" lang="ja-JP" altLang="en-US"/>
              <a:t>第２段</a:t>
            </a:r>
            <a:endParaRPr kumimoji="1" lang="en-US" altLang="ja-JP"/>
          </a:p>
          <a:p>
            <a:pPr lvl="2"/>
            <a:r>
              <a:rPr kumimoji="1" lang="ja-JP" altLang="en-US"/>
              <a:t>第３段</a:t>
            </a:r>
            <a:endParaRPr kumimoji="1" lang="en-US" altLang="ja-JP"/>
          </a:p>
          <a:p>
            <a:pPr lvl="3"/>
            <a:r>
              <a:rPr kumimoji="1" lang="ja-JP" altLang="en-US"/>
              <a:t>第４段</a:t>
            </a:r>
            <a:endParaRPr kumimoji="1" lang="en-US" altLang="ja-JP"/>
          </a:p>
          <a:p>
            <a:pPr lvl="4"/>
            <a:r>
              <a:rPr kumimoji="1" lang="ja-JP" altLang="en-US"/>
              <a:t>第５弾</a:t>
            </a:r>
            <a:endParaRPr kumimoji="1" lang="en-US" altLang="ja-JP"/>
          </a:p>
          <a:p>
            <a:pPr lvl="3"/>
            <a:endParaRPr kumimoji="1" lang="en-US" altLang="ja-JP"/>
          </a:p>
          <a:p>
            <a:pPr lvl="3"/>
            <a:endParaRPr kumimoji="1" lang="en-US" altLang="ja-JP"/>
          </a:p>
          <a:p>
            <a:pPr lvl="1"/>
            <a:endParaRPr kumimoji="1" lang="en-US" altLang="ja-JP"/>
          </a:p>
          <a:p>
            <a:pPr lvl="0"/>
            <a:endParaRPr kumimoji="1" lang="en-US" altLang="ja-JP"/>
          </a:p>
          <a:p>
            <a:pPr lvl="0"/>
            <a:endParaRPr kumimoji="1" lang="en-US" altLang="ja-JP"/>
          </a:p>
          <a:p>
            <a:pPr lvl="1"/>
            <a:endParaRPr kumimoji="1" lang="en-US" altLang="ja-JP"/>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スライドの話題＝問い（論点）</a:t>
            </a:r>
            <a:endParaRPr kumimoji="1" lang="en-US" altLang="ja-JP"/>
          </a:p>
        </p:txBody>
      </p:sp>
      <p:sp>
        <p:nvSpPr>
          <p:cNvPr id="23" name="テキスト ボックス 22"/>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
        <p:nvSpPr>
          <p:cNvPr id="21" name="タイトル 1">
            <a:extLst>
              <a:ext uri="{FF2B5EF4-FFF2-40B4-BE49-F238E27FC236}">
                <a16:creationId xmlns:a16="http://schemas.microsoft.com/office/drawing/2014/main" id="{A9BE1665-9322-47E1-A153-0527F8ACA38A}"/>
              </a:ext>
            </a:extLst>
          </p:cNvPr>
          <p:cNvSpPr>
            <a:spLocks noGrp="1"/>
          </p:cNvSpPr>
          <p:nvPr>
            <p:ph type="title" hasCustomPrompt="1"/>
          </p:nvPr>
        </p:nvSpPr>
        <p:spPr>
          <a:xfrm>
            <a:off x="558800" y="1015876"/>
            <a:ext cx="11099800" cy="938159"/>
          </a:xfrm>
        </p:spPr>
        <p:txBody>
          <a:bodyPr>
            <a:noAutofit/>
          </a:bodyPr>
          <a:lstStyle>
            <a:lvl1pPr>
              <a:defRPr sz="3600" b="1">
                <a:solidFill>
                  <a:schemeClr val="tx1"/>
                </a:solidFill>
                <a:latin typeface="游ゴシック" panose="020B0400000000000000" pitchFamily="50" charset="-128"/>
                <a:ea typeface="游ゴシック" panose="020B0400000000000000" pitchFamily="50" charset="-128"/>
              </a:defRPr>
            </a:lvl1pPr>
          </a:lstStyle>
          <a:p>
            <a:r>
              <a:rPr kumimoji="1" lang="ja-JP" altLang="en-US"/>
              <a:t>話題について一番伝えたいメッセージ（要点）</a:t>
            </a:r>
          </a:p>
        </p:txBody>
      </p:sp>
      <p:sp>
        <p:nvSpPr>
          <p:cNvPr id="6" name="正方形/長方形 5">
            <a:extLst>
              <a:ext uri="{FF2B5EF4-FFF2-40B4-BE49-F238E27FC236}">
                <a16:creationId xmlns:a16="http://schemas.microsoft.com/office/drawing/2014/main" id="{2DD56239-07BE-4C67-A734-0AF31D50B46F}"/>
              </a:ext>
            </a:extLst>
          </p:cNvPr>
          <p:cNvSpPr/>
          <p:nvPr userDrawn="1"/>
        </p:nvSpPr>
        <p:spPr>
          <a:xfrm>
            <a:off x="471271" y="1994510"/>
            <a:ext cx="3649340" cy="4622190"/>
          </a:xfrm>
          <a:prstGeom prst="rect">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D817710-9F90-4285-B55E-BC67D0EB2157}"/>
              </a:ext>
            </a:extLst>
          </p:cNvPr>
          <p:cNvSpPr/>
          <p:nvPr userDrawn="1"/>
        </p:nvSpPr>
        <p:spPr>
          <a:xfrm>
            <a:off x="4314710" y="1987780"/>
            <a:ext cx="3649340" cy="4622190"/>
          </a:xfrm>
          <a:prstGeom prst="rect">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81BD8337-6ACB-47CC-98B1-58823A402B6F}"/>
              </a:ext>
            </a:extLst>
          </p:cNvPr>
          <p:cNvSpPr/>
          <p:nvPr userDrawn="1"/>
        </p:nvSpPr>
        <p:spPr>
          <a:xfrm>
            <a:off x="8131938" y="1994510"/>
            <a:ext cx="3649340" cy="4622190"/>
          </a:xfrm>
          <a:prstGeom prst="rect">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E2E5C02-D511-4A33-B24E-FB1EA43C3941}"/>
              </a:ext>
            </a:extLst>
          </p:cNvPr>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a:solidFill>
                <a:schemeClr val="tx1"/>
              </a:solidFill>
              <a:latin typeface="+mn-lt"/>
              <a:ea typeface="游ゴシック Medium" panose="020B0500000000000000" pitchFamily="50" charset="-128"/>
            </a:endParaRPr>
          </a:p>
        </p:txBody>
      </p:sp>
      <p:cxnSp>
        <p:nvCxnSpPr>
          <p:cNvPr id="18" name="直線コネクタ 17">
            <a:extLst>
              <a:ext uri="{FF2B5EF4-FFF2-40B4-BE49-F238E27FC236}">
                <a16:creationId xmlns:a16="http://schemas.microsoft.com/office/drawing/2014/main" id="{F87E163B-8A82-4BA9-BC1A-4BC89F170761}"/>
              </a:ext>
            </a:extLst>
          </p:cNvPr>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テキスト プレースホルダー 17">
            <a:extLst>
              <a:ext uri="{FF2B5EF4-FFF2-40B4-BE49-F238E27FC236}">
                <a16:creationId xmlns:a16="http://schemas.microsoft.com/office/drawing/2014/main" id="{B78D8A30-D394-4059-92AC-154EDE4213F6}"/>
              </a:ext>
            </a:extLst>
          </p:cNvPr>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スライドの話題＝問い（論点）</a:t>
            </a:r>
            <a:endParaRPr kumimoji="1" lang="en-US" altLang="ja-JP"/>
          </a:p>
        </p:txBody>
      </p:sp>
    </p:spTree>
    <p:extLst>
      <p:ext uri="{BB962C8B-B14F-4D97-AF65-F5344CB8AC3E}">
        <p14:creationId xmlns:p14="http://schemas.microsoft.com/office/powerpoint/2010/main" val="2964638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030AE5-DCC1-469E-8090-C67BD6A9F8F2}" type="datetimeFigureOut">
              <a:rPr kumimoji="1" lang="ja-JP" altLang="en-US" smtClean="0"/>
              <a:t>2026/2/3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4F927E7B-4468-4ADB-90F6-944EFB473734}" type="slidenum">
              <a:rPr kumimoji="1" lang="ja-JP" altLang="en-US" smtClean="0"/>
              <a:t>‹#›</a:t>
            </a:fld>
            <a:endParaRPr kumimoji="1" lang="ja-JP" altLang="en-US"/>
          </a:p>
        </p:txBody>
      </p:sp>
    </p:spTree>
    <p:extLst>
      <p:ext uri="{BB962C8B-B14F-4D97-AF65-F5344CB8AC3E}">
        <p14:creationId xmlns:p14="http://schemas.microsoft.com/office/powerpoint/2010/main" val="357875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28E864-4903-03BA-B59A-E5A5E9F4D5A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512235-2A2C-6E46-75D5-5443CF1206F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91C6D4-9626-E55D-B2A8-FBF4E547EF2E}"/>
              </a:ext>
            </a:extLst>
          </p:cNvPr>
          <p:cNvSpPr>
            <a:spLocks noGrp="1"/>
          </p:cNvSpPr>
          <p:nvPr>
            <p:ph type="dt" sz="half" idx="10"/>
          </p:nvPr>
        </p:nvSpPr>
        <p:spPr/>
        <p:txBody>
          <a:bodyPr/>
          <a:lstStyle/>
          <a:p>
            <a:fld id="{C7364DD6-2962-4EA0-A5AB-0374D63C5596}"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B3D2F764-B483-1E91-42F9-B162A239F65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21F71D-45C2-E439-822F-CD9E24321BA0}"/>
              </a:ext>
            </a:extLst>
          </p:cNvPr>
          <p:cNvSpPr>
            <a:spLocks noGrp="1"/>
          </p:cNvSpPr>
          <p:nvPr>
            <p:ph type="sldNum" sz="quarter" idx="12"/>
          </p:nvPr>
        </p:nvSpPr>
        <p:spPr/>
        <p:txBody>
          <a:bodyPr/>
          <a:lstStyle/>
          <a:p>
            <a:fld id="{B587EC10-4CE0-4AFD-B20B-2A10168E40CC}" type="slidenum">
              <a:rPr kumimoji="1" lang="ja-JP" altLang="en-US" smtClean="0"/>
              <a:t>‹#›</a:t>
            </a:fld>
            <a:endParaRPr kumimoji="1" lang="ja-JP" altLang="en-US"/>
          </a:p>
        </p:txBody>
      </p:sp>
    </p:spTree>
    <p:extLst>
      <p:ext uri="{BB962C8B-B14F-4D97-AF65-F5344CB8AC3E}">
        <p14:creationId xmlns:p14="http://schemas.microsoft.com/office/powerpoint/2010/main" val="25126983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BAF030-86AC-4BA0-B9C6-3243C593BCFC}" type="datetimeFigureOut">
              <a:rPr kumimoji="1" lang="ja-JP" altLang="en-US" smtClean="0"/>
              <a:t>2026/2/3</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9.sv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9.sv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6F0535-4030-4C35-945F-92B453107136}"/>
              </a:ext>
            </a:extLst>
          </p:cNvPr>
          <p:cNvSpPr>
            <a:spLocks noGrp="1"/>
          </p:cNvSpPr>
          <p:nvPr>
            <p:ph type="ctrTitle"/>
          </p:nvPr>
        </p:nvSpPr>
        <p:spPr>
          <a:xfrm>
            <a:off x="813208" y="2503055"/>
            <a:ext cx="10802388" cy="2387600"/>
          </a:xfrm>
        </p:spPr>
        <p:txBody>
          <a:bodyPr/>
          <a:lstStyle/>
          <a:p>
            <a:r>
              <a:rPr kumimoji="1" lang="ja-JP" altLang="en-US" sz="4400" dirty="0">
                <a:latin typeface="メイリオ" panose="020B0604030504040204" pitchFamily="50" charset="-128"/>
                <a:ea typeface="メイリオ" panose="020B0604030504040204" pitchFamily="50" charset="-128"/>
              </a:rPr>
              <a:t>エージェント</a:t>
            </a:r>
            <a:r>
              <a:rPr lang="ja-JP" altLang="en-US" sz="4400" dirty="0">
                <a:latin typeface="メイリオ" panose="020B0604030504040204" pitchFamily="50" charset="-128"/>
                <a:ea typeface="メイリオ" panose="020B0604030504040204" pitchFamily="50" charset="-128"/>
              </a:rPr>
              <a:t>の</a:t>
            </a:r>
            <a:r>
              <a:rPr kumimoji="1" lang="ja-JP" altLang="en-US" sz="4400" dirty="0">
                <a:latin typeface="メイリオ" panose="020B0604030504040204" pitchFamily="50" charset="-128"/>
                <a:ea typeface="メイリオ" panose="020B0604030504040204" pitchFamily="50" charset="-128"/>
              </a:rPr>
              <a:t>勇気ある行動の観察が人の</a:t>
            </a:r>
            <a:r>
              <a:rPr lang="ja-JP" altLang="en-US" sz="4400" dirty="0">
                <a:latin typeface="メイリオ" panose="020B0604030504040204" pitchFamily="50" charset="-128"/>
                <a:ea typeface="メイリオ" panose="020B0604030504040204" pitchFamily="50" charset="-128"/>
              </a:rPr>
              <a:t>勇気を引き出す効果</a:t>
            </a:r>
            <a:r>
              <a:rPr kumimoji="1" lang="ja-JP" altLang="en-US" sz="4400" dirty="0">
                <a:latin typeface="メイリオ" panose="020B0604030504040204" pitchFamily="50" charset="-128"/>
                <a:ea typeface="メイリオ" panose="020B0604030504040204" pitchFamily="50" charset="-128"/>
              </a:rPr>
              <a:t>の検証</a:t>
            </a:r>
          </a:p>
        </p:txBody>
      </p:sp>
      <p:sp>
        <p:nvSpPr>
          <p:cNvPr id="3" name="字幕 2">
            <a:extLst>
              <a:ext uri="{FF2B5EF4-FFF2-40B4-BE49-F238E27FC236}">
                <a16:creationId xmlns:a16="http://schemas.microsoft.com/office/drawing/2014/main" id="{42FD679A-CDD2-4005-984B-113143E13B1F}"/>
              </a:ext>
            </a:extLst>
          </p:cNvPr>
          <p:cNvSpPr>
            <a:spLocks noGrp="1"/>
          </p:cNvSpPr>
          <p:nvPr>
            <p:ph type="subTitle" idx="1"/>
          </p:nvPr>
        </p:nvSpPr>
        <p:spPr>
          <a:xfrm>
            <a:off x="1459348" y="5147107"/>
            <a:ext cx="9144000" cy="561975"/>
          </a:xfrm>
        </p:spPr>
        <p:txBody>
          <a:bodyPr/>
          <a:lstStyle/>
          <a:p>
            <a:r>
              <a:rPr kumimoji="1" lang="ja-JP" altLang="en-US" dirty="0">
                <a:latin typeface="メイリオ" panose="020B0604030504040204" pitchFamily="50" charset="-128"/>
                <a:ea typeface="メイリオ" panose="020B0604030504040204" pitchFamily="50" charset="-128"/>
              </a:rPr>
              <a:t>清水　友貴</a:t>
            </a:r>
          </a:p>
        </p:txBody>
      </p:sp>
      <p:sp>
        <p:nvSpPr>
          <p:cNvPr id="4" name="テキスト プレースホルダー 3">
            <a:extLst>
              <a:ext uri="{FF2B5EF4-FFF2-40B4-BE49-F238E27FC236}">
                <a16:creationId xmlns:a16="http://schemas.microsoft.com/office/drawing/2014/main" id="{47B2A5E6-B11B-4CED-B03E-250BCC27035B}"/>
              </a:ext>
            </a:extLst>
          </p:cNvPr>
          <p:cNvSpPr>
            <a:spLocks noGrp="1"/>
          </p:cNvSpPr>
          <p:nvPr>
            <p:ph type="body" sz="quarter" idx="11"/>
          </p:nvPr>
        </p:nvSpPr>
        <p:spPr>
          <a:xfrm>
            <a:off x="1459348" y="5777344"/>
            <a:ext cx="9144000" cy="469900"/>
          </a:xfrm>
        </p:spPr>
        <p:txBody>
          <a:bodyPr>
            <a:normAutofit fontScale="92500" lnSpcReduction="20000"/>
          </a:bodyPr>
          <a:lstStyle/>
          <a:p>
            <a:r>
              <a:rPr kumimoji="1" lang="ja-JP" altLang="en-US" dirty="0">
                <a:latin typeface="メイリオ" panose="020B0604030504040204" pitchFamily="50" charset="-128"/>
                <a:ea typeface="メイリオ" panose="020B0604030504040204" pitchFamily="50" charset="-128"/>
              </a:rPr>
              <a:t>石黒研究室　</a:t>
            </a:r>
            <a:r>
              <a:rPr kumimoji="1" lang="en-US" altLang="ja-JP" dirty="0">
                <a:latin typeface="メイリオ" panose="020B0604030504040204" pitchFamily="50" charset="-128"/>
                <a:ea typeface="メイリオ" panose="020B0604030504040204" pitchFamily="50" charset="-128"/>
              </a:rPr>
              <a:t>D2</a:t>
            </a:r>
            <a:endParaRPr kumimoji="1" lang="ja-JP" altLang="en-US" dirty="0">
              <a:latin typeface="メイリオ" panose="020B0604030504040204" pitchFamily="50" charset="-128"/>
              <a:ea typeface="メイリオ" panose="020B0604030504040204" pitchFamily="50" charset="-128"/>
            </a:endParaRPr>
          </a:p>
        </p:txBody>
      </p:sp>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12"/>
          </p:nvPr>
        </p:nvSpPr>
        <p:spPr>
          <a:xfrm>
            <a:off x="8290493" y="152477"/>
            <a:ext cx="4170411" cy="495223"/>
          </a:xfrm>
        </p:spPr>
        <p:txBody>
          <a:bodyPr/>
          <a:lstStyle/>
          <a:p>
            <a:r>
              <a:rPr lang="en-US" altLang="ja-JP" dirty="0">
                <a:latin typeface="メイリオ" panose="020B0604030504040204" pitchFamily="50" charset="-128"/>
                <a:ea typeface="メイリオ" panose="020B0604030504040204" pitchFamily="50" charset="-128"/>
              </a:rPr>
              <a:t>Interim</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meeting</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2025.9.8</a:t>
            </a:r>
            <a:endParaRPr kumimoji="1" lang="ja-JP" altLang="en-US" dirty="0">
              <a:latin typeface="メイリオ" panose="020B0604030504040204" pitchFamily="50" charset="-128"/>
              <a:ea typeface="メイリオ" panose="020B0604030504040204" pitchFamily="50" charset="-128"/>
            </a:endParaRPr>
          </a:p>
        </p:txBody>
      </p:sp>
      <p:sp>
        <p:nvSpPr>
          <p:cNvPr id="6" name="図プレースホルダー 5">
            <a:extLst>
              <a:ext uri="{FF2B5EF4-FFF2-40B4-BE49-F238E27FC236}">
                <a16:creationId xmlns:a16="http://schemas.microsoft.com/office/drawing/2014/main" id="{0AFE5A35-E172-4CE5-9706-822A8837189E}"/>
              </a:ext>
            </a:extLst>
          </p:cNvPr>
          <p:cNvSpPr>
            <a:spLocks noGrp="1"/>
          </p:cNvSpPr>
          <p:nvPr>
            <p:ph type="pic" sz="quarter" idx="13"/>
          </p:nvPr>
        </p:nvSpPr>
        <p:spPr/>
        <p:txBody>
          <a:bodyPr/>
          <a:lstStyle/>
          <a:p>
            <a:endParaRPr lang="ja-JP" altLang="en-US" dirty="0"/>
          </a:p>
        </p:txBody>
      </p:sp>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473CF-F703-6982-0475-943D483CCC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CCEBD1-450A-3F2F-0883-284CBDC1413D}"/>
              </a:ext>
            </a:extLst>
          </p:cNvPr>
          <p:cNvSpPr txBox="1">
            <a:spLocks/>
          </p:cNvSpPr>
          <p:nvPr/>
        </p:nvSpPr>
        <p:spPr>
          <a:xfrm>
            <a:off x="322353" y="344300"/>
            <a:ext cx="115472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dirty="0">
                <a:solidFill>
                  <a:schemeClr val="accent3">
                    <a:lumMod val="60000"/>
                    <a:lumOff val="40000"/>
                  </a:schemeClr>
                </a:solidFill>
                <a:latin typeface="メイリオ" panose="020B0604030504040204" pitchFamily="50" charset="-128"/>
                <a:ea typeface="メイリオ" panose="020B0604030504040204" pitchFamily="50" charset="-128"/>
              </a:rPr>
              <a:t>背景</a:t>
            </a:r>
            <a:endParaRPr lang="en-US" altLang="ja-JP"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22" name="コンテンツ プレースホルダー 2">
            <a:extLst>
              <a:ext uri="{FF2B5EF4-FFF2-40B4-BE49-F238E27FC236}">
                <a16:creationId xmlns:a16="http://schemas.microsoft.com/office/drawing/2014/main" id="{E6929937-F720-812F-E1DB-40963F395B89}"/>
              </a:ext>
            </a:extLst>
          </p:cNvPr>
          <p:cNvSpPr txBox="1">
            <a:spLocks/>
          </p:cNvSpPr>
          <p:nvPr/>
        </p:nvSpPr>
        <p:spPr>
          <a:xfrm>
            <a:off x="144855" y="2525917"/>
            <a:ext cx="6608871" cy="4106573"/>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0" dirty="0">
                <a:latin typeface="メイリオ" panose="020B0604030504040204" pitchFamily="50" charset="-128"/>
                <a:ea typeface="メイリオ" panose="020B0604030504040204" pitchFamily="50" charset="-128"/>
              </a:rPr>
              <a:t>OECD</a:t>
            </a:r>
            <a:r>
              <a:rPr lang="ja-JP" altLang="en-US" b="0" dirty="0">
                <a:latin typeface="メイリオ" panose="020B0604030504040204" pitchFamily="50" charset="-128"/>
                <a:ea typeface="メイリオ" panose="020B0604030504040204" pitchFamily="50" charset="-128"/>
              </a:rPr>
              <a:t>諸国の中では最も失敗を恐れる程度が高い</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日本社会では挑戦を避ける傾向が根強い</a:t>
            </a:r>
            <a:endParaRPr lang="en-US" altLang="ja-JP" b="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62D4252-AE25-5A9B-19C0-C6157A1D5613}"/>
              </a:ext>
            </a:extLst>
          </p:cNvPr>
          <p:cNvSpPr txBox="1"/>
          <p:nvPr/>
        </p:nvSpPr>
        <p:spPr>
          <a:xfrm>
            <a:off x="831886" y="1572355"/>
            <a:ext cx="10854253" cy="584775"/>
          </a:xfrm>
          <a:prstGeom prst="rect">
            <a:avLst/>
          </a:prstGeom>
          <a:noFill/>
        </p:spPr>
        <p:txBody>
          <a:bodyPr wrap="none" rtlCol="0">
            <a:spAutoFit/>
          </a:bodyPr>
          <a:lstStyle/>
          <a:p>
            <a:r>
              <a:rPr kumimoji="1" lang="ja-JP" altLang="en-US" sz="3200" b="1" dirty="0">
                <a:latin typeface="メイリオ" panose="020B0604030504040204" pitchFamily="50" charset="-128"/>
                <a:ea typeface="メイリオ" panose="020B0604030504040204" pitchFamily="50" charset="-128"/>
              </a:rPr>
              <a:t>日本人は世界に比べて失敗を恐れて挑戦しない傾向にある</a:t>
            </a:r>
          </a:p>
        </p:txBody>
      </p:sp>
      <p:pic>
        <p:nvPicPr>
          <p:cNvPr id="4" name="Picture 4" descr="失敗を恐れる日本の風土を払拭しよう！ | IT Leaders">
            <a:extLst>
              <a:ext uri="{FF2B5EF4-FFF2-40B4-BE49-F238E27FC236}">
                <a16:creationId xmlns:a16="http://schemas.microsoft.com/office/drawing/2014/main" id="{4A82173C-375B-199B-D01B-7FAD04662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2294" y="3134476"/>
            <a:ext cx="4994851" cy="2876959"/>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47CA6B83-FF85-23A8-0860-7BA2449CD55D}"/>
              </a:ext>
            </a:extLst>
          </p:cNvPr>
          <p:cNvSpPr txBox="1"/>
          <p:nvPr/>
        </p:nvSpPr>
        <p:spPr>
          <a:xfrm>
            <a:off x="7152238" y="2857477"/>
            <a:ext cx="4028662" cy="27699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https://it.impress.co.jp/articles/-/25549</a:t>
            </a:r>
          </a:p>
        </p:txBody>
      </p:sp>
      <p:sp>
        <p:nvSpPr>
          <p:cNvPr id="7" name="テキスト ボックス 6">
            <a:extLst>
              <a:ext uri="{FF2B5EF4-FFF2-40B4-BE49-F238E27FC236}">
                <a16:creationId xmlns:a16="http://schemas.microsoft.com/office/drawing/2014/main" id="{2DD925D6-D2AA-942D-EF50-CA09734AE8B0}"/>
              </a:ext>
            </a:extLst>
          </p:cNvPr>
          <p:cNvSpPr txBox="1"/>
          <p:nvPr/>
        </p:nvSpPr>
        <p:spPr>
          <a:xfrm>
            <a:off x="8386919" y="5902537"/>
            <a:ext cx="2953692" cy="369332"/>
          </a:xfrm>
          <a:prstGeom prst="rect">
            <a:avLst/>
          </a:prstGeom>
          <a:noFill/>
        </p:spPr>
        <p:txBody>
          <a:bodyPr wrap="square">
            <a:spAutoFit/>
          </a:bodyPr>
          <a:lstStyle/>
          <a:p>
            <a:r>
              <a:rPr lang="en-US" altLang="ja-JP" b="0" i="0" dirty="0">
                <a:solidFill>
                  <a:srgbClr val="333333"/>
                </a:solidFill>
                <a:effectLst/>
                <a:latin typeface="メイリオ" panose="020B0604030504040204" pitchFamily="50" charset="-128"/>
                <a:ea typeface="メイリオ" panose="020B0604030504040204" pitchFamily="50" charset="-128"/>
              </a:rPr>
              <a:t>Index of fear of failure</a:t>
            </a:r>
            <a:endParaRPr lang="ja-JP" altLang="en-US" dirty="0"/>
          </a:p>
        </p:txBody>
      </p:sp>
      <p:sp>
        <p:nvSpPr>
          <p:cNvPr id="6" name="テキスト ボックス 5">
            <a:extLst>
              <a:ext uri="{FF2B5EF4-FFF2-40B4-BE49-F238E27FC236}">
                <a16:creationId xmlns:a16="http://schemas.microsoft.com/office/drawing/2014/main" id="{66C2F855-9306-3DCC-0FFC-AAC259BE6A51}"/>
              </a:ext>
            </a:extLst>
          </p:cNvPr>
          <p:cNvSpPr txBox="1"/>
          <p:nvPr/>
        </p:nvSpPr>
        <p:spPr>
          <a:xfrm>
            <a:off x="3068320" y="3271520"/>
            <a:ext cx="184731" cy="369332"/>
          </a:xfrm>
          <a:prstGeom prst="rect">
            <a:avLst/>
          </a:prstGeom>
          <a:noFill/>
        </p:spPr>
        <p:txBody>
          <a:bodyPr wrap="none" rtlCol="0">
            <a:spAutoFit/>
          </a:bodyPr>
          <a:lstStyle/>
          <a:p>
            <a:endParaRPr kumimoji="1" lang="ja-JP" altLang="en-US" dirty="0"/>
          </a:p>
        </p:txBody>
      </p:sp>
      <p:sp>
        <p:nvSpPr>
          <p:cNvPr id="8" name="テキスト ボックス 7">
            <a:extLst>
              <a:ext uri="{FF2B5EF4-FFF2-40B4-BE49-F238E27FC236}">
                <a16:creationId xmlns:a16="http://schemas.microsoft.com/office/drawing/2014/main" id="{49CA3D95-890A-FE1E-DD82-5D48C6581318}"/>
              </a:ext>
            </a:extLst>
          </p:cNvPr>
          <p:cNvSpPr txBox="1"/>
          <p:nvPr/>
        </p:nvSpPr>
        <p:spPr>
          <a:xfrm>
            <a:off x="516925" y="5470929"/>
            <a:ext cx="6032421" cy="461665"/>
          </a:xfrm>
          <a:prstGeom prst="rect">
            <a:avLst/>
          </a:prstGeom>
          <a:noFill/>
        </p:spPr>
        <p:txBody>
          <a:bodyPr wrap="none" rtlCol="0">
            <a:spAutoFit/>
          </a:bodyPr>
          <a:lstStyle/>
          <a:p>
            <a:r>
              <a:rPr kumimoji="1" lang="ja-JP" altLang="en-US" sz="2400" b="1" dirty="0">
                <a:solidFill>
                  <a:srgbClr val="FF0000"/>
                </a:solidFill>
                <a:latin typeface="メイリオ" panose="020B0604030504040204" pitchFamily="50" charset="-128"/>
                <a:ea typeface="メイリオ" panose="020B0604030504040204" pitchFamily="50" charset="-128"/>
              </a:rPr>
              <a:t>コンフォートゾーン</a:t>
            </a:r>
            <a:r>
              <a:rPr kumimoji="1" lang="ja-JP" altLang="en-US" sz="2400" b="1" dirty="0">
                <a:solidFill>
                  <a:schemeClr val="bg1">
                    <a:lumMod val="25000"/>
                  </a:schemeClr>
                </a:solidFill>
                <a:latin typeface="メイリオ" panose="020B0604030504040204" pitchFamily="50" charset="-128"/>
                <a:ea typeface="メイリオ" panose="020B0604030504040204" pitchFamily="50" charset="-128"/>
              </a:rPr>
              <a:t>に留まってしまうため</a:t>
            </a:r>
          </a:p>
        </p:txBody>
      </p:sp>
      <p:sp>
        <p:nvSpPr>
          <p:cNvPr id="9" name="矢印: 右 8">
            <a:extLst>
              <a:ext uri="{FF2B5EF4-FFF2-40B4-BE49-F238E27FC236}">
                <a16:creationId xmlns:a16="http://schemas.microsoft.com/office/drawing/2014/main" id="{9E8EAAF5-1431-43DC-3D2E-AA933B3D91B5}"/>
              </a:ext>
            </a:extLst>
          </p:cNvPr>
          <p:cNvSpPr/>
          <p:nvPr/>
        </p:nvSpPr>
        <p:spPr>
          <a:xfrm rot="16200000">
            <a:off x="3136674" y="4613283"/>
            <a:ext cx="700115" cy="46736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966779FE-9B53-89D0-24C5-B1ED31234AF6}"/>
              </a:ext>
            </a:extLst>
          </p:cNvPr>
          <p:cNvSpPr txBox="1"/>
          <p:nvPr/>
        </p:nvSpPr>
        <p:spPr>
          <a:xfrm>
            <a:off x="3890677" y="4732538"/>
            <a:ext cx="646331" cy="369332"/>
          </a:xfrm>
          <a:prstGeom prst="rect">
            <a:avLst/>
          </a:prstGeom>
          <a:noFill/>
        </p:spPr>
        <p:txBody>
          <a:bodyPr wrap="none" rtlCol="0">
            <a:spAutoFit/>
          </a:bodyPr>
          <a:lstStyle/>
          <a:p>
            <a:r>
              <a:rPr lang="ja-JP" altLang="en-US" dirty="0">
                <a:latin typeface="メイリオ" panose="020B0604030504040204" pitchFamily="50" charset="-128"/>
                <a:ea typeface="メイリオ" panose="020B0604030504040204" pitchFamily="50" charset="-128"/>
              </a:rPr>
              <a:t>理由</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2787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502BE-B857-FA8D-608C-414C43897E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91C4FE-864B-EEF3-0D8D-2BC3D6679DC0}"/>
              </a:ext>
            </a:extLst>
          </p:cNvPr>
          <p:cNvSpPr txBox="1">
            <a:spLocks/>
          </p:cNvSpPr>
          <p:nvPr/>
        </p:nvSpPr>
        <p:spPr>
          <a:xfrm>
            <a:off x="322353" y="344300"/>
            <a:ext cx="115472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dirty="0">
                <a:solidFill>
                  <a:schemeClr val="accent3">
                    <a:lumMod val="60000"/>
                    <a:lumOff val="40000"/>
                  </a:schemeClr>
                </a:solidFill>
                <a:latin typeface="メイリオ" panose="020B0604030504040204" pitchFamily="50" charset="-128"/>
                <a:ea typeface="メイリオ" panose="020B0604030504040204" pitchFamily="50" charset="-128"/>
              </a:rPr>
              <a:t>コンフォートゾーンとは</a:t>
            </a:r>
            <a:endParaRPr lang="en-US" altLang="ja-JP"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22" name="コンテンツ プレースホルダー 2">
            <a:extLst>
              <a:ext uri="{FF2B5EF4-FFF2-40B4-BE49-F238E27FC236}">
                <a16:creationId xmlns:a16="http://schemas.microsoft.com/office/drawing/2014/main" id="{30BD8C73-9A36-ABDA-8635-B2CC33B3C1A4}"/>
              </a:ext>
            </a:extLst>
          </p:cNvPr>
          <p:cNvSpPr txBox="1">
            <a:spLocks/>
          </p:cNvSpPr>
          <p:nvPr/>
        </p:nvSpPr>
        <p:spPr>
          <a:xfrm>
            <a:off x="322353" y="1688343"/>
            <a:ext cx="7207567" cy="3875274"/>
          </a:xfrm>
          <a:prstGeom prst="rect">
            <a:avLst/>
          </a:prstGeom>
        </p:spPr>
        <p:txBody>
          <a:bodyPr>
            <a:normAutofit lnSpcReduction="10000"/>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定義</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「慣れ親しんだ環境や状態」</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メリット</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安全・安心を感じられるため、ストレスが少ない</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デメリット</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挑戦や成長の機会を逃しやすくなる</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人は変化を拒んでこの状態を保とうとする</a:t>
            </a:r>
            <a:endParaRPr lang="en-US" altLang="ja-JP" b="0" dirty="0">
              <a:latin typeface="メイリオ" panose="020B0604030504040204" pitchFamily="50" charset="-128"/>
              <a:ea typeface="メイリオ" panose="020B0604030504040204" pitchFamily="50" charset="-128"/>
            </a:endParaRPr>
          </a:p>
        </p:txBody>
      </p:sp>
      <p:pic>
        <p:nvPicPr>
          <p:cNvPr id="2050" name="Picture 2" descr="The secret to operate outside of your comfort zone">
            <a:extLst>
              <a:ext uri="{FF2B5EF4-FFF2-40B4-BE49-F238E27FC236}">
                <a16:creationId xmlns:a16="http://schemas.microsoft.com/office/drawing/2014/main" id="{6C830FF8-A589-3626-F9F0-CDB3E807F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4526" y="2365188"/>
            <a:ext cx="3629025" cy="3629025"/>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DAE645CD-A0AC-D1FD-6526-1AC1F3F0D56C}"/>
              </a:ext>
            </a:extLst>
          </p:cNvPr>
          <p:cNvSpPr txBox="1"/>
          <p:nvPr/>
        </p:nvSpPr>
        <p:spPr>
          <a:xfrm>
            <a:off x="9761145" y="6113590"/>
            <a:ext cx="2430855" cy="400110"/>
          </a:xfrm>
          <a:prstGeom prst="rect">
            <a:avLst/>
          </a:prstGeom>
          <a:noFill/>
        </p:spPr>
        <p:txBody>
          <a:bodyPr wrap="square">
            <a:spAutoFit/>
          </a:bodyPr>
          <a:lstStyle/>
          <a:p>
            <a:r>
              <a:rPr lang="en-US" altLang="ja-JP" sz="2000" dirty="0"/>
              <a:t>[</a:t>
            </a:r>
            <a:r>
              <a:rPr lang="ja-JP" altLang="en-US" sz="2000" dirty="0"/>
              <a:t>Tichy </a:t>
            </a:r>
            <a:r>
              <a:rPr lang="en-US" altLang="ja-JP" sz="2000" dirty="0"/>
              <a:t>1997]</a:t>
            </a:r>
            <a:endParaRPr lang="ja-JP" altLang="en-US" sz="2000" dirty="0"/>
          </a:p>
        </p:txBody>
      </p:sp>
    </p:spTree>
    <p:extLst>
      <p:ext uri="{BB962C8B-B14F-4D97-AF65-F5344CB8AC3E}">
        <p14:creationId xmlns:p14="http://schemas.microsoft.com/office/powerpoint/2010/main" val="1057868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001C-0A65-583D-B31B-4F28FEC4D42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634521-C330-B257-C632-F0FF7873C4C2}"/>
              </a:ext>
            </a:extLst>
          </p:cNvPr>
          <p:cNvSpPr txBox="1">
            <a:spLocks/>
          </p:cNvSpPr>
          <p:nvPr/>
        </p:nvSpPr>
        <p:spPr>
          <a:xfrm>
            <a:off x="322353" y="344300"/>
            <a:ext cx="115472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dirty="0">
                <a:solidFill>
                  <a:schemeClr val="accent3">
                    <a:lumMod val="60000"/>
                    <a:lumOff val="40000"/>
                  </a:schemeClr>
                </a:solidFill>
                <a:latin typeface="メイリオ" panose="020B0604030504040204" pitchFamily="50" charset="-128"/>
                <a:ea typeface="メイリオ" panose="020B0604030504040204" pitchFamily="50" charset="-128"/>
              </a:rPr>
              <a:t>コンフォートゾーンにいることの長期的影響</a:t>
            </a:r>
            <a:endParaRPr lang="en-US" altLang="ja-JP"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22" name="コンテンツ プレースホルダー 2">
            <a:extLst>
              <a:ext uri="{FF2B5EF4-FFF2-40B4-BE49-F238E27FC236}">
                <a16:creationId xmlns:a16="http://schemas.microsoft.com/office/drawing/2014/main" id="{FC492D30-AC7E-2BC0-C879-0D1F1221E990}"/>
              </a:ext>
            </a:extLst>
          </p:cNvPr>
          <p:cNvSpPr txBox="1">
            <a:spLocks/>
          </p:cNvSpPr>
          <p:nvPr/>
        </p:nvSpPr>
        <p:spPr>
          <a:xfrm>
            <a:off x="403459" y="1562357"/>
            <a:ext cx="11672126" cy="308151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人が最も後悔し苦しむのは、義務や責任に関することではなく、「理想の自己」として生きることができなかった後悔</a:t>
            </a:r>
            <a:r>
              <a:rPr lang="en-US" altLang="ja-JP" b="0" dirty="0">
                <a:latin typeface="メイリオ" panose="020B0604030504040204" pitchFamily="50" charset="-128"/>
                <a:ea typeface="メイリオ" panose="020B0604030504040204" pitchFamily="50" charset="-128"/>
              </a:rPr>
              <a:t>[Gilovich 2018]</a:t>
            </a:r>
            <a:br>
              <a:rPr lang="en-US" altLang="ja-JP" b="0" dirty="0">
                <a:latin typeface="メイリオ" panose="020B0604030504040204" pitchFamily="50" charset="-128"/>
                <a:ea typeface="メイリオ" panose="020B0604030504040204" pitchFamily="50" charset="-128"/>
              </a:rPr>
            </a:br>
            <a:br>
              <a:rPr lang="en-US" altLang="ja-JP" b="0" dirty="0">
                <a:latin typeface="メイリオ" panose="020B0604030504040204" pitchFamily="50" charset="-128"/>
                <a:ea typeface="メイリオ" panose="020B0604030504040204" pitchFamily="50" charset="-128"/>
              </a:rPr>
            </a:br>
            <a:r>
              <a:rPr lang="ja-JP" altLang="en-US" b="0" dirty="0">
                <a:latin typeface="メイリオ" panose="020B0604030504040204" pitchFamily="50" charset="-128"/>
                <a:ea typeface="メイリオ" panose="020B0604030504040204" pitchFamily="50" charset="-128"/>
              </a:rPr>
              <a:t>⇒</a:t>
            </a:r>
            <a:r>
              <a:rPr lang="en-US" altLang="ja-JP" b="0" dirty="0">
                <a:latin typeface="メイリオ" panose="020B0604030504040204" pitchFamily="50" charset="-128"/>
                <a:ea typeface="メイリオ" panose="020B0604030504040204" pitchFamily="50" charset="-128"/>
              </a:rPr>
              <a:t>『</a:t>
            </a:r>
            <a:r>
              <a:rPr lang="ja-JP" altLang="en-US" b="0" dirty="0">
                <a:latin typeface="メイリオ" panose="020B0604030504040204" pitchFamily="50" charset="-128"/>
                <a:ea typeface="メイリオ" panose="020B0604030504040204" pitchFamily="50" charset="-128"/>
              </a:rPr>
              <a:t>何も残らなかった</a:t>
            </a:r>
            <a:r>
              <a:rPr lang="en-US" altLang="ja-JP" b="0" dirty="0">
                <a:latin typeface="メイリオ" panose="020B0604030504040204" pitchFamily="50" charset="-128"/>
                <a:ea typeface="メイリオ" panose="020B0604030504040204" pitchFamily="50" charset="-128"/>
              </a:rPr>
              <a:t>』</a:t>
            </a:r>
            <a:r>
              <a:rPr lang="ja-JP" altLang="en-US" b="0" dirty="0">
                <a:latin typeface="メイリオ" panose="020B0604030504040204" pitchFamily="50" charset="-128"/>
                <a:ea typeface="メイリオ" panose="020B0604030504040204" pitchFamily="50" charset="-128"/>
              </a:rPr>
              <a:t>という虚無感や絶望感に襲われる可能性</a:t>
            </a:r>
            <a:endParaRPr lang="en-US" altLang="ja-JP" b="0" dirty="0">
              <a:latin typeface="メイリオ" panose="020B0604030504040204" pitchFamily="50" charset="-128"/>
              <a:ea typeface="メイリオ" panose="020B0604030504040204" pitchFamily="50" charset="-128"/>
            </a:endParaRPr>
          </a:p>
        </p:txBody>
      </p:sp>
      <p:grpSp>
        <p:nvGrpSpPr>
          <p:cNvPr id="5" name="グループ化 4">
            <a:extLst>
              <a:ext uri="{FF2B5EF4-FFF2-40B4-BE49-F238E27FC236}">
                <a16:creationId xmlns:a16="http://schemas.microsoft.com/office/drawing/2014/main" id="{7262CCA8-E42B-45E7-FB3F-D3326612D466}"/>
              </a:ext>
            </a:extLst>
          </p:cNvPr>
          <p:cNvGrpSpPr/>
          <p:nvPr/>
        </p:nvGrpSpPr>
        <p:grpSpPr>
          <a:xfrm>
            <a:off x="1754445" y="4094428"/>
            <a:ext cx="3239915" cy="2210841"/>
            <a:chOff x="1341138" y="4429607"/>
            <a:chExt cx="3239915" cy="2210841"/>
          </a:xfrm>
        </p:grpSpPr>
        <p:pic>
          <p:nvPicPr>
            <p:cNvPr id="5122" name="Picture 2" descr="いろいろな状態の天秤のイラスト | かわいいフリー素材集 いらすとや">
              <a:extLst>
                <a:ext uri="{FF2B5EF4-FFF2-40B4-BE49-F238E27FC236}">
                  <a16:creationId xmlns:a16="http://schemas.microsoft.com/office/drawing/2014/main" id="{421673C3-291A-D042-69AD-C4A4AD785F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1138" y="4952827"/>
              <a:ext cx="3239915" cy="1687621"/>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6E68CF90-A9FD-5114-6F39-249AF2860A11}"/>
                </a:ext>
              </a:extLst>
            </p:cNvPr>
            <p:cNvSpPr txBox="1"/>
            <p:nvPr/>
          </p:nvSpPr>
          <p:spPr>
            <a:xfrm>
              <a:off x="3459691" y="5010748"/>
              <a:ext cx="902811" cy="523220"/>
            </a:xfrm>
            <a:prstGeom prst="rect">
              <a:avLst/>
            </a:prstGeom>
            <a:noFill/>
          </p:spPr>
          <p:txBody>
            <a:bodyPr wrap="none" rtlCol="0">
              <a:spAutoFit/>
            </a:bodyPr>
            <a:lstStyle/>
            <a:p>
              <a:r>
                <a:rPr lang="ja-JP" altLang="en-US" sz="2800" dirty="0">
                  <a:solidFill>
                    <a:srgbClr val="00B0F0"/>
                  </a:solidFill>
                  <a:latin typeface="メイリオ" panose="020B0604030504040204" pitchFamily="50" charset="-128"/>
                  <a:ea typeface="メイリオ" panose="020B0604030504040204" pitchFamily="50" charset="-128"/>
                </a:rPr>
                <a:t>安全</a:t>
              </a:r>
              <a:endParaRPr kumimoji="1" lang="ja-JP" altLang="en-US" sz="2800" dirty="0">
                <a:solidFill>
                  <a:srgbClr val="00B0F0"/>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74A5B558-432B-D8A8-85F5-9FE70A2BE489}"/>
                </a:ext>
              </a:extLst>
            </p:cNvPr>
            <p:cNvSpPr txBox="1"/>
            <p:nvPr/>
          </p:nvSpPr>
          <p:spPr>
            <a:xfrm>
              <a:off x="1638677" y="4429607"/>
              <a:ext cx="902811" cy="523220"/>
            </a:xfrm>
            <a:prstGeom prst="rect">
              <a:avLst/>
            </a:prstGeom>
            <a:noFill/>
          </p:spPr>
          <p:txBody>
            <a:bodyPr wrap="none" rtlCol="0">
              <a:spAutoFit/>
            </a:bodyPr>
            <a:lstStyle/>
            <a:p>
              <a:r>
                <a:rPr lang="ja-JP" altLang="en-US" sz="2800" dirty="0">
                  <a:solidFill>
                    <a:srgbClr val="FF0000"/>
                  </a:solidFill>
                  <a:latin typeface="メイリオ" panose="020B0604030504040204" pitchFamily="50" charset="-128"/>
                  <a:ea typeface="メイリオ" panose="020B0604030504040204" pitchFamily="50" charset="-128"/>
                </a:rPr>
                <a:t>挑戦</a:t>
              </a:r>
              <a:endParaRPr kumimoji="1" lang="ja-JP" altLang="en-US" sz="2800" dirty="0">
                <a:solidFill>
                  <a:srgbClr val="FF0000"/>
                </a:solidFill>
                <a:latin typeface="メイリオ" panose="020B0604030504040204" pitchFamily="50" charset="-128"/>
                <a:ea typeface="メイリオ" panose="020B0604030504040204" pitchFamily="50" charset="-128"/>
              </a:endParaRPr>
            </a:p>
          </p:txBody>
        </p:sp>
      </p:grpSp>
      <p:sp>
        <p:nvSpPr>
          <p:cNvPr id="6" name="矢印: 右 5">
            <a:extLst>
              <a:ext uri="{FF2B5EF4-FFF2-40B4-BE49-F238E27FC236}">
                <a16:creationId xmlns:a16="http://schemas.microsoft.com/office/drawing/2014/main" id="{09A5F4C7-7E4C-5AA6-8214-AAE18447EF08}"/>
              </a:ext>
            </a:extLst>
          </p:cNvPr>
          <p:cNvSpPr/>
          <p:nvPr/>
        </p:nvSpPr>
        <p:spPr>
          <a:xfrm>
            <a:off x="5435600" y="4937760"/>
            <a:ext cx="1158240" cy="711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8F1866E2-7DD6-1235-4A76-4C250742692C}"/>
              </a:ext>
            </a:extLst>
          </p:cNvPr>
          <p:cNvPicPr>
            <a:picLocks noChangeAspect="1"/>
          </p:cNvPicPr>
          <p:nvPr/>
        </p:nvPicPr>
        <p:blipFill>
          <a:blip r:embed="rId4"/>
          <a:stretch>
            <a:fillRect/>
          </a:stretch>
        </p:blipFill>
        <p:spPr>
          <a:xfrm>
            <a:off x="6894362" y="4159885"/>
            <a:ext cx="2019300" cy="2266950"/>
          </a:xfrm>
          <a:prstGeom prst="rect">
            <a:avLst/>
          </a:prstGeom>
        </p:spPr>
      </p:pic>
    </p:spTree>
    <p:extLst>
      <p:ext uri="{BB962C8B-B14F-4D97-AF65-F5344CB8AC3E}">
        <p14:creationId xmlns:p14="http://schemas.microsoft.com/office/powerpoint/2010/main" val="1478191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FD0C-EDF0-EF2A-EA32-8445CB720E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321E5A-1A8A-3AFD-2F9C-A647E2950CCF}"/>
              </a:ext>
            </a:extLst>
          </p:cNvPr>
          <p:cNvSpPr txBox="1">
            <a:spLocks/>
          </p:cNvSpPr>
          <p:nvPr/>
        </p:nvSpPr>
        <p:spPr>
          <a:xfrm>
            <a:off x="322353" y="309130"/>
            <a:ext cx="115472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コンフォートゾーンを飛び出すために</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E5C6F87F-0197-A246-1DCA-75BF695DA4B5}"/>
              </a:ext>
            </a:extLst>
          </p:cNvPr>
          <p:cNvSpPr txBox="1"/>
          <p:nvPr/>
        </p:nvSpPr>
        <p:spPr>
          <a:xfrm>
            <a:off x="3624724" y="1767152"/>
            <a:ext cx="4288353" cy="584775"/>
          </a:xfrm>
          <a:prstGeom prst="rect">
            <a:avLst/>
          </a:prstGeom>
          <a:noFill/>
        </p:spPr>
        <p:txBody>
          <a:bodyPr wrap="none" rtlCol="0">
            <a:spAutoFit/>
          </a:bodyPr>
          <a:lstStyle/>
          <a:p>
            <a:r>
              <a:rPr kumimoji="1" lang="ja-JP" altLang="en-US" sz="3200" b="1" dirty="0">
                <a:latin typeface="メイリオ" panose="020B0604030504040204" pitchFamily="50" charset="-128"/>
                <a:ea typeface="メイリオ" panose="020B0604030504040204" pitchFamily="50" charset="-128"/>
              </a:rPr>
              <a:t>他者の行動を観察する</a:t>
            </a:r>
          </a:p>
        </p:txBody>
      </p:sp>
      <p:sp>
        <p:nvSpPr>
          <p:cNvPr id="4" name="コンテンツ プレースホルダー 2">
            <a:extLst>
              <a:ext uri="{FF2B5EF4-FFF2-40B4-BE49-F238E27FC236}">
                <a16:creationId xmlns:a16="http://schemas.microsoft.com/office/drawing/2014/main" id="{0CEEE10D-06B4-6021-4D57-F8540D687B41}"/>
              </a:ext>
            </a:extLst>
          </p:cNvPr>
          <p:cNvSpPr txBox="1">
            <a:spLocks/>
          </p:cNvSpPr>
          <p:nvPr/>
        </p:nvSpPr>
        <p:spPr>
          <a:xfrm>
            <a:off x="773783" y="2792152"/>
            <a:ext cx="7139294" cy="2940433"/>
          </a:xfrm>
          <a:prstGeom prst="rect">
            <a:avLst/>
          </a:prstGeom>
        </p:spPr>
        <p:txBody>
          <a:bodyPr>
            <a:normAutofit fontScale="92500" lnSpcReduction="10000"/>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社会的学習</a:t>
            </a:r>
            <a:r>
              <a:rPr lang="en-US" altLang="ja-JP" b="0" dirty="0">
                <a:latin typeface="メイリオ" panose="020B0604030504040204" pitchFamily="50" charset="-128"/>
                <a:ea typeface="メイリオ" panose="020B0604030504040204" pitchFamily="50" charset="-128"/>
              </a:rPr>
              <a:t>[Bandura 1977]</a:t>
            </a:r>
          </a:p>
          <a:p>
            <a:pPr lvl="1"/>
            <a:r>
              <a:rPr lang="ja-JP" altLang="en-US" b="0" dirty="0">
                <a:latin typeface="メイリオ" panose="020B0604030504040204" pitchFamily="50" charset="-128"/>
                <a:ea typeface="メイリオ" panose="020B0604030504040204" pitchFamily="50" charset="-128"/>
              </a:rPr>
              <a:t>人は他者の行動を見て学</a:t>
            </a:r>
            <a:r>
              <a:rPr lang="ja-JP" altLang="en-US" dirty="0">
                <a:latin typeface="メイリオ" panose="020B0604030504040204" pitchFamily="50" charset="-128"/>
                <a:ea typeface="メイリオ" panose="020B0604030504040204" pitchFamily="50" charset="-128"/>
              </a:rPr>
              <a:t>ぶ</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自己効力感の向上</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「自分にもできるかも」と感じやすくなる</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心理的ハードルの低下</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同じ立場の人の挑戦は行動を後押しする</a:t>
            </a:r>
            <a:endParaRPr lang="en-US" altLang="ja-JP" b="0" dirty="0">
              <a:latin typeface="メイリオ" panose="020B0604030504040204" pitchFamily="50" charset="-128"/>
              <a:ea typeface="メイリオ" panose="020B0604030504040204" pitchFamily="50" charset="-128"/>
            </a:endParaRPr>
          </a:p>
        </p:txBody>
      </p:sp>
      <p:pic>
        <p:nvPicPr>
          <p:cNvPr id="1030" name="Picture 6" descr="観察の検索結果 | かわいいフリー素材集 いらすとや">
            <a:extLst>
              <a:ext uri="{FF2B5EF4-FFF2-40B4-BE49-F238E27FC236}">
                <a16:creationId xmlns:a16="http://schemas.microsoft.com/office/drawing/2014/main" id="{63A10281-9A1B-169B-45D9-E170B64BE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0099" y="3069163"/>
            <a:ext cx="2675614" cy="2675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69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1E1E2-C3A5-5D81-464E-B71F06CB3C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E396DB-B050-6C40-EC97-5F15B4F4B16D}"/>
              </a:ext>
            </a:extLst>
          </p:cNvPr>
          <p:cNvSpPr txBox="1">
            <a:spLocks/>
          </p:cNvSpPr>
          <p:nvPr/>
        </p:nvSpPr>
        <p:spPr>
          <a:xfrm>
            <a:off x="322352" y="89689"/>
            <a:ext cx="115472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dirty="0">
                <a:solidFill>
                  <a:schemeClr val="accent3">
                    <a:lumMod val="60000"/>
                    <a:lumOff val="40000"/>
                  </a:schemeClr>
                </a:solidFill>
                <a:latin typeface="メイリオ" panose="020B0604030504040204" pitchFamily="50" charset="-128"/>
                <a:ea typeface="メイリオ" panose="020B0604030504040204" pitchFamily="50" charset="-128"/>
              </a:rPr>
              <a:t>先行研究</a:t>
            </a:r>
            <a:endParaRPr lang="en-US" altLang="ja-JP"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13351E68-6D9D-AECE-03D4-2C3CC75626C3}"/>
              </a:ext>
            </a:extLst>
          </p:cNvPr>
          <p:cNvSpPr txBox="1"/>
          <p:nvPr/>
        </p:nvSpPr>
        <p:spPr>
          <a:xfrm>
            <a:off x="2087222" y="5626885"/>
            <a:ext cx="8443338" cy="954107"/>
          </a:xfrm>
          <a:prstGeom prst="rect">
            <a:avLst/>
          </a:prstGeom>
          <a:noFill/>
        </p:spPr>
        <p:txBody>
          <a:bodyPr wrap="none" rtlCol="0">
            <a:spAutoFit/>
          </a:bodyPr>
          <a:lstStyle/>
          <a:p>
            <a:pPr algn="ctr"/>
            <a:r>
              <a:rPr kumimoji="1" lang="ja-JP" altLang="en-US" sz="2800" dirty="0">
                <a:latin typeface="メイリオ" panose="020B0604030504040204" pitchFamily="50" charset="-128"/>
                <a:ea typeface="メイリオ" panose="020B0604030504040204" pitchFamily="50" charset="-128"/>
              </a:rPr>
              <a:t>（仮説）他者</a:t>
            </a:r>
            <a:r>
              <a:rPr lang="ja-JP" altLang="en-US" sz="2800" dirty="0">
                <a:latin typeface="メイリオ" panose="020B0604030504040204" pitchFamily="50" charset="-128"/>
                <a:ea typeface="メイリオ" panose="020B0604030504040204" pitchFamily="50" charset="-128"/>
              </a:rPr>
              <a:t>の勇気ある行動</a:t>
            </a:r>
            <a:r>
              <a:rPr kumimoji="1" lang="ja-JP" altLang="en-US" sz="2800" dirty="0">
                <a:latin typeface="メイリオ" panose="020B0604030504040204" pitchFamily="50" charset="-128"/>
                <a:ea typeface="メイリオ" panose="020B0604030504040204" pitchFamily="50" charset="-128"/>
              </a:rPr>
              <a:t>を観察す</a:t>
            </a:r>
            <a:r>
              <a:rPr lang="ja-JP" altLang="en-US" sz="2800" dirty="0">
                <a:latin typeface="メイリオ" panose="020B0604030504040204" pitchFamily="50" charset="-128"/>
                <a:ea typeface="メイリオ" panose="020B0604030504040204" pitchFamily="50" charset="-128"/>
              </a:rPr>
              <a:t>ることで</a:t>
            </a:r>
            <a:endParaRPr lang="en-US" altLang="ja-JP" sz="2800" dirty="0">
              <a:latin typeface="メイリオ" panose="020B0604030504040204" pitchFamily="50" charset="-128"/>
              <a:ea typeface="メイリオ" panose="020B0604030504040204" pitchFamily="50" charset="-128"/>
            </a:endParaRPr>
          </a:p>
          <a:p>
            <a:pPr algn="ctr"/>
            <a:r>
              <a:rPr lang="ja-JP" altLang="en-US" sz="2800" dirty="0">
                <a:latin typeface="メイリオ" panose="020B0604030504040204" pitchFamily="50" charset="-128"/>
                <a:ea typeface="メイリオ" panose="020B0604030504040204" pitchFamily="50" charset="-128"/>
              </a:rPr>
              <a:t>自分も勇気ある行動をとろうと思うのではないか？</a:t>
            </a:r>
            <a:endParaRPr kumimoji="1" lang="ja-JP" altLang="en-US" sz="2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9354AA13-FFA3-232C-3ECA-4923FA855828}"/>
              </a:ext>
            </a:extLst>
          </p:cNvPr>
          <p:cNvSpPr/>
          <p:nvPr/>
        </p:nvSpPr>
        <p:spPr>
          <a:xfrm>
            <a:off x="6095975" y="1334398"/>
            <a:ext cx="5535839" cy="4015579"/>
          </a:xfrm>
          <a:prstGeom prst="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AE38E667-3D58-2A46-0280-787675B0B0A0}"/>
              </a:ext>
            </a:extLst>
          </p:cNvPr>
          <p:cNvSpPr/>
          <p:nvPr/>
        </p:nvSpPr>
        <p:spPr>
          <a:xfrm>
            <a:off x="193040" y="1334398"/>
            <a:ext cx="5796614" cy="4015580"/>
          </a:xfrm>
          <a:prstGeom prst="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3B9F049B-7B41-234D-C953-31AB9C04515A}"/>
              </a:ext>
            </a:extLst>
          </p:cNvPr>
          <p:cNvSpPr txBox="1"/>
          <p:nvPr/>
        </p:nvSpPr>
        <p:spPr>
          <a:xfrm>
            <a:off x="560231" y="1594947"/>
            <a:ext cx="5062231" cy="707886"/>
          </a:xfrm>
          <a:prstGeom prst="rect">
            <a:avLst/>
          </a:prstGeom>
          <a:noFill/>
        </p:spPr>
        <p:txBody>
          <a:bodyPr wrap="square" rtlCol="0">
            <a:spAutoFit/>
          </a:bodyPr>
          <a:lstStyle/>
          <a:p>
            <a:r>
              <a:rPr kumimoji="1" lang="ja-JP" altLang="en-US" sz="2000" b="1" dirty="0">
                <a:latin typeface="メイリオ" panose="020B0604030504040204" pitchFamily="50" charset="-128"/>
                <a:ea typeface="メイリオ" panose="020B0604030504040204" pitchFamily="50" charset="-128"/>
              </a:rPr>
              <a:t>大人が努力する姿を見た乳児は目標達成の試みに努力を重ねる</a:t>
            </a:r>
          </a:p>
        </p:txBody>
      </p:sp>
      <p:sp>
        <p:nvSpPr>
          <p:cNvPr id="12" name="テキスト ボックス 11">
            <a:extLst>
              <a:ext uri="{FF2B5EF4-FFF2-40B4-BE49-F238E27FC236}">
                <a16:creationId xmlns:a16="http://schemas.microsoft.com/office/drawing/2014/main" id="{96F43B3F-FAF9-8D4A-8EA6-42A3080599CA}"/>
              </a:ext>
            </a:extLst>
          </p:cNvPr>
          <p:cNvSpPr txBox="1"/>
          <p:nvPr/>
        </p:nvSpPr>
        <p:spPr>
          <a:xfrm>
            <a:off x="6449735" y="1653163"/>
            <a:ext cx="4814888" cy="1323439"/>
          </a:xfrm>
          <a:prstGeom prst="rect">
            <a:avLst/>
          </a:prstGeom>
          <a:noFill/>
        </p:spPr>
        <p:txBody>
          <a:bodyPr wrap="square" rtlCol="0">
            <a:spAutoFit/>
          </a:bodyPr>
          <a:lstStyle/>
          <a:p>
            <a:r>
              <a:rPr lang="ja-JP" altLang="en-US" sz="2000" b="1" dirty="0">
                <a:latin typeface="メイリオ" panose="020B0604030504040204" pitchFamily="50" charset="-128"/>
                <a:ea typeface="メイリオ" panose="020B0604030504040204" pitchFamily="50" charset="-128"/>
              </a:rPr>
              <a:t>犬のエージェントの頑張る姿を見て「自分が頑張ろうと思う」という印象を強く引き出す傾向</a:t>
            </a:r>
          </a:p>
          <a:p>
            <a:r>
              <a:rPr lang="en-US" altLang="ja-JP" sz="2000" dirty="0">
                <a:latin typeface="メイリオ" panose="020B0604030504040204" pitchFamily="50" charset="-128"/>
                <a:ea typeface="メイリオ" panose="020B0604030504040204" pitchFamily="50" charset="-128"/>
              </a:rPr>
              <a:t>[Sasaki 2020]</a:t>
            </a:r>
          </a:p>
        </p:txBody>
      </p:sp>
      <p:pic>
        <p:nvPicPr>
          <p:cNvPr id="33" name="図 32">
            <a:extLst>
              <a:ext uri="{FF2B5EF4-FFF2-40B4-BE49-F238E27FC236}">
                <a16:creationId xmlns:a16="http://schemas.microsoft.com/office/drawing/2014/main" id="{DA6773D0-7F4C-6D24-A3CC-075236A9AB34}"/>
              </a:ext>
            </a:extLst>
          </p:cNvPr>
          <p:cNvPicPr>
            <a:picLocks noChangeAspect="1"/>
          </p:cNvPicPr>
          <p:nvPr/>
        </p:nvPicPr>
        <p:blipFill>
          <a:blip r:embed="rId5"/>
          <a:stretch>
            <a:fillRect/>
          </a:stretch>
        </p:blipFill>
        <p:spPr>
          <a:xfrm>
            <a:off x="299362" y="2462298"/>
            <a:ext cx="5429518" cy="1880320"/>
          </a:xfrm>
          <a:prstGeom prst="rect">
            <a:avLst/>
          </a:prstGeom>
        </p:spPr>
      </p:pic>
      <p:sp>
        <p:nvSpPr>
          <p:cNvPr id="34" name="テキスト ボックス 33">
            <a:extLst>
              <a:ext uri="{FF2B5EF4-FFF2-40B4-BE49-F238E27FC236}">
                <a16:creationId xmlns:a16="http://schemas.microsoft.com/office/drawing/2014/main" id="{FB1F01FD-0391-FE5D-C3A9-43D8D61739A1}"/>
              </a:ext>
            </a:extLst>
          </p:cNvPr>
          <p:cNvSpPr txBox="1"/>
          <p:nvPr/>
        </p:nvSpPr>
        <p:spPr>
          <a:xfrm>
            <a:off x="3487634" y="2022744"/>
            <a:ext cx="2134828" cy="369332"/>
          </a:xfrm>
          <a:prstGeom prst="rect">
            <a:avLst/>
          </a:prstGeom>
          <a:noFill/>
        </p:spPr>
        <p:txBody>
          <a:bodyPr wrap="square">
            <a:spAutoFit/>
          </a:bodyPr>
          <a:lstStyle/>
          <a:p>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Leonard </a:t>
            </a:r>
            <a:r>
              <a:rPr lang="en-US" altLang="ja-JP" dirty="0">
                <a:latin typeface="メイリオ" panose="020B0604030504040204" pitchFamily="50" charset="-128"/>
                <a:ea typeface="メイリオ" panose="020B0604030504040204" pitchFamily="50" charset="-128"/>
              </a:rPr>
              <a:t>2017]</a:t>
            </a:r>
            <a:endParaRPr lang="ja-JP" altLang="en-US" dirty="0">
              <a:latin typeface="メイリオ" panose="020B0604030504040204" pitchFamily="50" charset="-128"/>
              <a:ea typeface="メイリオ" panose="020B0604030504040204" pitchFamily="50" charset="-128"/>
            </a:endParaRPr>
          </a:p>
        </p:txBody>
      </p:sp>
      <p:sp>
        <p:nvSpPr>
          <p:cNvPr id="57" name="矢印: 右 56">
            <a:extLst>
              <a:ext uri="{FF2B5EF4-FFF2-40B4-BE49-F238E27FC236}">
                <a16:creationId xmlns:a16="http://schemas.microsoft.com/office/drawing/2014/main" id="{FA170490-A34A-7C63-F6D5-9C0F303EA386}"/>
              </a:ext>
            </a:extLst>
          </p:cNvPr>
          <p:cNvSpPr/>
          <p:nvPr/>
        </p:nvSpPr>
        <p:spPr>
          <a:xfrm>
            <a:off x="1168400" y="5768259"/>
            <a:ext cx="918822" cy="527404"/>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A4908296-7EC3-1796-F447-882CE146E6B7}"/>
              </a:ext>
            </a:extLst>
          </p:cNvPr>
          <p:cNvSpPr txBox="1"/>
          <p:nvPr/>
        </p:nvSpPr>
        <p:spPr>
          <a:xfrm>
            <a:off x="1460130" y="4563323"/>
            <a:ext cx="3262432" cy="707886"/>
          </a:xfrm>
          <a:prstGeom prst="rect">
            <a:avLst/>
          </a:prstGeom>
          <a:noFill/>
        </p:spPr>
        <p:txBody>
          <a:bodyPr wrap="none" rtlCol="0">
            <a:spAutoFit/>
          </a:bodyPr>
          <a:lstStyle/>
          <a:p>
            <a:pPr algn="ctr"/>
            <a:r>
              <a:rPr lang="ja-JP" altLang="en-US" sz="2000" dirty="0">
                <a:latin typeface="メイリオ" panose="020B0604030504040204" pitchFamily="50" charset="-128"/>
                <a:ea typeface="メイリオ" panose="020B0604030504040204" pitchFamily="50" charset="-128"/>
              </a:rPr>
              <a:t>⇒他者（人）の努力を見て</a:t>
            </a:r>
            <a:endParaRPr lang="en-US" altLang="ja-JP" sz="2000" dirty="0">
              <a:latin typeface="メイリオ" panose="020B0604030504040204" pitchFamily="50" charset="-128"/>
              <a:ea typeface="メイリオ" panose="020B0604030504040204" pitchFamily="50" charset="-128"/>
            </a:endParaRPr>
          </a:p>
          <a:p>
            <a:pPr algn="ctr"/>
            <a:r>
              <a:rPr lang="ja-JP" altLang="en-US" sz="2000" dirty="0">
                <a:latin typeface="メイリオ" panose="020B0604030504040204" pitchFamily="50" charset="-128"/>
                <a:ea typeface="メイリオ" panose="020B0604030504040204" pitchFamily="50" charset="-128"/>
              </a:rPr>
              <a:t>自分も努力しようと思う</a:t>
            </a:r>
            <a:endParaRPr kumimoji="1" lang="ja-JP" altLang="en-US" sz="2000" dirty="0">
              <a:latin typeface="メイリオ" panose="020B0604030504040204" pitchFamily="50" charset="-128"/>
              <a:ea typeface="メイリオ" panose="020B0604030504040204" pitchFamily="50" charset="-128"/>
            </a:endParaRPr>
          </a:p>
        </p:txBody>
      </p:sp>
      <p:sp>
        <p:nvSpPr>
          <p:cNvPr id="59" name="テキスト ボックス 58">
            <a:extLst>
              <a:ext uri="{FF2B5EF4-FFF2-40B4-BE49-F238E27FC236}">
                <a16:creationId xmlns:a16="http://schemas.microsoft.com/office/drawing/2014/main" id="{64FCD211-47F0-2E14-FED5-D12DB820D8AE}"/>
              </a:ext>
            </a:extLst>
          </p:cNvPr>
          <p:cNvSpPr txBox="1"/>
          <p:nvPr/>
        </p:nvSpPr>
        <p:spPr>
          <a:xfrm>
            <a:off x="6719717" y="4526342"/>
            <a:ext cx="4288353" cy="707886"/>
          </a:xfrm>
          <a:prstGeom prst="rect">
            <a:avLst/>
          </a:prstGeom>
          <a:noFill/>
        </p:spPr>
        <p:txBody>
          <a:bodyPr wrap="none" rtlCol="0">
            <a:spAutoFit/>
          </a:bodyPr>
          <a:lstStyle/>
          <a:p>
            <a:pPr algn="ctr"/>
            <a:r>
              <a:rPr lang="ja-JP" altLang="en-US" sz="2000" dirty="0">
                <a:latin typeface="メイリオ" panose="020B0604030504040204" pitchFamily="50" charset="-128"/>
                <a:ea typeface="メイリオ" panose="020B0604030504040204" pitchFamily="50" charset="-128"/>
              </a:rPr>
              <a:t>⇒他者（エージェント）の努力でも</a:t>
            </a:r>
            <a:endParaRPr lang="en-US" altLang="ja-JP" sz="2000" dirty="0">
              <a:latin typeface="メイリオ" panose="020B0604030504040204" pitchFamily="50" charset="-128"/>
              <a:ea typeface="メイリオ" panose="020B0604030504040204" pitchFamily="50" charset="-128"/>
            </a:endParaRPr>
          </a:p>
          <a:p>
            <a:pPr algn="ctr"/>
            <a:r>
              <a:rPr lang="ja-JP" altLang="en-US" sz="2000" dirty="0">
                <a:latin typeface="メイリオ" panose="020B0604030504040204" pitchFamily="50" charset="-128"/>
                <a:ea typeface="メイリオ" panose="020B0604030504040204" pitchFamily="50" charset="-128"/>
              </a:rPr>
              <a:t>自分も努力しようと思う</a:t>
            </a:r>
            <a:endParaRPr kumimoji="1" lang="ja-JP" altLang="en-US" sz="2000" dirty="0">
              <a:latin typeface="メイリオ" panose="020B0604030504040204" pitchFamily="50" charset="-128"/>
              <a:ea typeface="メイリオ" panose="020B0604030504040204" pitchFamily="50" charset="-128"/>
            </a:endParaRPr>
          </a:p>
        </p:txBody>
      </p:sp>
      <p:pic>
        <p:nvPicPr>
          <p:cNvPr id="60" name="d50ss">
            <a:hlinkClick r:id="" action="ppaction://media"/>
            <a:extLst>
              <a:ext uri="{FF2B5EF4-FFF2-40B4-BE49-F238E27FC236}">
                <a16:creationId xmlns:a16="http://schemas.microsoft.com/office/drawing/2014/main" id="{BB9C9BA5-02A4-056F-ED50-5354D28F41A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l="21179" r="21179"/>
          <a:stretch/>
        </p:blipFill>
        <p:spPr>
          <a:xfrm>
            <a:off x="8808081" y="2458551"/>
            <a:ext cx="2328230" cy="1931014"/>
          </a:xfrm>
          <a:prstGeom prst="rect">
            <a:avLst/>
          </a:prstGeom>
        </p:spPr>
      </p:pic>
    </p:spTree>
    <p:extLst>
      <p:ext uri="{BB962C8B-B14F-4D97-AF65-F5344CB8AC3E}">
        <p14:creationId xmlns:p14="http://schemas.microsoft.com/office/powerpoint/2010/main" val="227676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16" fill="hold"/>
                                        <p:tgtEl>
                                          <p:spTgt spid="6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0"/>
                                        </p:tgtEl>
                                      </p:cBhvr>
                                    </p:cmd>
                                  </p:childTnLst>
                                </p:cTn>
                              </p:par>
                            </p:childTnLst>
                          </p:cTn>
                        </p:par>
                      </p:childTnLst>
                    </p:cTn>
                  </p:par>
                </p:childTnLst>
              </p:cTn>
              <p:nextCondLst>
                <p:cond evt="onClick" delay="0">
                  <p:tgtEl>
                    <p:spTgt spid="60"/>
                  </p:tgtEl>
                </p:cond>
              </p:nextCondLst>
            </p:seq>
            <p:video>
              <p:cMediaNode vol="80000">
                <p:cTn id="12" fill="hold" display="0">
                  <p:stCondLst>
                    <p:cond delay="indefinite"/>
                  </p:stCondLst>
                </p:cTn>
                <p:tgtEl>
                  <p:spTgt spid="60"/>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FF2E7-59FE-BD10-CED3-AE085E84A9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A5376-726A-8092-EDD0-50597E28D57C}"/>
              </a:ext>
            </a:extLst>
          </p:cNvPr>
          <p:cNvSpPr txBox="1">
            <a:spLocks/>
          </p:cNvSpPr>
          <p:nvPr/>
        </p:nvSpPr>
        <p:spPr>
          <a:xfrm>
            <a:off x="700087" y="344300"/>
            <a:ext cx="111695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目的</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BD5F4AA-BA96-0758-1CCA-A0F03764C82E}"/>
              </a:ext>
            </a:extLst>
          </p:cNvPr>
          <p:cNvSpPr txBox="1"/>
          <p:nvPr/>
        </p:nvSpPr>
        <p:spPr>
          <a:xfrm>
            <a:off x="2556205" y="1556974"/>
            <a:ext cx="5929828" cy="1077218"/>
          </a:xfrm>
          <a:prstGeom prst="rect">
            <a:avLst/>
          </a:prstGeom>
          <a:noFill/>
        </p:spPr>
        <p:txBody>
          <a:bodyPr wrap="none" rtlCol="0">
            <a:spAutoFit/>
          </a:bodyPr>
          <a:lstStyle/>
          <a:p>
            <a:r>
              <a:rPr lang="ja-JP" altLang="en-US" sz="3200" b="1" dirty="0">
                <a:latin typeface="メイリオ" panose="020B0604030504040204" pitchFamily="50" charset="-128"/>
                <a:ea typeface="メイリオ" panose="020B0604030504040204" pitchFamily="50" charset="-128"/>
              </a:rPr>
              <a:t>エージェントの勇気ある行動が</a:t>
            </a:r>
            <a:endParaRPr lang="en-US" altLang="ja-JP" sz="3200" b="1" dirty="0">
              <a:latin typeface="メイリオ" panose="020B0604030504040204" pitchFamily="50" charset="-128"/>
              <a:ea typeface="メイリオ" panose="020B0604030504040204" pitchFamily="50" charset="-128"/>
            </a:endParaRPr>
          </a:p>
          <a:p>
            <a:r>
              <a:rPr kumimoji="1" lang="ja-JP" altLang="en-US" sz="3200" b="1" dirty="0">
                <a:latin typeface="メイリオ" panose="020B0604030504040204" pitchFamily="50" charset="-128"/>
                <a:ea typeface="メイリオ" panose="020B0604030504040204" pitchFamily="50" charset="-128"/>
              </a:rPr>
              <a:t>人の勇気を引き出すか検証する</a:t>
            </a:r>
          </a:p>
        </p:txBody>
      </p:sp>
      <p:sp>
        <p:nvSpPr>
          <p:cNvPr id="5" name="テキスト ボックス 4">
            <a:extLst>
              <a:ext uri="{FF2B5EF4-FFF2-40B4-BE49-F238E27FC236}">
                <a16:creationId xmlns:a16="http://schemas.microsoft.com/office/drawing/2014/main" id="{12C2AA02-9992-A585-953B-1729E4031214}"/>
              </a:ext>
            </a:extLst>
          </p:cNvPr>
          <p:cNvSpPr txBox="1"/>
          <p:nvPr/>
        </p:nvSpPr>
        <p:spPr>
          <a:xfrm>
            <a:off x="995947" y="3662680"/>
            <a:ext cx="6501865" cy="1938992"/>
          </a:xfrm>
          <a:prstGeom prst="rect">
            <a:avLst/>
          </a:prstGeom>
          <a:noFill/>
        </p:spPr>
        <p:txBody>
          <a:bodyPr wrap="square">
            <a:spAutoFit/>
          </a:bodyPr>
          <a:lstStyle/>
          <a:p>
            <a:r>
              <a:rPr lang="ja-JP" altLang="en-US" sz="2400" b="1" dirty="0">
                <a:latin typeface="メイリオ" panose="020B0604030504040204" pitchFamily="50" charset="-128"/>
                <a:ea typeface="メイリオ" panose="020B0604030504040204" pitchFamily="50" charset="-128"/>
              </a:rPr>
              <a:t>研究の位置づけ</a:t>
            </a:r>
            <a:r>
              <a:rPr lang="en-US" altLang="ja-JP" sz="2400" b="1" dirty="0">
                <a:latin typeface="メイリオ" panose="020B0604030504040204" pitchFamily="50" charset="-128"/>
                <a:ea typeface="メイリオ" panose="020B0604030504040204" pitchFamily="50" charset="-128"/>
              </a:rPr>
              <a:t>:</a:t>
            </a:r>
            <a:r>
              <a:rPr lang="ja-JP" altLang="en-US" sz="2400" dirty="0">
                <a:latin typeface="メイリオ" panose="020B0604030504040204" pitchFamily="50" charset="-128"/>
                <a:ea typeface="メイリオ" panose="020B0604030504040204" pitchFamily="50" charset="-128"/>
              </a:rPr>
              <a:t> </a:t>
            </a:r>
            <a:endParaRPr lang="en-US" altLang="ja-JP" sz="2400" dirty="0">
              <a:latin typeface="メイリオ" panose="020B0604030504040204" pitchFamily="50" charset="-128"/>
              <a:ea typeface="メイリオ" panose="020B0604030504040204" pitchFamily="50" charset="-128"/>
            </a:endParaRPr>
          </a:p>
          <a:p>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先行研究：「粘り強い努力」にフォーカス</a:t>
            </a:r>
            <a:endParaRPr lang="en-US" altLang="ja-JP" sz="2400" dirty="0">
              <a:latin typeface="メイリオ" panose="020B0604030504040204" pitchFamily="50" charset="-128"/>
              <a:ea typeface="メイリオ" panose="020B0604030504040204" pitchFamily="50" charset="-128"/>
            </a:endParaRPr>
          </a:p>
          <a:p>
            <a:endParaRPr lang="en-US" altLang="ja-JP" sz="2400" dirty="0">
              <a:latin typeface="メイリオ" panose="020B0604030504040204" pitchFamily="50" charset="-128"/>
              <a:ea typeface="メイリオ" panose="020B0604030504040204" pitchFamily="50" charset="-128"/>
            </a:endParaRPr>
          </a:p>
          <a:p>
            <a:r>
              <a:rPr lang="ja-JP" altLang="en-US" sz="2400" dirty="0">
                <a:solidFill>
                  <a:srgbClr val="FF0000"/>
                </a:solidFill>
                <a:latin typeface="メイリオ" panose="020B0604030504040204" pitchFamily="50" charset="-128"/>
                <a:ea typeface="メイリオ" panose="020B0604030504040204" pitchFamily="50" charset="-128"/>
              </a:rPr>
              <a:t>本研究：「勇気ある行動」にフォーカス</a:t>
            </a:r>
          </a:p>
        </p:txBody>
      </p:sp>
      <p:pic>
        <p:nvPicPr>
          <p:cNvPr id="1026" name="Picture 2" descr="画像が生成されました">
            <a:extLst>
              <a:ext uri="{FF2B5EF4-FFF2-40B4-BE49-F238E27FC236}">
                <a16:creationId xmlns:a16="http://schemas.microsoft.com/office/drawing/2014/main" id="{D906CAC7-1703-1DC8-1658-42499D480C1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707" b="6126"/>
          <a:stretch>
            <a:fillRect/>
          </a:stretch>
        </p:blipFill>
        <p:spPr bwMode="auto">
          <a:xfrm>
            <a:off x="8272672" y="3027680"/>
            <a:ext cx="2568047" cy="3319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60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00D8C-016E-C2E0-F498-070730833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15362B-A915-E3FE-962A-7622612C6F3D}"/>
              </a:ext>
            </a:extLst>
          </p:cNvPr>
          <p:cNvSpPr txBox="1">
            <a:spLocks/>
          </p:cNvSpPr>
          <p:nvPr/>
        </p:nvSpPr>
        <p:spPr>
          <a:xfrm>
            <a:off x="514349" y="344300"/>
            <a:ext cx="1135529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エージェントの勇気ある行動をどう作るか？</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8" name="コンテンツ プレースホルダー 2">
            <a:extLst>
              <a:ext uri="{FF2B5EF4-FFF2-40B4-BE49-F238E27FC236}">
                <a16:creationId xmlns:a16="http://schemas.microsoft.com/office/drawing/2014/main" id="{AA45EEA8-B067-4934-E651-8993049930B6}"/>
              </a:ext>
            </a:extLst>
          </p:cNvPr>
          <p:cNvSpPr txBox="1">
            <a:spLocks/>
          </p:cNvSpPr>
          <p:nvPr/>
        </p:nvSpPr>
        <p:spPr>
          <a:xfrm>
            <a:off x="353171" y="2682080"/>
            <a:ext cx="11677651" cy="3983415"/>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勇気ある行動：</a:t>
            </a:r>
            <a:r>
              <a:rPr lang="ja-JP" altLang="en-US" dirty="0">
                <a:solidFill>
                  <a:srgbClr val="FF0000"/>
                </a:solidFill>
                <a:latin typeface="メイリオ" panose="020B0604030504040204" pitchFamily="50" charset="-128"/>
                <a:ea typeface="メイリオ" panose="020B0604030504040204" pitchFamily="50" charset="-128"/>
              </a:rPr>
              <a:t>葛藤 </a:t>
            </a:r>
            <a:r>
              <a:rPr lang="ja-JP" altLang="en-US" b="0" dirty="0">
                <a:solidFill>
                  <a:schemeClr val="bg1">
                    <a:lumMod val="25000"/>
                  </a:schemeClr>
                </a:solidFill>
                <a:latin typeface="メイリオ" panose="020B0604030504040204" pitchFamily="50" charset="-128"/>
                <a:ea typeface="メイリオ" panose="020B0604030504040204" pitchFamily="50" charset="-128"/>
              </a:rPr>
              <a:t>⇒ 行動</a:t>
            </a:r>
            <a:endParaRPr lang="en-US" altLang="ja-JP" b="0" dirty="0">
              <a:solidFill>
                <a:schemeClr val="bg1">
                  <a:lumMod val="25000"/>
                </a:schemeClr>
              </a:solidFill>
              <a:latin typeface="メイリオ" panose="020B0604030504040204" pitchFamily="50" charset="-128"/>
              <a:ea typeface="メイリオ" panose="020B0604030504040204" pitchFamily="50" charset="-128"/>
            </a:endParaRPr>
          </a:p>
          <a:p>
            <a:endParaRPr lang="en-US" altLang="ja-JP" b="0" dirty="0">
              <a:solidFill>
                <a:schemeClr val="bg1">
                  <a:lumMod val="25000"/>
                </a:schemeClr>
              </a:solidFill>
              <a:latin typeface="メイリオ" panose="020B0604030504040204" pitchFamily="50" charset="-128"/>
              <a:ea typeface="メイリオ" panose="020B0604030504040204" pitchFamily="50" charset="-128"/>
            </a:endParaRPr>
          </a:p>
          <a:p>
            <a:endParaRPr lang="en-US" altLang="ja-JP" b="0" dirty="0">
              <a:solidFill>
                <a:schemeClr val="bg1">
                  <a:lumMod val="25000"/>
                </a:schemeClr>
              </a:solidFill>
              <a:latin typeface="メイリオ" panose="020B0604030504040204" pitchFamily="50" charset="-128"/>
              <a:ea typeface="メイリオ" panose="020B0604030504040204" pitchFamily="50" charset="-128"/>
            </a:endParaRPr>
          </a:p>
          <a:p>
            <a:endParaRPr lang="en-US" altLang="ja-JP" b="0" dirty="0">
              <a:solidFill>
                <a:schemeClr val="bg1">
                  <a:lumMod val="25000"/>
                </a:schemeClr>
              </a:solidFill>
              <a:latin typeface="メイリオ" panose="020B0604030504040204" pitchFamily="50" charset="-128"/>
              <a:ea typeface="メイリオ" panose="020B0604030504040204" pitchFamily="50" charset="-128"/>
            </a:endParaRPr>
          </a:p>
          <a:p>
            <a:r>
              <a:rPr lang="ja-JP" altLang="en-US" dirty="0">
                <a:solidFill>
                  <a:srgbClr val="FF0000"/>
                </a:solidFill>
                <a:latin typeface="メイリオ" panose="020B0604030504040204" pitchFamily="50" charset="-128"/>
                <a:ea typeface="メイリオ" panose="020B0604030504040204" pitchFamily="50" charset="-128"/>
              </a:rPr>
              <a:t>葛藤</a:t>
            </a:r>
            <a:r>
              <a:rPr lang="ja-JP" altLang="en-US" b="0" dirty="0">
                <a:latin typeface="メイリオ" panose="020B0604030504040204" pitchFamily="50" charset="-128"/>
                <a:ea typeface="メイリオ" panose="020B0604030504040204" pitchFamily="50" charset="-128"/>
              </a:rPr>
              <a:t>：自己内での目標、信念、感情の不一致が生じる精神的な緊張</a:t>
            </a:r>
            <a:endParaRPr lang="en-US" altLang="ja-JP" b="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F1DBC2D7-5C13-6416-8336-91C6D19B4DC3}"/>
              </a:ext>
            </a:extLst>
          </p:cNvPr>
          <p:cNvSpPr txBox="1"/>
          <p:nvPr/>
        </p:nvSpPr>
        <p:spPr>
          <a:xfrm>
            <a:off x="2519034" y="1624633"/>
            <a:ext cx="6608871" cy="646331"/>
          </a:xfrm>
          <a:prstGeom prst="rect">
            <a:avLst/>
          </a:prstGeom>
          <a:noFill/>
        </p:spPr>
        <p:txBody>
          <a:bodyPr wrap="square">
            <a:spAutoFit/>
          </a:bodyPr>
          <a:lstStyle/>
          <a:p>
            <a:r>
              <a:rPr lang="ja-JP" altLang="en-US" sz="3600" b="1" dirty="0">
                <a:latin typeface="メイリオ" panose="020B0604030504040204" pitchFamily="50" charset="-128"/>
                <a:ea typeface="メイリオ" panose="020B0604030504040204" pitchFamily="50" charset="-128"/>
              </a:rPr>
              <a:t>ポイント：葛藤を表現する</a:t>
            </a:r>
          </a:p>
        </p:txBody>
      </p:sp>
      <p:pic>
        <p:nvPicPr>
          <p:cNvPr id="5" name="図 4">
            <a:extLst>
              <a:ext uri="{FF2B5EF4-FFF2-40B4-BE49-F238E27FC236}">
                <a16:creationId xmlns:a16="http://schemas.microsoft.com/office/drawing/2014/main" id="{BA5A9806-B9F3-F09C-C008-69EA7E6E4BC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69095" y1="70882" x2="69095" y2="70882"/>
                        <a14:foregroundMark x1="69095" y1="70882" x2="61369" y2="70882"/>
                        <a14:foregroundMark x1="65563" y1="76471" x2="24503" y2="60882"/>
                        <a14:foregroundMark x1="24503" y1="60882" x2="36865" y2="57353"/>
                        <a14:foregroundMark x1="64680" y1="62941" x2="48786" y2="34706"/>
                        <a14:foregroundMark x1="62252" y1="37059" x2="62252" y2="57353"/>
                        <a14:foregroundMark x1="60486" y1="34706" x2="52980" y2="55000"/>
                        <a14:foregroundMark x1="47020" y1="37059" x2="31788" y2="68529"/>
                        <a14:foregroundMark x1="33554" y1="45882" x2="31788" y2="64118"/>
                        <a14:foregroundMark x1="32671" y1="45000" x2="28477" y2="62941"/>
                        <a14:foregroundMark x1="27594" y1="47059" x2="24283" y2="52647"/>
                        <a14:foregroundMark x1="22517" y1="43824" x2="22517" y2="43824"/>
                        <a14:foregroundMark x1="26711" y1="40294" x2="26711" y2="40294"/>
                        <a14:foregroundMark x1="32671" y1="38235" x2="32671" y2="38235"/>
                        <a14:foregroundMark x1="34437" y1="35882" x2="34437" y2="35882"/>
                        <a14:foregroundMark x1="35099" y1="33529" x2="35099" y2="33529"/>
                        <a14:foregroundMark x1="35982" y1="31471" x2="35982" y2="31471"/>
                        <a14:foregroundMark x1="36865" y1="29118" x2="36865" y2="29118"/>
                        <a14:foregroundMark x1="36865" y1="25588" x2="36865" y2="25588"/>
                        <a14:foregroundMark x1="36865" y1="25588" x2="36865" y2="25588"/>
                        <a14:foregroundMark x1="31788" y1="29118" x2="31788" y2="29118"/>
                        <a14:foregroundMark x1="30022" y1="30294" x2="30022" y2="30294"/>
                        <a14:foregroundMark x1="29360" y1="32353" x2="26711" y2="35882"/>
                        <a14:foregroundMark x1="26711" y1="35882" x2="26711" y2="35882"/>
                        <a14:foregroundMark x1="30905" y1="33529" x2="30905" y2="33529"/>
                        <a14:foregroundMark x1="36865" y1="30294" x2="36865" y2="30294"/>
                        <a14:foregroundMark x1="46137" y1="23529" x2="46137" y2="23529"/>
                        <a14:foregroundMark x1="46137" y1="22353" x2="46137" y2="22353"/>
                        <a14:foregroundMark x1="51214" y1="18824" x2="51214" y2="18824"/>
                        <a14:foregroundMark x1="51214" y1="18824" x2="51214" y2="18824"/>
                        <a14:foregroundMark x1="56291" y1="18824" x2="59603" y2="22353"/>
                        <a14:foregroundMark x1="62252" y1="23529" x2="62252" y2="23529"/>
                        <a14:foregroundMark x1="64680" y1="25588" x2="64680" y2="25588"/>
                        <a14:foregroundMark x1="67329" y1="30294" x2="66446" y2="61765"/>
                        <a14:foregroundMark x1="78366" y1="61765" x2="60486" y2="39118"/>
                        <a14:foregroundMark x1="70640" y1="56176" x2="45916" y2="20882"/>
                        <a14:foregroundMark x1="45916" y1="20882" x2="30905" y2="35882"/>
                        <a14:foregroundMark x1="69757" y1="62941" x2="45916" y2="26765"/>
                        <a14:foregroundMark x1="45916" y1="26765" x2="34437" y2="34706"/>
                        <a14:foregroundMark x1="61369" y1="30294" x2="26490" y2="30882"/>
                        <a14:foregroundMark x1="26490" y1="30882" x2="31788" y2="41471"/>
                        <a14:foregroundMark x1="61369" y1="21176" x2="27594" y2="40294"/>
                        <a14:foregroundMark x1="27594" y1="40294" x2="33554" y2="40294"/>
                        <a14:foregroundMark x1="55408" y1="21176" x2="38631" y2="33529"/>
                        <a14:foregroundMark x1="53201" y1="46765" x2="46578" y2="55882"/>
                        <a14:foregroundMark x1="50773" y1="45000" x2="47461" y2="51176"/>
                        <a14:foregroundMark x1="50110" y1="37647" x2="43488" y2="56471"/>
                        <a14:foregroundMark x1="48124" y1="43235" x2="42384" y2="59706"/>
                        <a14:foregroundMark x1="53422" y1="47353" x2="51876" y2="60000"/>
                        <a14:foregroundMark x1="55850" y1="52647" x2="54084" y2="57941"/>
                        <a14:foregroundMark x1="55629" y1="54118" x2="54525" y2="57647"/>
                        <a14:foregroundMark x1="70861" y1="30294" x2="73289" y2="55294"/>
                        <a14:foregroundMark x1="33775" y1="69118" x2="58720" y2="76471"/>
                      </a14:backgroundRemoval>
                    </a14:imgEffect>
                  </a14:imgLayer>
                </a14:imgProps>
              </a:ext>
            </a:extLst>
          </a:blip>
          <a:stretch>
            <a:fillRect/>
          </a:stretch>
        </p:blipFill>
        <p:spPr>
          <a:xfrm>
            <a:off x="6585275" y="2482896"/>
            <a:ext cx="1423487" cy="1068401"/>
          </a:xfrm>
          <a:prstGeom prst="rect">
            <a:avLst/>
          </a:prstGeom>
        </p:spPr>
      </p:pic>
      <p:grpSp>
        <p:nvGrpSpPr>
          <p:cNvPr id="30" name="グループ化 29">
            <a:extLst>
              <a:ext uri="{FF2B5EF4-FFF2-40B4-BE49-F238E27FC236}">
                <a16:creationId xmlns:a16="http://schemas.microsoft.com/office/drawing/2014/main" id="{6CB6199D-B299-BB5E-3BFB-0C965B031CF7}"/>
              </a:ext>
            </a:extLst>
          </p:cNvPr>
          <p:cNvGrpSpPr/>
          <p:nvPr/>
        </p:nvGrpSpPr>
        <p:grpSpPr>
          <a:xfrm>
            <a:off x="9048148" y="3177775"/>
            <a:ext cx="1744579" cy="1744579"/>
            <a:chOff x="6738086" y="4892902"/>
            <a:chExt cx="1744579" cy="1744579"/>
          </a:xfrm>
        </p:grpSpPr>
        <p:grpSp>
          <p:nvGrpSpPr>
            <p:cNvPr id="9" name="グループ化 8">
              <a:extLst>
                <a:ext uri="{FF2B5EF4-FFF2-40B4-BE49-F238E27FC236}">
                  <a16:creationId xmlns:a16="http://schemas.microsoft.com/office/drawing/2014/main" id="{B2DE3F09-A181-0511-4F14-D90FCA5E3648}"/>
                </a:ext>
              </a:extLst>
            </p:cNvPr>
            <p:cNvGrpSpPr/>
            <p:nvPr/>
          </p:nvGrpSpPr>
          <p:grpSpPr>
            <a:xfrm>
              <a:off x="6738086" y="4892902"/>
              <a:ext cx="1744579" cy="1744579"/>
              <a:chOff x="6745706" y="4892901"/>
              <a:chExt cx="1744579" cy="1744579"/>
            </a:xfrm>
          </p:grpSpPr>
          <p:pic>
            <p:nvPicPr>
              <p:cNvPr id="6" name="図 5">
                <a:extLst>
                  <a:ext uri="{FF2B5EF4-FFF2-40B4-BE49-F238E27FC236}">
                    <a16:creationId xmlns:a16="http://schemas.microsoft.com/office/drawing/2014/main" id="{4DBD40C5-A6AF-9F4D-0847-53A05A8C7804}"/>
                  </a:ext>
                </a:extLst>
              </p:cNvPr>
              <p:cNvPicPr>
                <a:picLocks noChangeAspect="1"/>
              </p:cNvPicPr>
              <p:nvPr/>
            </p:nvPicPr>
            <p:blipFill>
              <a:blip r:embed="rId5"/>
              <a:stretch>
                <a:fillRect/>
              </a:stretch>
            </p:blipFill>
            <p:spPr>
              <a:xfrm>
                <a:off x="6745706" y="4892901"/>
                <a:ext cx="1744579" cy="1744579"/>
              </a:xfrm>
              <a:prstGeom prst="rect">
                <a:avLst/>
              </a:prstGeom>
            </p:spPr>
          </p:pic>
          <p:sp>
            <p:nvSpPr>
              <p:cNvPr id="7" name="楕円 6">
                <a:extLst>
                  <a:ext uri="{FF2B5EF4-FFF2-40B4-BE49-F238E27FC236}">
                    <a16:creationId xmlns:a16="http://schemas.microsoft.com/office/drawing/2014/main" id="{2E6BCD17-45F5-A36E-C6D8-184B2F44A5E1}"/>
                  </a:ext>
                </a:extLst>
              </p:cNvPr>
              <p:cNvSpPr/>
              <p:nvPr/>
            </p:nvSpPr>
            <p:spPr>
              <a:xfrm>
                <a:off x="7502742" y="5587365"/>
                <a:ext cx="230505" cy="112395"/>
              </a:xfrm>
              <a:prstGeom prst="ellipse">
                <a:avLst/>
              </a:prstGeom>
              <a:solidFill>
                <a:srgbClr val="FFFFFF"/>
              </a:solidFill>
              <a:ln>
                <a:solidFill>
                  <a:srgbClr val="FFFFFF"/>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grpSp>
        <p:cxnSp>
          <p:nvCxnSpPr>
            <p:cNvPr id="17" name="直線コネクタ 16">
              <a:extLst>
                <a:ext uri="{FF2B5EF4-FFF2-40B4-BE49-F238E27FC236}">
                  <a16:creationId xmlns:a16="http://schemas.microsoft.com/office/drawing/2014/main" id="{9F0B07D1-4AA9-E35D-4F74-486133FEFB68}"/>
                </a:ext>
              </a:extLst>
            </p:cNvPr>
            <p:cNvCxnSpPr>
              <a:cxnSpLocks/>
            </p:cNvCxnSpPr>
            <p:nvPr/>
          </p:nvCxnSpPr>
          <p:spPr>
            <a:xfrm>
              <a:off x="7078980" y="5501640"/>
              <a:ext cx="29750" cy="146209"/>
            </a:xfrm>
            <a:prstGeom prst="line">
              <a:avLst/>
            </a:prstGeom>
            <a:ln w="38100"/>
          </p:spPr>
          <p:style>
            <a:lnRef idx="2">
              <a:schemeClr val="dk1"/>
            </a:lnRef>
            <a:fillRef idx="0">
              <a:schemeClr val="dk1"/>
            </a:fillRef>
            <a:effectRef idx="1">
              <a:schemeClr val="dk1"/>
            </a:effectRef>
            <a:fontRef idx="minor">
              <a:schemeClr val="tx1"/>
            </a:fontRef>
          </p:style>
        </p:cxnSp>
        <p:cxnSp>
          <p:nvCxnSpPr>
            <p:cNvPr id="19" name="直線コネクタ 18">
              <a:extLst>
                <a:ext uri="{FF2B5EF4-FFF2-40B4-BE49-F238E27FC236}">
                  <a16:creationId xmlns:a16="http://schemas.microsoft.com/office/drawing/2014/main" id="{234FF598-417B-4552-D78F-6D783822DAE6}"/>
                </a:ext>
              </a:extLst>
            </p:cNvPr>
            <p:cNvCxnSpPr>
              <a:cxnSpLocks/>
            </p:cNvCxnSpPr>
            <p:nvPr/>
          </p:nvCxnSpPr>
          <p:spPr>
            <a:xfrm>
              <a:off x="6939667" y="5572218"/>
              <a:ext cx="106782" cy="115159"/>
            </a:xfrm>
            <a:prstGeom prst="line">
              <a:avLst/>
            </a:prstGeom>
            <a:ln w="38100"/>
          </p:spPr>
          <p:style>
            <a:lnRef idx="2">
              <a:schemeClr val="dk1"/>
            </a:lnRef>
            <a:fillRef idx="0">
              <a:schemeClr val="dk1"/>
            </a:fillRef>
            <a:effectRef idx="1">
              <a:schemeClr val="dk1"/>
            </a:effectRef>
            <a:fontRef idx="minor">
              <a:schemeClr val="tx1"/>
            </a:fontRef>
          </p:style>
        </p:cxnSp>
        <p:cxnSp>
          <p:nvCxnSpPr>
            <p:cNvPr id="21" name="直線コネクタ 20">
              <a:extLst>
                <a:ext uri="{FF2B5EF4-FFF2-40B4-BE49-F238E27FC236}">
                  <a16:creationId xmlns:a16="http://schemas.microsoft.com/office/drawing/2014/main" id="{69D9A334-BE1F-8424-7275-8D9BC42C74F9}"/>
                </a:ext>
              </a:extLst>
            </p:cNvPr>
            <p:cNvCxnSpPr>
              <a:cxnSpLocks/>
            </p:cNvCxnSpPr>
            <p:nvPr/>
          </p:nvCxnSpPr>
          <p:spPr>
            <a:xfrm>
              <a:off x="6865620" y="5699761"/>
              <a:ext cx="148095" cy="50245"/>
            </a:xfrm>
            <a:prstGeom prst="line">
              <a:avLst/>
            </a:prstGeom>
            <a:ln w="38100"/>
          </p:spPr>
          <p:style>
            <a:lnRef idx="2">
              <a:schemeClr val="dk1"/>
            </a:lnRef>
            <a:fillRef idx="0">
              <a:schemeClr val="dk1"/>
            </a:fillRef>
            <a:effectRef idx="1">
              <a:schemeClr val="dk1"/>
            </a:effectRef>
            <a:fontRef idx="minor">
              <a:schemeClr val="tx1"/>
            </a:fontRef>
          </p:style>
        </p:cxnSp>
      </p:grpSp>
      <p:grpSp>
        <p:nvGrpSpPr>
          <p:cNvPr id="29" name="グループ化 28">
            <a:extLst>
              <a:ext uri="{FF2B5EF4-FFF2-40B4-BE49-F238E27FC236}">
                <a16:creationId xmlns:a16="http://schemas.microsoft.com/office/drawing/2014/main" id="{4155C378-A368-212A-FBD5-B369876BF678}"/>
              </a:ext>
            </a:extLst>
          </p:cNvPr>
          <p:cNvGrpSpPr/>
          <p:nvPr/>
        </p:nvGrpSpPr>
        <p:grpSpPr>
          <a:xfrm>
            <a:off x="5545889" y="3241776"/>
            <a:ext cx="1620798" cy="1620798"/>
            <a:chOff x="3235827" y="4956903"/>
            <a:chExt cx="1620798" cy="1620798"/>
          </a:xfrm>
        </p:grpSpPr>
        <p:pic>
          <p:nvPicPr>
            <p:cNvPr id="4" name="図 3">
              <a:extLst>
                <a:ext uri="{FF2B5EF4-FFF2-40B4-BE49-F238E27FC236}">
                  <a16:creationId xmlns:a16="http://schemas.microsoft.com/office/drawing/2014/main" id="{A57503E7-D525-065B-DC27-56D73C13F8FE}"/>
                </a:ext>
              </a:extLst>
            </p:cNvPr>
            <p:cNvPicPr>
              <a:picLocks noChangeAspect="1"/>
            </p:cNvPicPr>
            <p:nvPr/>
          </p:nvPicPr>
          <p:blipFill>
            <a:blip r:embed="rId6"/>
            <a:stretch>
              <a:fillRect/>
            </a:stretch>
          </p:blipFill>
          <p:spPr>
            <a:xfrm>
              <a:off x="3235827" y="4956903"/>
              <a:ext cx="1620798" cy="1620798"/>
            </a:xfrm>
            <a:prstGeom prst="rect">
              <a:avLst/>
            </a:prstGeom>
          </p:spPr>
        </p:pic>
        <p:sp>
          <p:nvSpPr>
            <p:cNvPr id="24" name="楕円 23">
              <a:extLst>
                <a:ext uri="{FF2B5EF4-FFF2-40B4-BE49-F238E27FC236}">
                  <a16:creationId xmlns:a16="http://schemas.microsoft.com/office/drawing/2014/main" id="{8CF0E417-AC51-F89C-BB2B-2C01ADA243B0}"/>
                </a:ext>
              </a:extLst>
            </p:cNvPr>
            <p:cNvSpPr/>
            <p:nvPr/>
          </p:nvSpPr>
          <p:spPr>
            <a:xfrm>
              <a:off x="3920071" y="5628600"/>
              <a:ext cx="253365" cy="106442"/>
            </a:xfrm>
            <a:prstGeom prst="ellipse">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grpSp>
      <p:sp>
        <p:nvSpPr>
          <p:cNvPr id="28" name="矢印: 右 27">
            <a:extLst>
              <a:ext uri="{FF2B5EF4-FFF2-40B4-BE49-F238E27FC236}">
                <a16:creationId xmlns:a16="http://schemas.microsoft.com/office/drawing/2014/main" id="{5B08577A-D13F-43A0-D996-FA6544B47567}"/>
              </a:ext>
            </a:extLst>
          </p:cNvPr>
          <p:cNvSpPr/>
          <p:nvPr/>
        </p:nvSpPr>
        <p:spPr>
          <a:xfrm>
            <a:off x="7615360" y="3914670"/>
            <a:ext cx="1111649" cy="412188"/>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C84E098-FF59-9338-6DFF-3DA0876C859E}"/>
              </a:ext>
            </a:extLst>
          </p:cNvPr>
          <p:cNvSpPr txBox="1"/>
          <p:nvPr/>
        </p:nvSpPr>
        <p:spPr>
          <a:xfrm>
            <a:off x="5981251" y="4905508"/>
            <a:ext cx="1744579" cy="523220"/>
          </a:xfrm>
          <a:prstGeom prst="rect">
            <a:avLst/>
          </a:prstGeom>
          <a:noFill/>
        </p:spPr>
        <p:txBody>
          <a:bodyPr wrap="square">
            <a:spAutoFit/>
          </a:bodyPr>
          <a:lstStyle/>
          <a:p>
            <a:r>
              <a:rPr lang="ja-JP" altLang="en-US" sz="2800" b="1" dirty="0">
                <a:solidFill>
                  <a:srgbClr val="FF0000"/>
                </a:solidFill>
                <a:latin typeface="メイリオ" panose="020B0604030504040204" pitchFamily="50" charset="-128"/>
                <a:ea typeface="メイリオ" panose="020B0604030504040204" pitchFamily="50" charset="-128"/>
              </a:rPr>
              <a:t>葛藤</a:t>
            </a:r>
          </a:p>
        </p:txBody>
      </p:sp>
      <p:sp>
        <p:nvSpPr>
          <p:cNvPr id="11" name="テキスト ボックス 10">
            <a:extLst>
              <a:ext uri="{FF2B5EF4-FFF2-40B4-BE49-F238E27FC236}">
                <a16:creationId xmlns:a16="http://schemas.microsoft.com/office/drawing/2014/main" id="{E46B5B36-1E3E-38CB-B97B-F3518CC57E8F}"/>
              </a:ext>
            </a:extLst>
          </p:cNvPr>
          <p:cNvSpPr txBox="1"/>
          <p:nvPr/>
        </p:nvSpPr>
        <p:spPr>
          <a:xfrm>
            <a:off x="9467319" y="4922354"/>
            <a:ext cx="1532374" cy="523220"/>
          </a:xfrm>
          <a:prstGeom prst="rect">
            <a:avLst/>
          </a:prstGeom>
          <a:noFill/>
        </p:spPr>
        <p:txBody>
          <a:bodyPr wrap="square">
            <a:spAutoFit/>
          </a:bodyPr>
          <a:lstStyle/>
          <a:p>
            <a:r>
              <a:rPr lang="ja-JP" altLang="en-US" sz="2800" b="1" dirty="0">
                <a:latin typeface="メイリオ" panose="020B0604030504040204" pitchFamily="50" charset="-128"/>
                <a:ea typeface="メイリオ" panose="020B0604030504040204" pitchFamily="50" charset="-128"/>
              </a:rPr>
              <a:t>行動</a:t>
            </a:r>
          </a:p>
        </p:txBody>
      </p:sp>
    </p:spTree>
    <p:extLst>
      <p:ext uri="{BB962C8B-B14F-4D97-AF65-F5344CB8AC3E}">
        <p14:creationId xmlns:p14="http://schemas.microsoft.com/office/powerpoint/2010/main" val="402953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0EBF-E466-C57A-7F3D-20AE2AEB55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4870A7-0F35-BDE7-F6DA-57EE33DE2C25}"/>
              </a:ext>
            </a:extLst>
          </p:cNvPr>
          <p:cNvSpPr txBox="1">
            <a:spLocks/>
          </p:cNvSpPr>
          <p:nvPr/>
        </p:nvSpPr>
        <p:spPr>
          <a:xfrm>
            <a:off x="514349" y="100460"/>
            <a:ext cx="1135529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葛藤の種類</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05A72ADF-D708-F4F1-50A0-FDF95AD00F73}"/>
              </a:ext>
            </a:extLst>
          </p:cNvPr>
          <p:cNvSpPr txBox="1"/>
          <p:nvPr/>
        </p:nvSpPr>
        <p:spPr>
          <a:xfrm>
            <a:off x="2121298" y="1377862"/>
            <a:ext cx="8717981" cy="584775"/>
          </a:xfrm>
          <a:prstGeom prst="rect">
            <a:avLst/>
          </a:prstGeom>
          <a:noFill/>
        </p:spPr>
        <p:txBody>
          <a:bodyPr wrap="square">
            <a:spAutoFit/>
          </a:bodyPr>
          <a:lstStyle/>
          <a:p>
            <a:r>
              <a:rPr lang="ja-JP" altLang="en-US" sz="3200" b="1" dirty="0">
                <a:latin typeface="メイリオ" panose="020B0604030504040204" pitchFamily="50" charset="-128"/>
                <a:ea typeface="メイリオ" panose="020B0604030504040204" pitchFamily="50" charset="-128"/>
              </a:rPr>
              <a:t>葛藤は</a:t>
            </a:r>
            <a:r>
              <a:rPr lang="en-US" altLang="ja-JP" sz="3200" b="1" dirty="0">
                <a:latin typeface="メイリオ" panose="020B0604030504040204" pitchFamily="50" charset="-128"/>
                <a:ea typeface="メイリオ" panose="020B0604030504040204" pitchFamily="50" charset="-128"/>
              </a:rPr>
              <a:t>3</a:t>
            </a:r>
            <a:r>
              <a:rPr lang="ja-JP" altLang="en-US" sz="3200" b="1" dirty="0">
                <a:latin typeface="メイリオ" panose="020B0604030504040204" pitchFamily="50" charset="-128"/>
                <a:ea typeface="メイリオ" panose="020B0604030504040204" pitchFamily="50" charset="-128"/>
              </a:rPr>
              <a:t>種類に分類できる </a:t>
            </a:r>
            <a:r>
              <a:rPr lang="en-US" altLang="ja-JP" sz="3200" dirty="0">
                <a:latin typeface="メイリオ" panose="020B0604030504040204" pitchFamily="50" charset="-128"/>
                <a:ea typeface="メイリオ" panose="020B0604030504040204" pitchFamily="50" charset="-128"/>
              </a:rPr>
              <a:t>[Lewin 1935]</a:t>
            </a:r>
          </a:p>
        </p:txBody>
      </p:sp>
      <p:pic>
        <p:nvPicPr>
          <p:cNvPr id="1026" name="Picture 2" descr="接近－接近型の例">
            <a:extLst>
              <a:ext uri="{FF2B5EF4-FFF2-40B4-BE49-F238E27FC236}">
                <a16:creationId xmlns:a16="http://schemas.microsoft.com/office/drawing/2014/main" id="{3433331A-8BF2-76F5-AEA7-C7224DBCAD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530"/>
          <a:stretch/>
        </p:blipFill>
        <p:spPr bwMode="auto">
          <a:xfrm>
            <a:off x="618522" y="3019425"/>
            <a:ext cx="3005552" cy="2719106"/>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500CC696-E1E5-E8A3-9C74-03A232BFAEA6}"/>
              </a:ext>
            </a:extLst>
          </p:cNvPr>
          <p:cNvPicPr>
            <a:picLocks noChangeAspect="1"/>
          </p:cNvPicPr>
          <p:nvPr/>
        </p:nvPicPr>
        <p:blipFill>
          <a:blip r:embed="rId4"/>
          <a:srcRect t="9254"/>
          <a:stretch/>
        </p:blipFill>
        <p:spPr>
          <a:xfrm>
            <a:off x="4168694" y="3019425"/>
            <a:ext cx="3005552" cy="2727422"/>
          </a:xfrm>
          <a:prstGeom prst="rect">
            <a:avLst/>
          </a:prstGeom>
        </p:spPr>
      </p:pic>
      <p:pic>
        <p:nvPicPr>
          <p:cNvPr id="6" name="図 5">
            <a:extLst>
              <a:ext uri="{FF2B5EF4-FFF2-40B4-BE49-F238E27FC236}">
                <a16:creationId xmlns:a16="http://schemas.microsoft.com/office/drawing/2014/main" id="{5A68D5C0-73EF-7048-1DA0-5B0344AB7D5E}"/>
              </a:ext>
            </a:extLst>
          </p:cNvPr>
          <p:cNvPicPr>
            <a:picLocks noChangeAspect="1"/>
          </p:cNvPicPr>
          <p:nvPr/>
        </p:nvPicPr>
        <p:blipFill>
          <a:blip r:embed="rId5"/>
          <a:srcRect t="9530"/>
          <a:stretch/>
        </p:blipFill>
        <p:spPr>
          <a:xfrm>
            <a:off x="7868760" y="3019425"/>
            <a:ext cx="3005552" cy="2719106"/>
          </a:xfrm>
          <a:prstGeom prst="rect">
            <a:avLst/>
          </a:prstGeom>
        </p:spPr>
      </p:pic>
      <p:sp>
        <p:nvSpPr>
          <p:cNvPr id="9" name="テキスト ボックス 8">
            <a:extLst>
              <a:ext uri="{FF2B5EF4-FFF2-40B4-BE49-F238E27FC236}">
                <a16:creationId xmlns:a16="http://schemas.microsoft.com/office/drawing/2014/main" id="{46A1658E-D627-5830-9186-05B37DFF6AD4}"/>
              </a:ext>
            </a:extLst>
          </p:cNvPr>
          <p:cNvSpPr txBox="1"/>
          <p:nvPr/>
        </p:nvSpPr>
        <p:spPr>
          <a:xfrm>
            <a:off x="7696200" y="2311347"/>
            <a:ext cx="3621534" cy="646331"/>
          </a:xfrm>
          <a:prstGeom prst="rect">
            <a:avLst/>
          </a:prstGeom>
          <a:noFill/>
        </p:spPr>
        <p:txBody>
          <a:bodyPr wrap="square">
            <a:spAutoFit/>
          </a:bodyPr>
          <a:lstStyle/>
          <a:p>
            <a:pPr marL="342900" indent="-342900">
              <a:buClr>
                <a:schemeClr val="tx1"/>
              </a:buClr>
              <a:buFont typeface="+mj-ea"/>
              <a:buAutoNum type="circleNumDbPlain" startAt="3"/>
            </a:pPr>
            <a:r>
              <a:rPr lang="en-US" altLang="ja-JP" b="1" dirty="0">
                <a:solidFill>
                  <a:srgbClr val="FF0000"/>
                </a:solidFill>
                <a:latin typeface="メイリオ" panose="020B0604030504040204" pitchFamily="50" charset="-128"/>
                <a:ea typeface="メイリオ" panose="020B0604030504040204" pitchFamily="50" charset="-128"/>
              </a:rPr>
              <a:t>Attraction</a:t>
            </a:r>
            <a:r>
              <a:rPr lang="en-US" altLang="ja-JP" b="1" dirty="0">
                <a:latin typeface="メイリオ" panose="020B0604030504040204" pitchFamily="50" charset="-128"/>
                <a:ea typeface="メイリオ" panose="020B0604030504040204" pitchFamily="50" charset="-128"/>
              </a:rPr>
              <a:t>-</a:t>
            </a:r>
            <a:r>
              <a:rPr lang="en-US" altLang="ja-JP" b="1" dirty="0">
                <a:solidFill>
                  <a:srgbClr val="0070C0"/>
                </a:solidFill>
                <a:latin typeface="メイリオ" panose="020B0604030504040204" pitchFamily="50" charset="-128"/>
                <a:ea typeface="メイリオ" panose="020B0604030504040204" pitchFamily="50" charset="-128"/>
              </a:rPr>
              <a:t>Avoidance</a:t>
            </a:r>
            <a:r>
              <a:rPr lang="en-US" altLang="ja-JP" b="1" dirty="0">
                <a:latin typeface="メイリオ" panose="020B0604030504040204" pitchFamily="50" charset="-128"/>
                <a:ea typeface="メイリオ" panose="020B0604030504040204" pitchFamily="50" charset="-128"/>
              </a:rPr>
              <a:t> Conflict</a:t>
            </a:r>
            <a:endParaRPr lang="ja-JP" altLang="en-US" b="1" dirty="0"/>
          </a:p>
        </p:txBody>
      </p:sp>
      <p:sp>
        <p:nvSpPr>
          <p:cNvPr id="11" name="テキスト ボックス 10">
            <a:extLst>
              <a:ext uri="{FF2B5EF4-FFF2-40B4-BE49-F238E27FC236}">
                <a16:creationId xmlns:a16="http://schemas.microsoft.com/office/drawing/2014/main" id="{FBA5B01F-966C-78BF-B581-42F989D6A66E}"/>
              </a:ext>
            </a:extLst>
          </p:cNvPr>
          <p:cNvSpPr txBox="1"/>
          <p:nvPr/>
        </p:nvSpPr>
        <p:spPr>
          <a:xfrm>
            <a:off x="4064137" y="2317157"/>
            <a:ext cx="3264406" cy="646331"/>
          </a:xfrm>
          <a:prstGeom prst="rect">
            <a:avLst/>
          </a:prstGeom>
          <a:noFill/>
        </p:spPr>
        <p:txBody>
          <a:bodyPr wrap="square">
            <a:spAutoFit/>
          </a:bodyPr>
          <a:lstStyle/>
          <a:p>
            <a:pPr marL="342900" indent="-342900">
              <a:buClr>
                <a:schemeClr val="tx1"/>
              </a:buClr>
              <a:buFont typeface="+mj-ea"/>
              <a:buAutoNum type="circleNumDbPlain" startAt="2"/>
            </a:pPr>
            <a:r>
              <a:rPr lang="en-US" altLang="ja-JP" b="1" dirty="0">
                <a:solidFill>
                  <a:srgbClr val="0070C0"/>
                </a:solidFill>
                <a:latin typeface="メイリオ" panose="020B0604030504040204" pitchFamily="50" charset="-128"/>
                <a:ea typeface="メイリオ" panose="020B0604030504040204" pitchFamily="50" charset="-128"/>
              </a:rPr>
              <a:t>Avoidance-Avoidance</a:t>
            </a:r>
            <a:r>
              <a:rPr lang="en-US" altLang="ja-JP" b="1" dirty="0">
                <a:latin typeface="メイリオ" panose="020B0604030504040204" pitchFamily="50" charset="-128"/>
                <a:ea typeface="メイリオ" panose="020B0604030504040204" pitchFamily="50" charset="-128"/>
              </a:rPr>
              <a:t> Conflict</a:t>
            </a:r>
          </a:p>
        </p:txBody>
      </p:sp>
      <p:sp>
        <p:nvSpPr>
          <p:cNvPr id="13" name="テキスト ボックス 12">
            <a:extLst>
              <a:ext uri="{FF2B5EF4-FFF2-40B4-BE49-F238E27FC236}">
                <a16:creationId xmlns:a16="http://schemas.microsoft.com/office/drawing/2014/main" id="{A5DC2B09-0C82-D10E-7C2B-09E6A5108563}"/>
              </a:ext>
            </a:extLst>
          </p:cNvPr>
          <p:cNvSpPr txBox="1"/>
          <p:nvPr/>
        </p:nvSpPr>
        <p:spPr>
          <a:xfrm>
            <a:off x="596900" y="2293097"/>
            <a:ext cx="3264406" cy="646331"/>
          </a:xfrm>
          <a:prstGeom prst="rect">
            <a:avLst/>
          </a:prstGeom>
          <a:noFill/>
        </p:spPr>
        <p:txBody>
          <a:bodyPr wrap="square">
            <a:spAutoFit/>
          </a:bodyPr>
          <a:lstStyle/>
          <a:p>
            <a:pPr marL="342900" indent="-342900">
              <a:buClr>
                <a:schemeClr val="tx1"/>
              </a:buClr>
              <a:buFont typeface="+mj-ea"/>
              <a:buAutoNum type="circleNumDbPlain"/>
            </a:pPr>
            <a:r>
              <a:rPr lang="en-US" altLang="ja-JP" b="1" dirty="0">
                <a:solidFill>
                  <a:srgbClr val="FF0000"/>
                </a:solidFill>
                <a:latin typeface="メイリオ" panose="020B0604030504040204" pitchFamily="50" charset="-128"/>
                <a:ea typeface="メイリオ" panose="020B0604030504040204" pitchFamily="50" charset="-128"/>
              </a:rPr>
              <a:t>Attraction-Attraction </a:t>
            </a:r>
            <a:r>
              <a:rPr lang="en-US" altLang="ja-JP" b="1" dirty="0">
                <a:latin typeface="メイリオ" panose="020B0604030504040204" pitchFamily="50" charset="-128"/>
                <a:ea typeface="メイリオ" panose="020B0604030504040204" pitchFamily="50" charset="-128"/>
              </a:rPr>
              <a:t>Conflict</a:t>
            </a:r>
            <a:endParaRPr lang="ja-JP" altLang="en-US" b="1" dirty="0"/>
          </a:p>
        </p:txBody>
      </p:sp>
      <p:sp>
        <p:nvSpPr>
          <p:cNvPr id="7" name="フレーム 6">
            <a:extLst>
              <a:ext uri="{FF2B5EF4-FFF2-40B4-BE49-F238E27FC236}">
                <a16:creationId xmlns:a16="http://schemas.microsoft.com/office/drawing/2014/main" id="{D9707D85-19A6-FF85-5C98-116E224CB2B9}"/>
              </a:ext>
            </a:extLst>
          </p:cNvPr>
          <p:cNvSpPr/>
          <p:nvPr/>
        </p:nvSpPr>
        <p:spPr>
          <a:xfrm>
            <a:off x="7515616" y="2136992"/>
            <a:ext cx="3621534" cy="3882808"/>
          </a:xfrm>
          <a:prstGeom prst="frame">
            <a:avLst>
              <a:gd name="adj1" fmla="val 2287"/>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solidFill>
                <a:schemeClr val="tx1"/>
              </a:solidFill>
            </a:endParaRPr>
          </a:p>
        </p:txBody>
      </p:sp>
      <p:sp>
        <p:nvSpPr>
          <p:cNvPr id="8" name="正方形/長方形 7">
            <a:extLst>
              <a:ext uri="{FF2B5EF4-FFF2-40B4-BE49-F238E27FC236}">
                <a16:creationId xmlns:a16="http://schemas.microsoft.com/office/drawing/2014/main" id="{1B60D2AF-F008-9A45-8361-A0F4335E7D18}"/>
              </a:ext>
            </a:extLst>
          </p:cNvPr>
          <p:cNvSpPr/>
          <p:nvPr/>
        </p:nvSpPr>
        <p:spPr>
          <a:xfrm>
            <a:off x="618522" y="4752779"/>
            <a:ext cx="1995848" cy="985752"/>
          </a:xfrm>
          <a:prstGeom prst="rect">
            <a:avLst/>
          </a:prstGeom>
          <a:solidFill>
            <a:srgbClr val="FFFFFF"/>
          </a:solidFill>
          <a:ln>
            <a:solidFill>
              <a:srgbClr val="FFFF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I want to eat everything, but I can't choose just one...</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80339CB-741C-6558-C378-6C658C0100AE}"/>
              </a:ext>
            </a:extLst>
          </p:cNvPr>
          <p:cNvSpPr/>
          <p:nvPr/>
        </p:nvSpPr>
        <p:spPr>
          <a:xfrm>
            <a:off x="4205674" y="4752779"/>
            <a:ext cx="1995848" cy="985752"/>
          </a:xfrm>
          <a:prstGeom prst="rect">
            <a:avLst/>
          </a:prstGeom>
          <a:solidFill>
            <a:srgbClr val="FFFFFF"/>
          </a:solidFill>
          <a:ln>
            <a:solidFill>
              <a:srgbClr val="FFFF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I don't want to gain weight, but I also hate exercise and dietary restrictions..</a:t>
            </a:r>
            <a:endParaRPr kumimoji="1" lang="ja-JP" altLang="en-US" sz="12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5B917FAB-ADBE-E7DC-186D-A6649B17902A}"/>
              </a:ext>
            </a:extLst>
          </p:cNvPr>
          <p:cNvSpPr/>
          <p:nvPr/>
        </p:nvSpPr>
        <p:spPr>
          <a:xfrm>
            <a:off x="7868760" y="4752779"/>
            <a:ext cx="1995848" cy="985752"/>
          </a:xfrm>
          <a:prstGeom prst="rect">
            <a:avLst/>
          </a:prstGeom>
          <a:solidFill>
            <a:srgbClr val="FFFFFF"/>
          </a:solidFill>
          <a:ln>
            <a:solidFill>
              <a:srgbClr val="FFFF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400" b="1" dirty="0">
                <a:latin typeface="メイリオ" panose="020B0604030504040204" pitchFamily="50" charset="-128"/>
                <a:ea typeface="メイリオ" panose="020B0604030504040204" pitchFamily="50" charset="-128"/>
              </a:rPr>
              <a:t>I want to see it... </a:t>
            </a:r>
          </a:p>
          <a:p>
            <a:pPr algn="ctr"/>
            <a:r>
              <a:rPr lang="en-US" altLang="ja-JP" sz="1400" b="1" dirty="0">
                <a:latin typeface="メイリオ" panose="020B0604030504040204" pitchFamily="50" charset="-128"/>
                <a:ea typeface="メイリオ" panose="020B0604030504040204" pitchFamily="50" charset="-128"/>
              </a:rPr>
              <a:t>but I'm scared...</a:t>
            </a:r>
            <a:endParaRPr kumimoji="1" lang="ja-JP" altLang="en-US" sz="1400" b="1" dirty="0">
              <a:solidFill>
                <a:schemeClr val="bg1">
                  <a:lumMod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8839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1026"/>
                                        </p:tgtEl>
                                        <p:attrNameLst>
                                          <p:attrName>style.opacity</p:attrName>
                                        </p:attrNameLst>
                                      </p:cBhvr>
                                      <p:to>
                                        <p:strVal val="0.2"/>
                                      </p:to>
                                    </p:set>
                                    <p:animEffect filter="image" prLst="opacity: 0.2">
                                      <p:cBhvr rctx="IE">
                                        <p:cTn id="9" dur="indefinite"/>
                                        <p:tgtEl>
                                          <p:spTgt spid="1026"/>
                                        </p:tgtEl>
                                      </p:cBhvr>
                                    </p:animEffect>
                                  </p:childTnLst>
                                </p:cTn>
                              </p:par>
                              <p:par>
                                <p:cTn id="10" presetID="9" presetClass="emph" presetSubtype="0" nodeType="withEffect">
                                  <p:stCondLst>
                                    <p:cond delay="0"/>
                                  </p:stCondLst>
                                  <p:childTnLst>
                                    <p:set>
                                      <p:cBhvr>
                                        <p:cTn id="11" dur="indefinite"/>
                                        <p:tgtEl>
                                          <p:spTgt spid="4"/>
                                        </p:tgtEl>
                                        <p:attrNameLst>
                                          <p:attrName>style.opacity</p:attrName>
                                        </p:attrNameLst>
                                      </p:cBhvr>
                                      <p:to>
                                        <p:strVal val="0.2"/>
                                      </p:to>
                                    </p:set>
                                    <p:animEffect filter="image" prLst="opacity: 0.2">
                                      <p:cBhvr rctx="IE">
                                        <p:cTn id="12" dur="indefinite"/>
                                        <p:tgtEl>
                                          <p:spTgt spid="4"/>
                                        </p:tgtEl>
                                      </p:cBhvr>
                                    </p:animEffect>
                                  </p:childTnLst>
                                </p:cTn>
                              </p:par>
                              <p:par>
                                <p:cTn id="13" presetID="9" presetClass="emph" presetSubtype="0" grpId="0" nodeType="withEffect">
                                  <p:stCondLst>
                                    <p:cond delay="0"/>
                                  </p:stCondLst>
                                  <p:childTnLst>
                                    <p:set>
                                      <p:cBhvr>
                                        <p:cTn id="14" dur="indefinite"/>
                                        <p:tgtEl>
                                          <p:spTgt spid="11"/>
                                        </p:tgtEl>
                                        <p:attrNameLst>
                                          <p:attrName>style.opacity</p:attrName>
                                        </p:attrNameLst>
                                      </p:cBhvr>
                                      <p:to>
                                        <p:strVal val="0.2"/>
                                      </p:to>
                                    </p:set>
                                    <p:animEffect filter="image" prLst="opacity: 0.2">
                                      <p:cBhvr rctx="IE">
                                        <p:cTn id="15" dur="indefinite"/>
                                        <p:tgtEl>
                                          <p:spTgt spid="11"/>
                                        </p:tgtEl>
                                      </p:cBhvr>
                                    </p:animEffect>
                                  </p:childTnLst>
                                </p:cTn>
                              </p:par>
                              <p:par>
                                <p:cTn id="16" presetID="9" presetClass="emph" presetSubtype="0" grpId="0" nodeType="withEffect">
                                  <p:stCondLst>
                                    <p:cond delay="0"/>
                                  </p:stCondLst>
                                  <p:childTnLst>
                                    <p:set>
                                      <p:cBhvr>
                                        <p:cTn id="17" dur="indefinite"/>
                                        <p:tgtEl>
                                          <p:spTgt spid="13"/>
                                        </p:tgtEl>
                                        <p:attrNameLst>
                                          <p:attrName>style.opacity</p:attrName>
                                        </p:attrNameLst>
                                      </p:cBhvr>
                                      <p:to>
                                        <p:strVal val="0.2"/>
                                      </p:to>
                                    </p:set>
                                    <p:animEffect filter="image" prLst="opacity: 0.2">
                                      <p:cBhvr rctx="IE">
                                        <p:cTn id="18" dur="indefinite"/>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A020-A683-2027-12D6-AA6CCC622E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09E01F-4B0B-1851-01C6-5E4E0193E3AE}"/>
              </a:ext>
            </a:extLst>
          </p:cNvPr>
          <p:cNvSpPr txBox="1">
            <a:spLocks/>
          </p:cNvSpPr>
          <p:nvPr/>
        </p:nvSpPr>
        <p:spPr>
          <a:xfrm>
            <a:off x="696958" y="330012"/>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葛藤をどう表現するか？</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82CDB8E4-6470-525F-3DF1-31DF8B4D8D6F}"/>
              </a:ext>
            </a:extLst>
          </p:cNvPr>
          <p:cNvSpPr txBox="1"/>
          <p:nvPr/>
        </p:nvSpPr>
        <p:spPr>
          <a:xfrm>
            <a:off x="4119234" y="1687211"/>
            <a:ext cx="4553279" cy="646331"/>
          </a:xfrm>
          <a:prstGeom prst="rect">
            <a:avLst/>
          </a:prstGeom>
          <a:noFill/>
        </p:spPr>
        <p:txBody>
          <a:bodyPr wrap="square">
            <a:spAutoFit/>
          </a:bodyPr>
          <a:lstStyle/>
          <a:p>
            <a:r>
              <a:rPr lang="ja-JP" altLang="en-US" sz="3600" b="1" dirty="0">
                <a:latin typeface="メイリオ" panose="020B0604030504040204" pitchFamily="50" charset="-128"/>
                <a:ea typeface="メイリオ" panose="020B0604030504040204" pitchFamily="50" charset="-128"/>
              </a:rPr>
              <a:t>吹き出しを用いる</a:t>
            </a:r>
          </a:p>
        </p:txBody>
      </p:sp>
      <p:pic>
        <p:nvPicPr>
          <p:cNvPr id="10" name="Picture 2" descr="Figure 2">
            <a:extLst>
              <a:ext uri="{FF2B5EF4-FFF2-40B4-BE49-F238E27FC236}">
                <a16:creationId xmlns:a16="http://schemas.microsoft.com/office/drawing/2014/main" id="{1154BE9A-7DB6-1186-8EAD-26F060472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948" y="3011510"/>
            <a:ext cx="4114094" cy="2094448"/>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E2BEFE87-DB81-FB2C-3DF6-41CA970CC6FD}"/>
              </a:ext>
            </a:extLst>
          </p:cNvPr>
          <p:cNvSpPr txBox="1"/>
          <p:nvPr/>
        </p:nvSpPr>
        <p:spPr>
          <a:xfrm>
            <a:off x="9437995" y="5289411"/>
            <a:ext cx="2352674" cy="369332"/>
          </a:xfrm>
          <a:prstGeom prst="rect">
            <a:avLst/>
          </a:prstGeom>
          <a:noFill/>
        </p:spPr>
        <p:txBody>
          <a:bodyPr wrap="square">
            <a:spAutoFit/>
          </a:bodyPr>
          <a:lstStyle/>
          <a:p>
            <a:r>
              <a:rPr lang="en-US" altLang="ja-JP" dirty="0">
                <a:solidFill>
                  <a:srgbClr val="222222"/>
                </a:solidFill>
                <a:latin typeface="Arial" panose="020B0604020202020204" pitchFamily="34" charset="0"/>
              </a:rPr>
              <a:t>[</a:t>
            </a:r>
            <a:r>
              <a:rPr lang="en-US" altLang="ja-JP" b="0" i="0" dirty="0" err="1">
                <a:solidFill>
                  <a:srgbClr val="222222"/>
                </a:solidFill>
                <a:effectLst/>
                <a:latin typeface="Arial" panose="020B0604020202020204" pitchFamily="34" charset="0"/>
              </a:rPr>
              <a:t>Nitada</a:t>
            </a:r>
            <a:r>
              <a:rPr lang="en-US" altLang="ja-JP" dirty="0">
                <a:solidFill>
                  <a:srgbClr val="222222"/>
                </a:solidFill>
                <a:latin typeface="Arial" panose="020B0604020202020204" pitchFamily="34" charset="0"/>
              </a:rPr>
              <a:t> et.al</a:t>
            </a:r>
            <a:r>
              <a:rPr lang="en-US" altLang="ja-JP" b="0" i="0" dirty="0">
                <a:solidFill>
                  <a:srgbClr val="222222"/>
                </a:solidFill>
                <a:effectLst/>
                <a:latin typeface="Arial" panose="020B0604020202020204" pitchFamily="34" charset="0"/>
              </a:rPr>
              <a:t> </a:t>
            </a:r>
            <a:r>
              <a:rPr lang="en-US" altLang="ja-JP" dirty="0">
                <a:solidFill>
                  <a:srgbClr val="222222"/>
                </a:solidFill>
                <a:latin typeface="Arial" panose="020B0604020202020204" pitchFamily="34" charset="0"/>
              </a:rPr>
              <a:t>2021]</a:t>
            </a:r>
            <a:endParaRPr lang="ja-JP" altLang="en-US" dirty="0"/>
          </a:p>
        </p:txBody>
      </p:sp>
      <p:sp>
        <p:nvSpPr>
          <p:cNvPr id="13" name="コンテンツ プレースホルダー 2">
            <a:extLst>
              <a:ext uri="{FF2B5EF4-FFF2-40B4-BE49-F238E27FC236}">
                <a16:creationId xmlns:a16="http://schemas.microsoft.com/office/drawing/2014/main" id="{8106739E-7BD8-258F-8F98-8DCBB1C439B0}"/>
              </a:ext>
            </a:extLst>
          </p:cNvPr>
          <p:cNvSpPr txBox="1">
            <a:spLocks/>
          </p:cNvSpPr>
          <p:nvPr/>
        </p:nvSpPr>
        <p:spPr>
          <a:xfrm>
            <a:off x="315831" y="2981138"/>
            <a:ext cx="6608871" cy="2070895"/>
          </a:xfrm>
          <a:prstGeom prst="rect">
            <a:avLst/>
          </a:prstGeom>
        </p:spPr>
        <p:txBody>
          <a:bodyPr>
            <a:normAutofit fontScale="92500"/>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吹き出しは、非言語的な内面を即座に伝達できる視覚メタファー</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吹き出しによってエージェントのことを内面を持つ存在として認識しやすくなる</a:t>
            </a:r>
            <a:endParaRPr lang="en-US" altLang="ja-JP" b="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41101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47F133E-D4B9-408C-8F76-C0961DE598CF}"/>
              </a:ext>
            </a:extLst>
          </p:cNvPr>
          <p:cNvPicPr>
            <a:picLocks noChangeAspect="1"/>
          </p:cNvPicPr>
          <p:nvPr/>
        </p:nvPicPr>
        <p:blipFill>
          <a:blip r:embed="rId3"/>
          <a:stretch>
            <a:fillRect/>
          </a:stretch>
        </p:blipFill>
        <p:spPr>
          <a:xfrm>
            <a:off x="7356460" y="2885688"/>
            <a:ext cx="1469851" cy="1993020"/>
          </a:xfrm>
          <a:prstGeom prst="rect">
            <a:avLst/>
          </a:prstGeom>
        </p:spPr>
      </p:pic>
      <p:sp>
        <p:nvSpPr>
          <p:cNvPr id="6" name="タイトル 1">
            <a:extLst>
              <a:ext uri="{FF2B5EF4-FFF2-40B4-BE49-F238E27FC236}">
                <a16:creationId xmlns:a16="http://schemas.microsoft.com/office/drawing/2014/main" id="{D740A53B-9308-5144-9456-EA6347B565CA}"/>
              </a:ext>
            </a:extLst>
          </p:cNvPr>
          <p:cNvSpPr txBox="1">
            <a:spLocks/>
          </p:cNvSpPr>
          <p:nvPr/>
        </p:nvSpPr>
        <p:spPr>
          <a:xfrm>
            <a:off x="696958" y="330012"/>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葛藤をどう表現するか？</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7" name="吹き出し: 円形 6">
            <a:extLst>
              <a:ext uri="{FF2B5EF4-FFF2-40B4-BE49-F238E27FC236}">
                <a16:creationId xmlns:a16="http://schemas.microsoft.com/office/drawing/2014/main" id="{5074FF94-6C6E-24BC-C7AE-DF90A443FE2F}"/>
              </a:ext>
            </a:extLst>
          </p:cNvPr>
          <p:cNvSpPr/>
          <p:nvPr/>
        </p:nvSpPr>
        <p:spPr>
          <a:xfrm>
            <a:off x="4500880" y="1655575"/>
            <a:ext cx="2888789" cy="1523999"/>
          </a:xfrm>
          <a:prstGeom prst="wedgeEllipseCallout">
            <a:avLst>
              <a:gd name="adj1" fmla="val 41114"/>
              <a:gd name="adj2" fmla="val 49470"/>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cxnSp>
        <p:nvCxnSpPr>
          <p:cNvPr id="9" name="直線コネクタ 8">
            <a:extLst>
              <a:ext uri="{FF2B5EF4-FFF2-40B4-BE49-F238E27FC236}">
                <a16:creationId xmlns:a16="http://schemas.microsoft.com/office/drawing/2014/main" id="{C02036C9-B515-4CF2-5051-FA26DF50D8FE}"/>
              </a:ext>
            </a:extLst>
          </p:cNvPr>
          <p:cNvCxnSpPr>
            <a:cxnSpLocks/>
          </p:cNvCxnSpPr>
          <p:nvPr/>
        </p:nvCxnSpPr>
        <p:spPr>
          <a:xfrm>
            <a:off x="5134149" y="2001331"/>
            <a:ext cx="1520651" cy="0"/>
          </a:xfrm>
          <a:prstGeom prst="line">
            <a:avLst/>
          </a:prstGeom>
          <a:ln w="28575">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CDEC6F4E-A53E-6309-701A-B9C29CFCAA13}"/>
              </a:ext>
            </a:extLst>
          </p:cNvPr>
          <p:cNvCxnSpPr>
            <a:cxnSpLocks/>
          </p:cNvCxnSpPr>
          <p:nvPr/>
        </p:nvCxnSpPr>
        <p:spPr>
          <a:xfrm>
            <a:off x="5022389" y="2379632"/>
            <a:ext cx="1734011" cy="0"/>
          </a:xfrm>
          <a:prstGeom prst="line">
            <a:avLst/>
          </a:prstGeom>
          <a:ln w="28575">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031DE1B-B9B2-B666-714D-447FCF16A9F1}"/>
              </a:ext>
            </a:extLst>
          </p:cNvPr>
          <p:cNvCxnSpPr>
            <a:cxnSpLocks/>
          </p:cNvCxnSpPr>
          <p:nvPr/>
        </p:nvCxnSpPr>
        <p:spPr>
          <a:xfrm>
            <a:off x="5134149" y="2806352"/>
            <a:ext cx="857522" cy="0"/>
          </a:xfrm>
          <a:prstGeom prst="line">
            <a:avLst/>
          </a:prstGeom>
          <a:ln w="28575">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7150E62E-C293-AFB3-5A3C-0ED9C2EAEAF6}"/>
              </a:ext>
            </a:extLst>
          </p:cNvPr>
          <p:cNvSpPr txBox="1"/>
          <p:nvPr/>
        </p:nvSpPr>
        <p:spPr>
          <a:xfrm>
            <a:off x="2590566" y="3995195"/>
            <a:ext cx="3262432" cy="400110"/>
          </a:xfrm>
          <a:prstGeom prst="rect">
            <a:avLst/>
          </a:prstGeom>
          <a:noFill/>
        </p:spPr>
        <p:txBody>
          <a:bodyPr wrap="none" rtlCol="0">
            <a:spAutoFit/>
          </a:bodyPr>
          <a:lstStyle/>
          <a:p>
            <a:r>
              <a:rPr kumimoji="1" lang="ja-JP" altLang="en-US" sz="2000" dirty="0">
                <a:latin typeface="メイリオ" panose="020B0604030504040204" pitchFamily="50" charset="-128"/>
                <a:ea typeface="メイリオ" panose="020B0604030504040204" pitchFamily="50" charset="-128"/>
              </a:rPr>
              <a:t>プロジェクターで壁に映す</a:t>
            </a:r>
          </a:p>
        </p:txBody>
      </p:sp>
      <p:cxnSp>
        <p:nvCxnSpPr>
          <p:cNvPr id="19" name="直線矢印コネクタ 18">
            <a:extLst>
              <a:ext uri="{FF2B5EF4-FFF2-40B4-BE49-F238E27FC236}">
                <a16:creationId xmlns:a16="http://schemas.microsoft.com/office/drawing/2014/main" id="{60C90250-1AEE-7A06-5323-3F910CE85ED5}"/>
              </a:ext>
            </a:extLst>
          </p:cNvPr>
          <p:cNvCxnSpPr>
            <a:cxnSpLocks/>
          </p:cNvCxnSpPr>
          <p:nvPr/>
        </p:nvCxnSpPr>
        <p:spPr>
          <a:xfrm flipV="1">
            <a:off x="4454502" y="3219707"/>
            <a:ext cx="557727" cy="589786"/>
          </a:xfrm>
          <a:prstGeom prst="straightConnector1">
            <a:avLst/>
          </a:prstGeom>
          <a:ln w="38100">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EB639B86-FDC4-A8E2-ADE2-692BBD2CF30E}"/>
              </a:ext>
            </a:extLst>
          </p:cNvPr>
          <p:cNvSpPr txBox="1"/>
          <p:nvPr/>
        </p:nvSpPr>
        <p:spPr>
          <a:xfrm>
            <a:off x="1540907" y="5519194"/>
            <a:ext cx="9110186" cy="461665"/>
          </a:xfrm>
          <a:prstGeom prst="rect">
            <a:avLst/>
          </a:prstGeom>
          <a:noFill/>
        </p:spPr>
        <p:txBody>
          <a:bodyPr wrap="none" rtlCol="0">
            <a:spAutoFit/>
          </a:bodyPr>
          <a:lstStyle/>
          <a:p>
            <a:r>
              <a:rPr lang="ja-JP" altLang="en-US" sz="2400" dirty="0">
                <a:latin typeface="メイリオ" panose="020B0604030504040204" pitchFamily="50" charset="-128"/>
                <a:ea typeface="メイリオ" panose="020B0604030504040204" pitchFamily="50" charset="-128"/>
              </a:rPr>
              <a:t>⇒ただし、</a:t>
            </a:r>
            <a:r>
              <a:rPr kumimoji="1" lang="ja-JP" altLang="en-US" sz="2400" dirty="0">
                <a:latin typeface="メイリオ" panose="020B0604030504040204" pitchFamily="50" charset="-128"/>
                <a:ea typeface="メイリオ" panose="020B0604030504040204" pitchFamily="50" charset="-128"/>
              </a:rPr>
              <a:t>吹き出しを使って葛藤を表現する方法は一様ではない</a:t>
            </a:r>
          </a:p>
        </p:txBody>
      </p:sp>
    </p:spTree>
    <p:extLst>
      <p:ext uri="{BB962C8B-B14F-4D97-AF65-F5344CB8AC3E}">
        <p14:creationId xmlns:p14="http://schemas.microsoft.com/office/powerpoint/2010/main" val="3465404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C0618-DB8B-2D88-23A1-02BBD6388118}"/>
            </a:ext>
          </a:extLst>
        </p:cNvPr>
        <p:cNvGrpSpPr/>
        <p:nvPr/>
      </p:nvGrpSpPr>
      <p:grpSpPr>
        <a:xfrm>
          <a:off x="0" y="0"/>
          <a:ext cx="0" cy="0"/>
          <a:chOff x="0" y="0"/>
          <a:chExt cx="0" cy="0"/>
        </a:xfrm>
      </p:grpSpPr>
      <p:sp>
        <p:nvSpPr>
          <p:cNvPr id="6" name="タイトル 1">
            <a:extLst>
              <a:ext uri="{FF2B5EF4-FFF2-40B4-BE49-F238E27FC236}">
                <a16:creationId xmlns:a16="http://schemas.microsoft.com/office/drawing/2014/main" id="{9D781DE5-A145-D9D1-1104-FB515A50FC9E}"/>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実験計画</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054796A3-476F-EBFC-AF6F-68352F0EA156}"/>
              </a:ext>
            </a:extLst>
          </p:cNvPr>
          <p:cNvSpPr/>
          <p:nvPr/>
        </p:nvSpPr>
        <p:spPr>
          <a:xfrm>
            <a:off x="158044" y="1286934"/>
            <a:ext cx="5791199" cy="5396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4" name="正方形/長方形 3">
            <a:extLst>
              <a:ext uri="{FF2B5EF4-FFF2-40B4-BE49-F238E27FC236}">
                <a16:creationId xmlns:a16="http://schemas.microsoft.com/office/drawing/2014/main" id="{90C1F900-F94D-703C-6CAB-1F21E285D989}"/>
              </a:ext>
            </a:extLst>
          </p:cNvPr>
          <p:cNvSpPr/>
          <p:nvPr/>
        </p:nvSpPr>
        <p:spPr>
          <a:xfrm>
            <a:off x="6242757" y="1286934"/>
            <a:ext cx="5791199" cy="5396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866C0A1D-C234-9BBA-4059-DF1B730DD064}"/>
              </a:ext>
            </a:extLst>
          </p:cNvPr>
          <p:cNvSpPr txBox="1"/>
          <p:nvPr/>
        </p:nvSpPr>
        <p:spPr>
          <a:xfrm>
            <a:off x="2370060" y="1551744"/>
            <a:ext cx="1367165" cy="523220"/>
          </a:xfrm>
          <a:prstGeom prst="rect">
            <a:avLst/>
          </a:prstGeom>
          <a:noFill/>
        </p:spPr>
        <p:txBody>
          <a:bodyPr wrap="square">
            <a:spAutoFit/>
          </a:bodyPr>
          <a:lstStyle/>
          <a:p>
            <a:r>
              <a:rPr lang="ja-JP" altLang="en-US" sz="2800" b="1" dirty="0">
                <a:latin typeface="メイリオ" panose="020B0604030504040204" pitchFamily="50" charset="-128"/>
                <a:ea typeface="メイリオ" panose="020B0604030504040204" pitchFamily="50" charset="-128"/>
              </a:rPr>
              <a:t>実験</a:t>
            </a:r>
            <a:r>
              <a:rPr lang="en-US" altLang="ja-JP" sz="2800" b="1" dirty="0">
                <a:latin typeface="メイリオ" panose="020B0604030504040204" pitchFamily="50" charset="-128"/>
                <a:ea typeface="メイリオ" panose="020B0604030504040204" pitchFamily="50" charset="-128"/>
              </a:rPr>
              <a:t>1</a:t>
            </a:r>
            <a:endParaRPr lang="ja-JP" altLang="en-US" sz="28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F4341734-6BCB-868F-A5BF-B7B33AB67002}"/>
              </a:ext>
            </a:extLst>
          </p:cNvPr>
          <p:cNvSpPr txBox="1"/>
          <p:nvPr/>
        </p:nvSpPr>
        <p:spPr>
          <a:xfrm>
            <a:off x="8680549" y="1551744"/>
            <a:ext cx="1367165" cy="523220"/>
          </a:xfrm>
          <a:prstGeom prst="rect">
            <a:avLst/>
          </a:prstGeom>
          <a:noFill/>
        </p:spPr>
        <p:txBody>
          <a:bodyPr wrap="square">
            <a:spAutoFit/>
          </a:bodyPr>
          <a:lstStyle/>
          <a:p>
            <a:r>
              <a:rPr lang="ja-JP" altLang="en-US" sz="2800" b="1" dirty="0">
                <a:latin typeface="メイリオ" panose="020B0604030504040204" pitchFamily="50" charset="-128"/>
                <a:ea typeface="メイリオ" panose="020B0604030504040204" pitchFamily="50" charset="-128"/>
              </a:rPr>
              <a:t>実験</a:t>
            </a:r>
            <a:r>
              <a:rPr lang="en-US" altLang="ja-JP" sz="2800" b="1" dirty="0">
                <a:latin typeface="メイリオ" panose="020B0604030504040204" pitchFamily="50" charset="-128"/>
                <a:ea typeface="メイリオ" panose="020B0604030504040204" pitchFamily="50" charset="-128"/>
              </a:rPr>
              <a:t>2</a:t>
            </a:r>
            <a:endParaRPr lang="ja-JP" altLang="en-US" sz="28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D565E06A-3D67-1E4D-B450-D7DC67C9ACBF}"/>
              </a:ext>
            </a:extLst>
          </p:cNvPr>
          <p:cNvSpPr txBox="1"/>
          <p:nvPr/>
        </p:nvSpPr>
        <p:spPr>
          <a:xfrm>
            <a:off x="355899" y="2387530"/>
            <a:ext cx="5395486" cy="707886"/>
          </a:xfrm>
          <a:prstGeom prst="rect">
            <a:avLst/>
          </a:prstGeom>
          <a:noFill/>
        </p:spPr>
        <p:txBody>
          <a:bodyPr wrap="square">
            <a:spAutoFit/>
          </a:bodyPr>
          <a:lstStyle/>
          <a:p>
            <a:r>
              <a:rPr lang="ja-JP" altLang="en-US" sz="2000" b="1" dirty="0">
                <a:latin typeface="メイリオ" panose="020B0604030504040204" pitchFamily="50" charset="-128"/>
                <a:ea typeface="メイリオ" panose="020B0604030504040204" pitchFamily="50" charset="-128"/>
              </a:rPr>
              <a:t>エージェントの勇気を最も感じさせる表現の選定（オンライン調査）</a:t>
            </a:r>
            <a:endParaRPr lang="en-US" altLang="ja-JP" sz="20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A4764EB5-9662-BDAE-74A7-779FA4DD2EFE}"/>
              </a:ext>
            </a:extLst>
          </p:cNvPr>
          <p:cNvSpPr txBox="1"/>
          <p:nvPr/>
        </p:nvSpPr>
        <p:spPr>
          <a:xfrm>
            <a:off x="6440615" y="2233642"/>
            <a:ext cx="5395486" cy="707886"/>
          </a:xfrm>
          <a:prstGeom prst="rect">
            <a:avLst/>
          </a:prstGeom>
          <a:noFill/>
        </p:spPr>
        <p:txBody>
          <a:bodyPr wrap="square">
            <a:spAutoFit/>
          </a:bodyPr>
          <a:lstStyle/>
          <a:p>
            <a:r>
              <a:rPr lang="ja-JP" altLang="en-US" sz="2000" b="1" dirty="0">
                <a:latin typeface="メイリオ" panose="020B0604030504040204" pitchFamily="50" charset="-128"/>
                <a:ea typeface="メイリオ" panose="020B0604030504040204" pitchFamily="50" charset="-128"/>
              </a:rPr>
              <a:t>エージェントの勇気ある行動が人の勇気を引き出す効果の検証</a:t>
            </a:r>
          </a:p>
        </p:txBody>
      </p:sp>
      <p:pic>
        <p:nvPicPr>
          <p:cNvPr id="24" name="図 23">
            <a:extLst>
              <a:ext uri="{FF2B5EF4-FFF2-40B4-BE49-F238E27FC236}">
                <a16:creationId xmlns:a16="http://schemas.microsoft.com/office/drawing/2014/main" id="{F3EDAD2E-BF19-BB05-FFCC-E226493954AA}"/>
              </a:ext>
            </a:extLst>
          </p:cNvPr>
          <p:cNvPicPr>
            <a:picLocks noChangeAspect="1"/>
          </p:cNvPicPr>
          <p:nvPr/>
        </p:nvPicPr>
        <p:blipFill>
          <a:blip r:embed="rId3"/>
          <a:stretch>
            <a:fillRect/>
          </a:stretch>
        </p:blipFill>
        <p:spPr>
          <a:xfrm>
            <a:off x="9815512" y="3711154"/>
            <a:ext cx="1914525" cy="2390775"/>
          </a:xfrm>
          <a:prstGeom prst="rect">
            <a:avLst/>
          </a:prstGeom>
        </p:spPr>
      </p:pic>
      <p:pic>
        <p:nvPicPr>
          <p:cNvPr id="26" name="グラフィックス 25" descr="山形の矢印 単色塗りつぶし">
            <a:extLst>
              <a:ext uri="{FF2B5EF4-FFF2-40B4-BE49-F238E27FC236}">
                <a16:creationId xmlns:a16="http://schemas.microsoft.com/office/drawing/2014/main" id="{8CC88711-B318-E813-BA89-960EB2EA43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0142" y="4515564"/>
            <a:ext cx="1019612" cy="781957"/>
          </a:xfrm>
          <a:prstGeom prst="rect">
            <a:avLst/>
          </a:prstGeom>
        </p:spPr>
      </p:pic>
      <p:sp>
        <p:nvSpPr>
          <p:cNvPr id="30" name="正方形/長方形 29">
            <a:extLst>
              <a:ext uri="{FF2B5EF4-FFF2-40B4-BE49-F238E27FC236}">
                <a16:creationId xmlns:a16="http://schemas.microsoft.com/office/drawing/2014/main" id="{078D72D3-5690-9000-A9EA-9C010CA7B29C}"/>
              </a:ext>
            </a:extLst>
          </p:cNvPr>
          <p:cNvSpPr/>
          <p:nvPr/>
        </p:nvSpPr>
        <p:spPr>
          <a:xfrm>
            <a:off x="78679" y="1208690"/>
            <a:ext cx="5949243" cy="5581807"/>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pic>
        <p:nvPicPr>
          <p:cNvPr id="31" name="図 30">
            <a:extLst>
              <a:ext uri="{FF2B5EF4-FFF2-40B4-BE49-F238E27FC236}">
                <a16:creationId xmlns:a16="http://schemas.microsoft.com/office/drawing/2014/main" id="{915BA0E5-B5C3-F76B-0EBF-DAD90A8F1A3A}"/>
              </a:ext>
            </a:extLst>
          </p:cNvPr>
          <p:cNvPicPr>
            <a:picLocks noChangeAspect="1"/>
          </p:cNvPicPr>
          <p:nvPr/>
        </p:nvPicPr>
        <p:blipFill>
          <a:blip r:embed="rId6"/>
          <a:stretch>
            <a:fillRect/>
          </a:stretch>
        </p:blipFill>
        <p:spPr>
          <a:xfrm>
            <a:off x="7883044" y="5093304"/>
            <a:ext cx="658464" cy="892833"/>
          </a:xfrm>
          <a:prstGeom prst="rect">
            <a:avLst/>
          </a:prstGeom>
        </p:spPr>
      </p:pic>
      <p:pic>
        <p:nvPicPr>
          <p:cNvPr id="51" name="図 50">
            <a:extLst>
              <a:ext uri="{FF2B5EF4-FFF2-40B4-BE49-F238E27FC236}">
                <a16:creationId xmlns:a16="http://schemas.microsoft.com/office/drawing/2014/main" id="{ACE41AFE-9355-1557-BBEC-D80D0CB2A343}"/>
              </a:ext>
            </a:extLst>
          </p:cNvPr>
          <p:cNvPicPr>
            <a:picLocks noChangeAspect="1"/>
          </p:cNvPicPr>
          <p:nvPr/>
        </p:nvPicPr>
        <p:blipFill>
          <a:blip r:embed="rId7"/>
          <a:stretch>
            <a:fillRect/>
          </a:stretch>
        </p:blipFill>
        <p:spPr>
          <a:xfrm>
            <a:off x="1374205" y="3760942"/>
            <a:ext cx="1211644" cy="921111"/>
          </a:xfrm>
          <a:prstGeom prst="rect">
            <a:avLst/>
          </a:prstGeom>
        </p:spPr>
      </p:pic>
      <p:pic>
        <p:nvPicPr>
          <p:cNvPr id="52" name="図 51">
            <a:extLst>
              <a:ext uri="{FF2B5EF4-FFF2-40B4-BE49-F238E27FC236}">
                <a16:creationId xmlns:a16="http://schemas.microsoft.com/office/drawing/2014/main" id="{AD77A26C-C4B3-ACC2-A9CA-0CA2054DE3E1}"/>
              </a:ext>
            </a:extLst>
          </p:cNvPr>
          <p:cNvPicPr>
            <a:picLocks noChangeAspect="1"/>
          </p:cNvPicPr>
          <p:nvPr/>
        </p:nvPicPr>
        <p:blipFill>
          <a:blip r:embed="rId8"/>
          <a:stretch>
            <a:fillRect/>
          </a:stretch>
        </p:blipFill>
        <p:spPr>
          <a:xfrm>
            <a:off x="3409432" y="3732926"/>
            <a:ext cx="1156327" cy="879059"/>
          </a:xfrm>
          <a:prstGeom prst="rect">
            <a:avLst/>
          </a:prstGeom>
        </p:spPr>
      </p:pic>
      <p:sp>
        <p:nvSpPr>
          <p:cNvPr id="53" name="矢印: 右 52">
            <a:extLst>
              <a:ext uri="{FF2B5EF4-FFF2-40B4-BE49-F238E27FC236}">
                <a16:creationId xmlns:a16="http://schemas.microsoft.com/office/drawing/2014/main" id="{53B0616A-2E85-7B63-8D3A-EF9BABE30BE8}"/>
              </a:ext>
            </a:extLst>
          </p:cNvPr>
          <p:cNvSpPr/>
          <p:nvPr/>
        </p:nvSpPr>
        <p:spPr>
          <a:xfrm>
            <a:off x="2808514" y="3992572"/>
            <a:ext cx="424543" cy="3597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54" name="図 53">
            <a:extLst>
              <a:ext uri="{FF2B5EF4-FFF2-40B4-BE49-F238E27FC236}">
                <a16:creationId xmlns:a16="http://schemas.microsoft.com/office/drawing/2014/main" id="{3E3992F0-C0D0-7B67-71A3-4307EC165679}"/>
              </a:ext>
            </a:extLst>
          </p:cNvPr>
          <p:cNvPicPr>
            <a:picLocks noChangeAspect="1"/>
          </p:cNvPicPr>
          <p:nvPr/>
        </p:nvPicPr>
        <p:blipFill>
          <a:blip r:embed="rId9"/>
          <a:stretch>
            <a:fillRect/>
          </a:stretch>
        </p:blipFill>
        <p:spPr>
          <a:xfrm>
            <a:off x="2238270" y="5183407"/>
            <a:ext cx="1498955" cy="1139530"/>
          </a:xfrm>
          <a:prstGeom prst="rect">
            <a:avLst/>
          </a:prstGeom>
        </p:spPr>
      </p:pic>
      <p:pic>
        <p:nvPicPr>
          <p:cNvPr id="56" name="Picture 4" descr="モクモク妄想">
            <a:extLst>
              <a:ext uri="{FF2B5EF4-FFF2-40B4-BE49-F238E27FC236}">
                <a16:creationId xmlns:a16="http://schemas.microsoft.com/office/drawing/2014/main" id="{724926C6-A97C-00E6-2258-6CA2EED47FF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715628" y="4071258"/>
            <a:ext cx="1344798" cy="1022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96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F2B0-841C-9977-24FE-0A051403105B}"/>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9FA558EA-E35B-FE5A-EBBB-430F05A9BA06}"/>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04B7B600-50D5-3823-7F81-2A7211C9F49D}"/>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実験</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1</a:t>
            </a:r>
          </a:p>
        </p:txBody>
      </p:sp>
      <p:sp>
        <p:nvSpPr>
          <p:cNvPr id="7" name="テキスト ボックス 6">
            <a:extLst>
              <a:ext uri="{FF2B5EF4-FFF2-40B4-BE49-F238E27FC236}">
                <a16:creationId xmlns:a16="http://schemas.microsoft.com/office/drawing/2014/main" id="{9D4DD65E-5974-6894-6131-D3FCC6E9AAAE}"/>
              </a:ext>
            </a:extLst>
          </p:cNvPr>
          <p:cNvSpPr txBox="1"/>
          <p:nvPr/>
        </p:nvSpPr>
        <p:spPr>
          <a:xfrm>
            <a:off x="618678" y="1163754"/>
            <a:ext cx="11256554" cy="954107"/>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目的：</a:t>
            </a:r>
            <a:r>
              <a:rPr lang="ja-JP" altLang="en-US" sz="2800" b="1" dirty="0">
                <a:latin typeface="メイリオ" panose="020B0604030504040204" pitchFamily="50" charset="-128"/>
                <a:ea typeface="メイリオ" panose="020B0604030504040204" pitchFamily="50" charset="-128"/>
              </a:rPr>
              <a:t>エージェントの勇気を最も感じさせる表現の選定（オンライン調査）</a:t>
            </a:r>
            <a:endParaRPr lang="en-US" altLang="ja-JP" sz="28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49A067C-43D3-B42A-0B89-2AEDE926D4E1}"/>
              </a:ext>
            </a:extLst>
          </p:cNvPr>
          <p:cNvSpPr txBox="1"/>
          <p:nvPr/>
        </p:nvSpPr>
        <p:spPr>
          <a:xfrm>
            <a:off x="505222" y="2605808"/>
            <a:ext cx="3100627"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条件</a:t>
            </a:r>
          </a:p>
        </p:txBody>
      </p:sp>
      <p:sp>
        <p:nvSpPr>
          <p:cNvPr id="10" name="コンテンツ プレースホルダー 2">
            <a:extLst>
              <a:ext uri="{FF2B5EF4-FFF2-40B4-BE49-F238E27FC236}">
                <a16:creationId xmlns:a16="http://schemas.microsoft.com/office/drawing/2014/main" id="{F2236535-01EF-6544-AFAB-F22252757708}"/>
              </a:ext>
            </a:extLst>
          </p:cNvPr>
          <p:cNvSpPr txBox="1">
            <a:spLocks/>
          </p:cNvSpPr>
          <p:nvPr/>
        </p:nvSpPr>
        <p:spPr>
          <a:xfrm>
            <a:off x="5499669" y="3429000"/>
            <a:ext cx="6608871" cy="2661894"/>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0" dirty="0">
                <a:latin typeface="メイリオ" panose="020B0604030504040204" pitchFamily="50" charset="-128"/>
                <a:ea typeface="メイリオ" panose="020B0604030504040204" pitchFamily="50" charset="-128"/>
              </a:rPr>
              <a:t>No-Conflict(Control)</a:t>
            </a:r>
          </a:p>
          <a:p>
            <a:pPr lvl="1"/>
            <a:r>
              <a:rPr lang="ja-JP" altLang="en-US" dirty="0">
                <a:latin typeface="メイリオ" panose="020B0604030504040204" pitchFamily="50" charset="-128"/>
                <a:ea typeface="メイリオ" panose="020B0604030504040204" pitchFamily="50" charset="-128"/>
              </a:rPr>
              <a:t>接近動機のみ表示される</a:t>
            </a:r>
            <a:endParaRPr lang="en-US" altLang="ja-JP" b="0" dirty="0">
              <a:latin typeface="メイリオ" panose="020B0604030504040204" pitchFamily="50" charset="-128"/>
              <a:ea typeface="メイリオ" panose="020B0604030504040204" pitchFamily="50" charset="-128"/>
            </a:endParaRPr>
          </a:p>
          <a:p>
            <a:r>
              <a:rPr lang="en-US" altLang="ja-JP" b="0" dirty="0">
                <a:latin typeface="メイリオ" panose="020B0604030504040204" pitchFamily="50" charset="-128"/>
                <a:ea typeface="メイリオ" panose="020B0604030504040204" pitchFamily="50" charset="-128"/>
              </a:rPr>
              <a:t>Conflict</a:t>
            </a:r>
          </a:p>
          <a:p>
            <a:pPr lvl="1"/>
            <a:r>
              <a:rPr lang="ja-JP" altLang="en-US" dirty="0">
                <a:latin typeface="メイリオ" panose="020B0604030504040204" pitchFamily="50" charset="-128"/>
                <a:ea typeface="メイリオ" panose="020B0604030504040204" pitchFamily="50" charset="-128"/>
              </a:rPr>
              <a:t>接近動機と回避動機が表示される</a:t>
            </a:r>
            <a:endParaRPr lang="en-US" altLang="ja-JP" b="0" dirty="0">
              <a:latin typeface="メイリオ" panose="020B0604030504040204" pitchFamily="50" charset="-128"/>
              <a:ea typeface="メイリオ" panose="020B0604030504040204" pitchFamily="50" charset="-128"/>
            </a:endParaRPr>
          </a:p>
        </p:txBody>
      </p:sp>
      <p:graphicFrame>
        <p:nvGraphicFramePr>
          <p:cNvPr id="3" name="表 2">
            <a:extLst>
              <a:ext uri="{FF2B5EF4-FFF2-40B4-BE49-F238E27FC236}">
                <a16:creationId xmlns:a16="http://schemas.microsoft.com/office/drawing/2014/main" id="{60FF992A-654D-45FD-4B6C-34C835E8A334}"/>
              </a:ext>
            </a:extLst>
          </p:cNvPr>
          <p:cNvGraphicFramePr>
            <a:graphicFrameLocks noGrp="1"/>
          </p:cNvGraphicFramePr>
          <p:nvPr>
            <p:extLst>
              <p:ext uri="{D42A27DB-BD31-4B8C-83A1-F6EECF244321}">
                <p14:modId xmlns:p14="http://schemas.microsoft.com/office/powerpoint/2010/main" val="3386671891"/>
              </p:ext>
            </p:extLst>
          </p:nvPr>
        </p:nvGraphicFramePr>
        <p:xfrm>
          <a:off x="644937" y="3276210"/>
          <a:ext cx="4473601" cy="2248881"/>
        </p:xfrm>
        <a:graphic>
          <a:graphicData uri="http://schemas.openxmlformats.org/drawingml/2006/table">
            <a:tbl>
              <a:tblPr/>
              <a:tblGrid>
                <a:gridCol w="474103">
                  <a:extLst>
                    <a:ext uri="{9D8B030D-6E8A-4147-A177-3AD203B41FA5}">
                      <a16:colId xmlns:a16="http://schemas.microsoft.com/office/drawing/2014/main" val="24610681"/>
                    </a:ext>
                  </a:extLst>
                </a:gridCol>
                <a:gridCol w="1999749">
                  <a:extLst>
                    <a:ext uri="{9D8B030D-6E8A-4147-A177-3AD203B41FA5}">
                      <a16:colId xmlns:a16="http://schemas.microsoft.com/office/drawing/2014/main" val="2117162621"/>
                    </a:ext>
                  </a:extLst>
                </a:gridCol>
                <a:gridCol w="1999749">
                  <a:extLst>
                    <a:ext uri="{9D8B030D-6E8A-4147-A177-3AD203B41FA5}">
                      <a16:colId xmlns:a16="http://schemas.microsoft.com/office/drawing/2014/main" val="1096694092"/>
                    </a:ext>
                  </a:extLst>
                </a:gridCol>
              </a:tblGrid>
              <a:tr h="437919">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1" dirty="0"/>
                        <a:t>Conflict presence</a:t>
                      </a:r>
                      <a:endParaRPr lang="en-US" sz="1600" b="1"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Presentation </a:t>
                      </a:r>
                    </a:p>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Style</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793342"/>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①</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No-Conflict</a:t>
                      </a:r>
                      <a:endParaRPr 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Sequential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7969755"/>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②</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Simultaneous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2519204"/>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③</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Sequential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0521873"/>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④</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Simultaneous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1260095"/>
                  </a:ext>
                </a:extLst>
              </a:tr>
            </a:tbl>
          </a:graphicData>
        </a:graphic>
      </p:graphicFrame>
      <p:sp>
        <p:nvSpPr>
          <p:cNvPr id="4" name="正方形/長方形 3">
            <a:extLst>
              <a:ext uri="{FF2B5EF4-FFF2-40B4-BE49-F238E27FC236}">
                <a16:creationId xmlns:a16="http://schemas.microsoft.com/office/drawing/2014/main" id="{BF345E42-BC23-DAE9-B74B-E9E39D49E78A}"/>
              </a:ext>
            </a:extLst>
          </p:cNvPr>
          <p:cNvSpPr/>
          <p:nvPr/>
        </p:nvSpPr>
        <p:spPr>
          <a:xfrm>
            <a:off x="1136285" y="3276210"/>
            <a:ext cx="1974777" cy="2248881"/>
          </a:xfrm>
          <a:prstGeom prst="rect">
            <a:avLst/>
          </a:prstGeom>
          <a:noFill/>
          <a:ln w="571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13BC1F6-0A76-F1D6-0030-7C3AE850458A}"/>
              </a:ext>
            </a:extLst>
          </p:cNvPr>
          <p:cNvSpPr txBox="1"/>
          <p:nvPr/>
        </p:nvSpPr>
        <p:spPr>
          <a:xfrm>
            <a:off x="6071531" y="2641644"/>
            <a:ext cx="5465149"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要因</a:t>
            </a:r>
            <a:r>
              <a:rPr kumimoji="1" lang="en-US" altLang="ja-JP" sz="2800" b="1" dirty="0">
                <a:latin typeface="メイリオ" panose="020B0604030504040204" pitchFamily="50" charset="-128"/>
                <a:ea typeface="メイリオ" panose="020B0604030504040204" pitchFamily="50" charset="-128"/>
              </a:rPr>
              <a:t>1: </a:t>
            </a:r>
            <a:r>
              <a:rPr lang="ja-JP" altLang="en-US" sz="2800" b="1" dirty="0">
                <a:latin typeface="メイリオ" panose="020B0604030504040204" pitchFamily="50" charset="-128"/>
                <a:ea typeface="メイリオ" panose="020B0604030504040204" pitchFamily="50" charset="-128"/>
              </a:rPr>
              <a:t>葛藤の有無</a:t>
            </a:r>
            <a:endParaRPr kumimoji="1" lang="en-US" altLang="ja-JP" sz="28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76245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2E56-9636-2A5E-37EF-90F3359E4222}"/>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A6F3EF29-4CFA-1C79-9901-55BC3523E053}"/>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4E807731-773C-3CC9-3A2C-DA967ACF8174}"/>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実験</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1</a:t>
            </a:r>
          </a:p>
        </p:txBody>
      </p:sp>
      <p:sp>
        <p:nvSpPr>
          <p:cNvPr id="10" name="コンテンツ プレースホルダー 2">
            <a:extLst>
              <a:ext uri="{FF2B5EF4-FFF2-40B4-BE49-F238E27FC236}">
                <a16:creationId xmlns:a16="http://schemas.microsoft.com/office/drawing/2014/main" id="{9412A8F2-5BD3-BE24-E371-57521D757D50}"/>
              </a:ext>
            </a:extLst>
          </p:cNvPr>
          <p:cNvSpPr txBox="1">
            <a:spLocks/>
          </p:cNvSpPr>
          <p:nvPr/>
        </p:nvSpPr>
        <p:spPr>
          <a:xfrm>
            <a:off x="5376980" y="3383925"/>
            <a:ext cx="6608871" cy="3024263"/>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0" dirty="0">
                <a:latin typeface="メイリオ" panose="020B0604030504040204" pitchFamily="50" charset="-128"/>
                <a:ea typeface="メイリオ" panose="020B0604030504040204" pitchFamily="50" charset="-128"/>
              </a:rPr>
              <a:t>Sequential</a:t>
            </a:r>
            <a:r>
              <a:rPr lang="ja-JP" altLang="en-US" b="0" dirty="0">
                <a:latin typeface="メイリオ" panose="020B0604030504040204" pitchFamily="50" charset="-128"/>
                <a:ea typeface="メイリオ" panose="020B0604030504040204" pitchFamily="50" charset="-128"/>
              </a:rPr>
              <a:t>（時間的な売れ動き）</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葛藤（接近動機と回避動機）が連続的に表示される</a:t>
            </a:r>
            <a:endParaRPr lang="en-US" altLang="ja-JP" b="0" dirty="0">
              <a:latin typeface="メイリオ" panose="020B0604030504040204" pitchFamily="50" charset="-128"/>
              <a:ea typeface="メイリオ" panose="020B0604030504040204" pitchFamily="50" charset="-128"/>
            </a:endParaRPr>
          </a:p>
          <a:p>
            <a:r>
              <a:rPr lang="en-US" altLang="ja-JP" b="0" dirty="0">
                <a:latin typeface="メイリオ" panose="020B0604030504040204" pitchFamily="50" charset="-128"/>
                <a:ea typeface="メイリオ" panose="020B0604030504040204" pitchFamily="50" charset="-128"/>
              </a:rPr>
              <a:t>Simultaneous</a:t>
            </a:r>
            <a:r>
              <a:rPr lang="ja-JP" altLang="en-US" b="0" dirty="0">
                <a:latin typeface="メイリオ" panose="020B0604030504040204" pitchFamily="50" charset="-128"/>
                <a:ea typeface="メイリオ" panose="020B0604030504040204" pitchFamily="50" charset="-128"/>
              </a:rPr>
              <a:t>（構造的な拮抗状態）</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葛藤（接近動機と回避動機）が天秤のように同時に表示される</a:t>
            </a:r>
            <a:endParaRPr lang="en-US" altLang="ja-JP" b="0" dirty="0">
              <a:latin typeface="メイリオ" panose="020B0604030504040204" pitchFamily="50" charset="-128"/>
              <a:ea typeface="メイリオ" panose="020B0604030504040204" pitchFamily="50" charset="-128"/>
            </a:endParaRPr>
          </a:p>
        </p:txBody>
      </p:sp>
      <p:graphicFrame>
        <p:nvGraphicFramePr>
          <p:cNvPr id="14" name="表 13">
            <a:extLst>
              <a:ext uri="{FF2B5EF4-FFF2-40B4-BE49-F238E27FC236}">
                <a16:creationId xmlns:a16="http://schemas.microsoft.com/office/drawing/2014/main" id="{79E0CD57-905A-4B7D-3BCE-A89CC1873147}"/>
              </a:ext>
            </a:extLst>
          </p:cNvPr>
          <p:cNvGraphicFramePr>
            <a:graphicFrameLocks noGrp="1"/>
          </p:cNvGraphicFramePr>
          <p:nvPr>
            <p:extLst>
              <p:ext uri="{D42A27DB-BD31-4B8C-83A1-F6EECF244321}">
                <p14:modId xmlns:p14="http://schemas.microsoft.com/office/powerpoint/2010/main" val="824010141"/>
              </p:ext>
            </p:extLst>
          </p:nvPr>
        </p:nvGraphicFramePr>
        <p:xfrm>
          <a:off x="644937" y="3276210"/>
          <a:ext cx="4473601" cy="2248881"/>
        </p:xfrm>
        <a:graphic>
          <a:graphicData uri="http://schemas.openxmlformats.org/drawingml/2006/table">
            <a:tbl>
              <a:tblPr/>
              <a:tblGrid>
                <a:gridCol w="474103">
                  <a:extLst>
                    <a:ext uri="{9D8B030D-6E8A-4147-A177-3AD203B41FA5}">
                      <a16:colId xmlns:a16="http://schemas.microsoft.com/office/drawing/2014/main" val="24610681"/>
                    </a:ext>
                  </a:extLst>
                </a:gridCol>
                <a:gridCol w="1999749">
                  <a:extLst>
                    <a:ext uri="{9D8B030D-6E8A-4147-A177-3AD203B41FA5}">
                      <a16:colId xmlns:a16="http://schemas.microsoft.com/office/drawing/2014/main" val="2117162621"/>
                    </a:ext>
                  </a:extLst>
                </a:gridCol>
                <a:gridCol w="1999749">
                  <a:extLst>
                    <a:ext uri="{9D8B030D-6E8A-4147-A177-3AD203B41FA5}">
                      <a16:colId xmlns:a16="http://schemas.microsoft.com/office/drawing/2014/main" val="1096694092"/>
                    </a:ext>
                  </a:extLst>
                </a:gridCol>
              </a:tblGrid>
              <a:tr h="437919">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1" dirty="0"/>
                        <a:t>Conflict presence</a:t>
                      </a:r>
                      <a:endParaRPr lang="en-US" sz="1600" b="1"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Presentation </a:t>
                      </a:r>
                    </a:p>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Style</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793342"/>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①</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No-Conflict</a:t>
                      </a:r>
                      <a:endParaRPr 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Sequential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7969755"/>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②</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Simultaneous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2519204"/>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③</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Sequential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0521873"/>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④</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Simultaneous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1260095"/>
                  </a:ext>
                </a:extLst>
              </a:tr>
            </a:tbl>
          </a:graphicData>
        </a:graphic>
      </p:graphicFrame>
      <p:sp>
        <p:nvSpPr>
          <p:cNvPr id="15" name="正方形/長方形 14">
            <a:extLst>
              <a:ext uri="{FF2B5EF4-FFF2-40B4-BE49-F238E27FC236}">
                <a16:creationId xmlns:a16="http://schemas.microsoft.com/office/drawing/2014/main" id="{90CFF489-121D-D8B1-7583-5D1534D5EA86}"/>
              </a:ext>
            </a:extLst>
          </p:cNvPr>
          <p:cNvSpPr/>
          <p:nvPr/>
        </p:nvSpPr>
        <p:spPr>
          <a:xfrm>
            <a:off x="3117489" y="3276210"/>
            <a:ext cx="1974777" cy="2248881"/>
          </a:xfrm>
          <a:prstGeom prst="rect">
            <a:avLst/>
          </a:prstGeom>
          <a:noFill/>
          <a:ln w="571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0E52EBA-3055-2C6A-55C6-AB971EF1295B}"/>
              </a:ext>
            </a:extLst>
          </p:cNvPr>
          <p:cNvSpPr txBox="1"/>
          <p:nvPr/>
        </p:nvSpPr>
        <p:spPr>
          <a:xfrm>
            <a:off x="618678" y="1163754"/>
            <a:ext cx="11256554"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目的：</a:t>
            </a:r>
            <a:r>
              <a:rPr lang="ja-JP" altLang="en-US" sz="2800" b="1" dirty="0">
                <a:latin typeface="メイリオ" panose="020B0604030504040204" pitchFamily="50" charset="-128"/>
                <a:ea typeface="メイリオ" panose="020B0604030504040204" pitchFamily="50" charset="-128"/>
              </a:rPr>
              <a:t>エージェントの勇気を最も感じさせる表現の選定</a:t>
            </a:r>
            <a:endParaRPr lang="en-US" altLang="ja-JP" sz="28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0E4832E7-6E11-7412-ED1F-7FC1C25D2ADE}"/>
              </a:ext>
            </a:extLst>
          </p:cNvPr>
          <p:cNvSpPr txBox="1"/>
          <p:nvPr/>
        </p:nvSpPr>
        <p:spPr>
          <a:xfrm>
            <a:off x="505222" y="2605808"/>
            <a:ext cx="3100627"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条件</a:t>
            </a:r>
          </a:p>
        </p:txBody>
      </p:sp>
      <p:sp>
        <p:nvSpPr>
          <p:cNvPr id="20" name="テキスト ボックス 19">
            <a:extLst>
              <a:ext uri="{FF2B5EF4-FFF2-40B4-BE49-F238E27FC236}">
                <a16:creationId xmlns:a16="http://schemas.microsoft.com/office/drawing/2014/main" id="{0873E58A-D283-28D6-927E-A74C93E5BA2C}"/>
              </a:ext>
            </a:extLst>
          </p:cNvPr>
          <p:cNvSpPr txBox="1"/>
          <p:nvPr/>
        </p:nvSpPr>
        <p:spPr>
          <a:xfrm>
            <a:off x="6071531" y="2641644"/>
            <a:ext cx="5465149"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rPr>
              <a:t>要因</a:t>
            </a:r>
            <a:r>
              <a:rPr lang="en-US" altLang="ja-JP" sz="2800" b="1" dirty="0">
                <a:latin typeface="メイリオ" panose="020B0604030504040204" pitchFamily="50" charset="-128"/>
                <a:ea typeface="メイリオ" panose="020B0604030504040204" pitchFamily="50" charset="-128"/>
              </a:rPr>
              <a:t>2:</a:t>
            </a:r>
            <a:r>
              <a:rPr lang="ja-JP" altLang="en-US" sz="2800" b="1" dirty="0">
                <a:latin typeface="メイリオ" panose="020B0604030504040204" pitchFamily="50" charset="-128"/>
                <a:ea typeface="メイリオ" panose="020B0604030504040204" pitchFamily="50" charset="-128"/>
              </a:rPr>
              <a:t> 表示方法</a:t>
            </a:r>
            <a:endParaRPr lang="en-US" altLang="ja-JP" sz="28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33079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8541-59F3-3FC6-D4A2-6FF85EDFEB9F}"/>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0E4E9ED1-6FEC-A31F-E0F2-F81F5320464B}"/>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E82A5C6C-0B5F-7E4C-AA36-B707644ED057}"/>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実験</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1</a:t>
            </a:r>
          </a:p>
        </p:txBody>
      </p:sp>
      <p:sp>
        <p:nvSpPr>
          <p:cNvPr id="7" name="テキスト ボックス 6">
            <a:extLst>
              <a:ext uri="{FF2B5EF4-FFF2-40B4-BE49-F238E27FC236}">
                <a16:creationId xmlns:a16="http://schemas.microsoft.com/office/drawing/2014/main" id="{838EA5C7-E3F2-7844-C325-8C672391848C}"/>
              </a:ext>
            </a:extLst>
          </p:cNvPr>
          <p:cNvSpPr txBox="1"/>
          <p:nvPr/>
        </p:nvSpPr>
        <p:spPr>
          <a:xfrm>
            <a:off x="966865" y="1277318"/>
            <a:ext cx="10906034"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rPr>
              <a:t>用意したシナリオ</a:t>
            </a:r>
            <a:r>
              <a:rPr lang="ja-JP" altLang="en-US" sz="2800" dirty="0">
                <a:latin typeface="メイリオ" panose="020B0604030504040204" pitchFamily="50" charset="-128"/>
                <a:ea typeface="メイリオ" panose="020B0604030504040204" pitchFamily="50" charset="-128"/>
              </a:rPr>
              <a:t>（参加者には事前に共有済み）</a:t>
            </a:r>
            <a:endParaRPr lang="en-US" altLang="ja-JP" sz="2800" dirty="0">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6DBE5F98-D0D9-7A95-401B-167D0CAC3086}"/>
              </a:ext>
            </a:extLst>
          </p:cNvPr>
          <p:cNvSpPr/>
          <p:nvPr/>
        </p:nvSpPr>
        <p:spPr>
          <a:xfrm>
            <a:off x="158044" y="2025570"/>
            <a:ext cx="5791199" cy="46574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28" name="正方形/長方形 27">
            <a:extLst>
              <a:ext uri="{FF2B5EF4-FFF2-40B4-BE49-F238E27FC236}">
                <a16:creationId xmlns:a16="http://schemas.microsoft.com/office/drawing/2014/main" id="{53591D09-CDC5-92A8-8989-C1824BF9DB8F}"/>
              </a:ext>
            </a:extLst>
          </p:cNvPr>
          <p:cNvSpPr/>
          <p:nvPr/>
        </p:nvSpPr>
        <p:spPr>
          <a:xfrm>
            <a:off x="6242757" y="2025570"/>
            <a:ext cx="5791199" cy="46574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0" name="テキスト ボックス 29">
            <a:extLst>
              <a:ext uri="{FF2B5EF4-FFF2-40B4-BE49-F238E27FC236}">
                <a16:creationId xmlns:a16="http://schemas.microsoft.com/office/drawing/2014/main" id="{FA72CF03-24DC-F0ED-899B-B372F10A7451}"/>
              </a:ext>
            </a:extLst>
          </p:cNvPr>
          <p:cNvSpPr txBox="1"/>
          <p:nvPr/>
        </p:nvSpPr>
        <p:spPr>
          <a:xfrm>
            <a:off x="200188" y="2655445"/>
            <a:ext cx="5722418" cy="1754326"/>
          </a:xfrm>
          <a:prstGeom prst="rect">
            <a:avLst/>
          </a:prstGeom>
          <a:noFill/>
        </p:spPr>
        <p:txBody>
          <a:bodyPr wrap="square">
            <a:spAutoFit/>
          </a:bodyPr>
          <a:lstStyle/>
          <a:p>
            <a:r>
              <a:rPr lang="ja-JP" altLang="en-US" i="0" dirty="0">
                <a:solidFill>
                  <a:srgbClr val="1D1C1D"/>
                </a:solidFill>
                <a:effectLst/>
                <a:latin typeface="メイリオ" panose="020B0604030504040204" pitchFamily="50" charset="-128"/>
                <a:ea typeface="メイリオ" panose="020B0604030504040204" pitchFamily="50" charset="-128"/>
              </a:rPr>
              <a:t>本シーンでは、ロボットが公園でごみをポイ捨てしている人を見ている様子をご覧いただきます。</a:t>
            </a:r>
            <a:br>
              <a:rPr lang="ja-JP" altLang="en-US" dirty="0">
                <a:latin typeface="メイリオ" panose="020B0604030504040204" pitchFamily="50" charset="-128"/>
                <a:ea typeface="メイリオ" panose="020B0604030504040204" pitchFamily="50" charset="-128"/>
              </a:rPr>
            </a:br>
            <a:r>
              <a:rPr lang="ja-JP" altLang="en-US" i="0" dirty="0">
                <a:solidFill>
                  <a:srgbClr val="1D1C1D"/>
                </a:solidFill>
                <a:effectLst/>
                <a:latin typeface="メイリオ" panose="020B0604030504040204" pitchFamily="50" charset="-128"/>
                <a:ea typeface="メイリオ" panose="020B0604030504040204" pitchFamily="50" charset="-128"/>
              </a:rPr>
              <a:t> ロボットは、その人に声をかけて注意すべきかどうか</a:t>
            </a:r>
            <a:r>
              <a:rPr lang="ja-JP" altLang="en-US" dirty="0">
                <a:solidFill>
                  <a:srgbClr val="1D1C1D"/>
                </a:solidFill>
                <a:latin typeface="メイリオ" panose="020B0604030504040204" pitchFamily="50" charset="-128"/>
                <a:ea typeface="メイリオ" panose="020B0604030504040204" pitchFamily="50" charset="-128"/>
              </a:rPr>
              <a:t>考えて</a:t>
            </a:r>
            <a:r>
              <a:rPr lang="ja-JP" altLang="en-US" i="0" dirty="0">
                <a:solidFill>
                  <a:srgbClr val="1D1C1D"/>
                </a:solidFill>
                <a:effectLst/>
                <a:latin typeface="メイリオ" panose="020B0604030504040204" pitchFamily="50" charset="-128"/>
                <a:ea typeface="メイリオ" panose="020B0604030504040204" pitchFamily="50" charset="-128"/>
              </a:rPr>
              <a:t>います。</a:t>
            </a:r>
            <a:br>
              <a:rPr lang="ja-JP" altLang="en-US" dirty="0">
                <a:latin typeface="メイリオ" panose="020B0604030504040204" pitchFamily="50" charset="-128"/>
                <a:ea typeface="メイリオ" panose="020B0604030504040204" pitchFamily="50" charset="-128"/>
              </a:rPr>
            </a:br>
            <a:r>
              <a:rPr lang="ja-JP" altLang="en-US" i="0" dirty="0">
                <a:solidFill>
                  <a:srgbClr val="1D1C1D"/>
                </a:solidFill>
                <a:effectLst/>
                <a:latin typeface="メイリオ" panose="020B0604030504040204" pitchFamily="50" charset="-128"/>
                <a:ea typeface="メイリオ" panose="020B0604030504040204" pitchFamily="50" charset="-128"/>
              </a:rPr>
              <a:t> 動画では、ロボットがその人に声をかけるべきかどうか考え、最終的に行動に移す様子までが含まれます</a:t>
            </a:r>
            <a:r>
              <a:rPr lang="ja-JP" altLang="en-US" b="1" i="0" dirty="0">
                <a:solidFill>
                  <a:srgbClr val="1D1C1D"/>
                </a:solidFill>
                <a:effectLst/>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7DA1E621-20C1-79FC-6D06-5916827AE342}"/>
              </a:ext>
            </a:extLst>
          </p:cNvPr>
          <p:cNvSpPr txBox="1"/>
          <p:nvPr/>
        </p:nvSpPr>
        <p:spPr>
          <a:xfrm>
            <a:off x="967426" y="2217483"/>
            <a:ext cx="4055987" cy="369332"/>
          </a:xfrm>
          <a:prstGeom prst="rect">
            <a:avLst/>
          </a:prstGeom>
          <a:noFill/>
        </p:spPr>
        <p:txBody>
          <a:bodyPr wrap="square">
            <a:spAutoFit/>
          </a:bodyPr>
          <a:lstStyle/>
          <a:p>
            <a:r>
              <a:rPr lang="en-US" altLang="ja-JP"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シーン１</a:t>
            </a:r>
            <a:r>
              <a:rPr lang="en-US" altLang="ja-JP"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ポイ捨てを注意する</a:t>
            </a:r>
          </a:p>
        </p:txBody>
      </p:sp>
      <p:sp>
        <p:nvSpPr>
          <p:cNvPr id="32" name="テキスト ボックス 31">
            <a:extLst>
              <a:ext uri="{FF2B5EF4-FFF2-40B4-BE49-F238E27FC236}">
                <a16:creationId xmlns:a16="http://schemas.microsoft.com/office/drawing/2014/main" id="{8E538A20-9686-04E7-DF1E-02EDE33499FA}"/>
              </a:ext>
            </a:extLst>
          </p:cNvPr>
          <p:cNvSpPr txBox="1"/>
          <p:nvPr/>
        </p:nvSpPr>
        <p:spPr>
          <a:xfrm>
            <a:off x="6419882" y="2655445"/>
            <a:ext cx="5479093" cy="1754326"/>
          </a:xfrm>
          <a:prstGeom prst="rect">
            <a:avLst/>
          </a:prstGeom>
          <a:noFill/>
        </p:spPr>
        <p:txBody>
          <a:bodyPr wrap="square">
            <a:spAutoFit/>
          </a:bodyPr>
          <a:lstStyle/>
          <a:p>
            <a:r>
              <a:rPr lang="ja-JP" altLang="en-US" dirty="0">
                <a:solidFill>
                  <a:srgbClr val="1D1C1D"/>
                </a:solidFill>
                <a:latin typeface="メイリオ" panose="020B0604030504040204" pitchFamily="50" charset="-128"/>
                <a:ea typeface="メイリオ" panose="020B0604030504040204" pitchFamily="50" charset="-128"/>
              </a:rPr>
              <a:t>本シーンでは、ロボットが人間とともに学校の教室で難しい授業を受けている様子をご覧いただきます。</a:t>
            </a:r>
            <a:br>
              <a:rPr lang="ja-JP" altLang="en-US" dirty="0">
                <a:solidFill>
                  <a:srgbClr val="1D1C1D"/>
                </a:solidFill>
                <a:latin typeface="メイリオ" panose="020B0604030504040204" pitchFamily="50" charset="-128"/>
                <a:ea typeface="メイリオ" panose="020B0604030504040204" pitchFamily="50" charset="-128"/>
              </a:rPr>
            </a:br>
            <a:r>
              <a:rPr lang="ja-JP" altLang="en-US" dirty="0">
                <a:solidFill>
                  <a:srgbClr val="1D1C1D"/>
                </a:solidFill>
                <a:latin typeface="メイリオ" panose="020B0604030504040204" pitchFamily="50" charset="-128"/>
                <a:ea typeface="メイリオ" panose="020B0604030504040204" pitchFamily="50" charset="-128"/>
              </a:rPr>
              <a:t> ロボットは、授業のわからない部分を、大勢の学生の前で先生に質問すべきかどうか考えています。</a:t>
            </a:r>
            <a:br>
              <a:rPr lang="ja-JP" altLang="en-US" dirty="0">
                <a:solidFill>
                  <a:srgbClr val="1D1C1D"/>
                </a:solidFill>
                <a:latin typeface="メイリオ" panose="020B0604030504040204" pitchFamily="50" charset="-128"/>
                <a:ea typeface="メイリオ" panose="020B0604030504040204" pitchFamily="50" charset="-128"/>
              </a:rPr>
            </a:br>
            <a:r>
              <a:rPr lang="ja-JP" altLang="en-US" dirty="0">
                <a:solidFill>
                  <a:srgbClr val="1D1C1D"/>
                </a:solidFill>
                <a:latin typeface="メイリオ" panose="020B0604030504040204" pitchFamily="50" charset="-128"/>
                <a:ea typeface="メイリオ" panose="020B0604030504040204" pitchFamily="50" charset="-128"/>
              </a:rPr>
              <a:t> 動画では、ロボットが先生に質問しようか考え、最終的に行動に移す様子までが含まれます。</a:t>
            </a:r>
          </a:p>
        </p:txBody>
      </p:sp>
      <p:sp>
        <p:nvSpPr>
          <p:cNvPr id="33" name="テキスト ボックス 32">
            <a:extLst>
              <a:ext uri="{FF2B5EF4-FFF2-40B4-BE49-F238E27FC236}">
                <a16:creationId xmlns:a16="http://schemas.microsoft.com/office/drawing/2014/main" id="{9B9852D8-ED72-9634-40C9-E76E1ADD055A}"/>
              </a:ext>
            </a:extLst>
          </p:cNvPr>
          <p:cNvSpPr txBox="1"/>
          <p:nvPr/>
        </p:nvSpPr>
        <p:spPr>
          <a:xfrm>
            <a:off x="7480693" y="2202599"/>
            <a:ext cx="4055987" cy="369332"/>
          </a:xfrm>
          <a:prstGeom prst="rect">
            <a:avLst/>
          </a:prstGeom>
          <a:noFill/>
        </p:spPr>
        <p:txBody>
          <a:bodyPr wrap="square">
            <a:spAutoFit/>
          </a:bodyPr>
          <a:lstStyle/>
          <a:p>
            <a:r>
              <a:rPr lang="en-US" altLang="ja-JP"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シーン２</a:t>
            </a:r>
            <a:r>
              <a:rPr lang="en-US" altLang="ja-JP"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授業中の質問</a:t>
            </a:r>
          </a:p>
        </p:txBody>
      </p:sp>
      <p:sp>
        <p:nvSpPr>
          <p:cNvPr id="35" name="テキスト ボックス 34">
            <a:extLst>
              <a:ext uri="{FF2B5EF4-FFF2-40B4-BE49-F238E27FC236}">
                <a16:creationId xmlns:a16="http://schemas.microsoft.com/office/drawing/2014/main" id="{4ED724BE-7CE0-F018-7F6C-9F241B7E237C}"/>
              </a:ext>
            </a:extLst>
          </p:cNvPr>
          <p:cNvSpPr txBox="1"/>
          <p:nvPr/>
        </p:nvSpPr>
        <p:spPr>
          <a:xfrm>
            <a:off x="266388" y="4547032"/>
            <a:ext cx="5614074" cy="2031325"/>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English </a:t>
            </a:r>
            <a:r>
              <a:rPr lang="en-US" altLang="ja-JP" dirty="0" err="1">
                <a:latin typeface="メイリオ" panose="020B0604030504040204" pitchFamily="50" charset="-128"/>
                <a:ea typeface="メイリオ" panose="020B0604030504040204" pitchFamily="50" charset="-128"/>
              </a:rPr>
              <a:t>ver</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In this scene, you will see a robot observing a person littering in a park.</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The robot is considering whether it should speak up and warn the person.</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The video shows the robot thinking about whether to address the person, and ultimately taking action.</a:t>
            </a:r>
            <a:endParaRPr lang="ja-JP" altLang="en-US"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9CE733BE-32AA-E4E5-2CA3-DB78A47817F1}"/>
              </a:ext>
            </a:extLst>
          </p:cNvPr>
          <p:cNvSpPr txBox="1"/>
          <p:nvPr/>
        </p:nvSpPr>
        <p:spPr>
          <a:xfrm>
            <a:off x="6242757" y="4430206"/>
            <a:ext cx="5858690" cy="2308324"/>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English </a:t>
            </a:r>
            <a:r>
              <a:rPr lang="en-US" altLang="ja-JP" dirty="0" err="1">
                <a:latin typeface="メイリオ" panose="020B0604030504040204" pitchFamily="50" charset="-128"/>
                <a:ea typeface="メイリオ" panose="020B0604030504040204" pitchFamily="50" charset="-128"/>
              </a:rPr>
              <a:t>ver</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In this scene, you will see a robot attending a difficult class together with humans in a school classroom.</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The robot is considering whether it should ask the teacher a question about something it does not understand, in front of many students.</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The video shows the robot thinking about whether to ask the teacher, and ultimately taking action.</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74585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D4CB-6BE7-BFB4-8923-4F71FF9231B0}"/>
            </a:ext>
          </a:extLst>
        </p:cNvPr>
        <p:cNvGrpSpPr/>
        <p:nvPr/>
      </p:nvGrpSpPr>
      <p:grpSpPr>
        <a:xfrm>
          <a:off x="0" y="0"/>
          <a:ext cx="0" cy="0"/>
          <a:chOff x="0" y="0"/>
          <a:chExt cx="0" cy="0"/>
        </a:xfrm>
      </p:grpSpPr>
      <p:sp>
        <p:nvSpPr>
          <p:cNvPr id="12" name="タイトル 1">
            <a:extLst>
              <a:ext uri="{FF2B5EF4-FFF2-40B4-BE49-F238E27FC236}">
                <a16:creationId xmlns:a16="http://schemas.microsoft.com/office/drawing/2014/main" id="{2750785B-CB92-7C19-524D-C977C9F9D92B}"/>
              </a:ext>
            </a:extLst>
          </p:cNvPr>
          <p:cNvSpPr txBox="1">
            <a:spLocks/>
          </p:cNvSpPr>
          <p:nvPr/>
        </p:nvSpPr>
        <p:spPr>
          <a:xfrm>
            <a:off x="322353" y="0"/>
            <a:ext cx="115472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dirty="0">
                <a:solidFill>
                  <a:schemeClr val="accent3">
                    <a:lumMod val="60000"/>
                    <a:lumOff val="40000"/>
                  </a:schemeClr>
                </a:solidFill>
                <a:latin typeface="メイリオ" panose="020B0604030504040204" pitchFamily="50" charset="-128"/>
                <a:ea typeface="メイリオ" panose="020B0604030504040204" pitchFamily="50" charset="-128"/>
              </a:rPr>
              <a:t>動画（採用された）</a:t>
            </a:r>
            <a:endParaRPr lang="en-US" altLang="ja-JP" sz="36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pic>
        <p:nvPicPr>
          <p:cNvPr id="2" name="00035">
            <a:hlinkClick r:id="" action="ppaction://media"/>
            <a:extLst>
              <a:ext uri="{FF2B5EF4-FFF2-40B4-BE49-F238E27FC236}">
                <a16:creationId xmlns:a16="http://schemas.microsoft.com/office/drawing/2014/main" id="{143D6AB7-EA09-8AAE-C3B1-1E97BEDB50F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747846" y="1604638"/>
            <a:ext cx="7297647" cy="4104927"/>
          </a:xfrm>
          <a:prstGeom prst="rect">
            <a:avLst/>
          </a:prstGeom>
        </p:spPr>
      </p:pic>
      <p:graphicFrame>
        <p:nvGraphicFramePr>
          <p:cNvPr id="9" name="表 8">
            <a:extLst>
              <a:ext uri="{FF2B5EF4-FFF2-40B4-BE49-F238E27FC236}">
                <a16:creationId xmlns:a16="http://schemas.microsoft.com/office/drawing/2014/main" id="{E9396671-70EA-671B-42D4-BED71BAE5698}"/>
              </a:ext>
            </a:extLst>
          </p:cNvPr>
          <p:cNvGraphicFramePr>
            <a:graphicFrameLocks noGrp="1"/>
          </p:cNvGraphicFramePr>
          <p:nvPr>
            <p:extLst>
              <p:ext uri="{D42A27DB-BD31-4B8C-83A1-F6EECF244321}">
                <p14:modId xmlns:p14="http://schemas.microsoft.com/office/powerpoint/2010/main" val="2481500331"/>
              </p:ext>
            </p:extLst>
          </p:nvPr>
        </p:nvGraphicFramePr>
        <p:xfrm>
          <a:off x="160250" y="2721040"/>
          <a:ext cx="4473601" cy="2248881"/>
        </p:xfrm>
        <a:graphic>
          <a:graphicData uri="http://schemas.openxmlformats.org/drawingml/2006/table">
            <a:tbl>
              <a:tblPr/>
              <a:tblGrid>
                <a:gridCol w="474103">
                  <a:extLst>
                    <a:ext uri="{9D8B030D-6E8A-4147-A177-3AD203B41FA5}">
                      <a16:colId xmlns:a16="http://schemas.microsoft.com/office/drawing/2014/main" val="24610681"/>
                    </a:ext>
                  </a:extLst>
                </a:gridCol>
                <a:gridCol w="1999749">
                  <a:extLst>
                    <a:ext uri="{9D8B030D-6E8A-4147-A177-3AD203B41FA5}">
                      <a16:colId xmlns:a16="http://schemas.microsoft.com/office/drawing/2014/main" val="2117162621"/>
                    </a:ext>
                  </a:extLst>
                </a:gridCol>
                <a:gridCol w="1999749">
                  <a:extLst>
                    <a:ext uri="{9D8B030D-6E8A-4147-A177-3AD203B41FA5}">
                      <a16:colId xmlns:a16="http://schemas.microsoft.com/office/drawing/2014/main" val="1096694092"/>
                    </a:ext>
                  </a:extLst>
                </a:gridCol>
              </a:tblGrid>
              <a:tr h="437919">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1" dirty="0"/>
                        <a:t>Conflict presence</a:t>
                      </a:r>
                      <a:endParaRPr lang="en-US" sz="1600" b="1"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Presentation </a:t>
                      </a:r>
                    </a:p>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Style</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793342"/>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①</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No-Conflict</a:t>
                      </a:r>
                      <a:endParaRPr 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Sequential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17969755"/>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②</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Simultaneous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2519204"/>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③</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Sequential</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0521873"/>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④</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Simultaneous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81260095"/>
                  </a:ext>
                </a:extLst>
              </a:tr>
            </a:tbl>
          </a:graphicData>
        </a:graphic>
      </p:graphicFrame>
    </p:spTree>
    <p:extLst>
      <p:ext uri="{BB962C8B-B14F-4D97-AF65-F5344CB8AC3E}">
        <p14:creationId xmlns:p14="http://schemas.microsoft.com/office/powerpoint/2010/main" val="3848922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6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33479-7399-1089-167B-056FA9679D76}"/>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A36513A0-3204-C482-BD0B-22BB33C88ACD}"/>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15E24454-61D3-F8B7-E0A2-73D2E75A257A}"/>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実験</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1</a:t>
            </a:r>
          </a:p>
        </p:txBody>
      </p:sp>
      <p:sp>
        <p:nvSpPr>
          <p:cNvPr id="7" name="テキスト ボックス 6">
            <a:extLst>
              <a:ext uri="{FF2B5EF4-FFF2-40B4-BE49-F238E27FC236}">
                <a16:creationId xmlns:a16="http://schemas.microsoft.com/office/drawing/2014/main" id="{E1591B91-D984-D61D-CD3E-0E99CE28DE63}"/>
              </a:ext>
            </a:extLst>
          </p:cNvPr>
          <p:cNvSpPr txBox="1"/>
          <p:nvPr/>
        </p:nvSpPr>
        <p:spPr>
          <a:xfrm>
            <a:off x="1005840" y="1334083"/>
            <a:ext cx="10906034"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rPr>
              <a:t>従属変数</a:t>
            </a:r>
            <a:endParaRPr kumimoji="1" lang="ja-JP" altLang="en-US" sz="2800" b="1" dirty="0">
              <a:latin typeface="メイリオ" panose="020B0604030504040204" pitchFamily="50" charset="-128"/>
              <a:ea typeface="メイリオ" panose="020B0604030504040204" pitchFamily="50" charset="-128"/>
            </a:endParaRPr>
          </a:p>
        </p:txBody>
      </p:sp>
      <p:sp>
        <p:nvSpPr>
          <p:cNvPr id="10" name="コンテンツ プレースホルダー 2">
            <a:extLst>
              <a:ext uri="{FF2B5EF4-FFF2-40B4-BE49-F238E27FC236}">
                <a16:creationId xmlns:a16="http://schemas.microsoft.com/office/drawing/2014/main" id="{17E74B9C-346D-EB09-D8D2-54268D8345BD}"/>
              </a:ext>
            </a:extLst>
          </p:cNvPr>
          <p:cNvSpPr txBox="1">
            <a:spLocks/>
          </p:cNvSpPr>
          <p:nvPr/>
        </p:nvSpPr>
        <p:spPr>
          <a:xfrm>
            <a:off x="752309" y="2110614"/>
            <a:ext cx="10906034" cy="3339924"/>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0" dirty="0">
                <a:latin typeface="メイリオ" panose="020B0604030504040204" pitchFamily="50" charset="-128"/>
                <a:ea typeface="メイリオ" panose="020B0604030504040204" pitchFamily="50" charset="-128"/>
              </a:rPr>
              <a:t>葛藤項目：どれだけエージェントが葛藤しているように見えるかを測る指標（マニピュレーションチェック）</a:t>
            </a:r>
            <a:endParaRPr lang="en-US" altLang="ja-JP" sz="2400" b="0" dirty="0">
              <a:latin typeface="メイリオ" panose="020B0604030504040204" pitchFamily="50" charset="-128"/>
              <a:ea typeface="メイリオ" panose="020B0604030504040204" pitchFamily="50" charset="-128"/>
            </a:endParaRPr>
          </a:p>
          <a:p>
            <a:r>
              <a:rPr lang="ja-JP" altLang="en-US" sz="2400" b="0" dirty="0">
                <a:latin typeface="メイリオ" panose="020B0604030504040204" pitchFamily="50" charset="-128"/>
                <a:ea typeface="メイリオ" panose="020B0604030504040204" pitchFamily="50" charset="-128"/>
              </a:rPr>
              <a:t>勇気尺度：どれだけエージェントが勇気を出して一歩踏み出しているように見えるかを測る指標</a:t>
            </a:r>
            <a:endParaRPr lang="en-US" altLang="ja-JP" sz="2400" b="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6158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43F05-5F6D-1C15-65D7-DA097706F11E}"/>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262F75EE-DFAB-FD33-26A7-8AF56310B362}"/>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D34B501B-509C-9933-BAEB-E16FC466DC48}"/>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結果</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41" name="コンテンツ プレースホルダー 2">
            <a:extLst>
              <a:ext uri="{FF2B5EF4-FFF2-40B4-BE49-F238E27FC236}">
                <a16:creationId xmlns:a16="http://schemas.microsoft.com/office/drawing/2014/main" id="{A8012017-52BB-986F-FF2B-AB1C4841BF99}"/>
              </a:ext>
            </a:extLst>
          </p:cNvPr>
          <p:cNvSpPr txBox="1">
            <a:spLocks/>
          </p:cNvSpPr>
          <p:nvPr/>
        </p:nvSpPr>
        <p:spPr>
          <a:xfrm>
            <a:off x="5241843" y="1184084"/>
            <a:ext cx="6379109" cy="5293360"/>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b="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613535C2-9988-615B-CD26-A02BB8F13B15}"/>
              </a:ext>
            </a:extLst>
          </p:cNvPr>
          <p:cNvSpPr txBox="1"/>
          <p:nvPr/>
        </p:nvSpPr>
        <p:spPr>
          <a:xfrm>
            <a:off x="5241843" y="983513"/>
            <a:ext cx="1620957" cy="523220"/>
          </a:xfrm>
          <a:prstGeom prst="rect">
            <a:avLst/>
          </a:prstGeom>
          <a:noFill/>
        </p:spPr>
        <p:txBody>
          <a:bodyPr wrap="none" rtlCol="0">
            <a:spAutoFit/>
          </a:bodyPr>
          <a:lstStyle/>
          <a:p>
            <a:r>
              <a:rPr kumimoji="1" lang="ja-JP" altLang="en-US" sz="2800" b="1" dirty="0">
                <a:latin typeface="メイリオ" panose="020B0604030504040204" pitchFamily="50" charset="-128"/>
                <a:ea typeface="メイリオ" panose="020B0604030504040204" pitchFamily="50" charset="-128"/>
              </a:rPr>
              <a:t>葛藤項目</a:t>
            </a:r>
          </a:p>
        </p:txBody>
      </p:sp>
      <p:sp>
        <p:nvSpPr>
          <p:cNvPr id="11" name="テキスト ボックス 10">
            <a:extLst>
              <a:ext uri="{FF2B5EF4-FFF2-40B4-BE49-F238E27FC236}">
                <a16:creationId xmlns:a16="http://schemas.microsoft.com/office/drawing/2014/main" id="{F0149C58-D727-B0F3-E301-964A49FC8271}"/>
              </a:ext>
            </a:extLst>
          </p:cNvPr>
          <p:cNvSpPr txBox="1"/>
          <p:nvPr/>
        </p:nvSpPr>
        <p:spPr>
          <a:xfrm>
            <a:off x="2339523" y="5741653"/>
            <a:ext cx="8932253" cy="830997"/>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葛藤なし条件＜葛藤あり条件⇒マニピュレーションチェック</a:t>
            </a:r>
            <a:r>
              <a:rPr kumimoji="1" lang="en-US" altLang="ja-JP" sz="2400" dirty="0">
                <a:latin typeface="メイリオ" panose="020B0604030504040204" pitchFamily="50" charset="-128"/>
                <a:ea typeface="メイリオ" panose="020B0604030504040204" pitchFamily="50" charset="-128"/>
              </a:rPr>
              <a:t>OK</a:t>
            </a:r>
          </a:p>
          <a:p>
            <a:r>
              <a:rPr lang="ja-JP" altLang="en-US" sz="2400" dirty="0">
                <a:latin typeface="メイリオ" panose="020B0604030504040204" pitchFamily="50" charset="-128"/>
                <a:ea typeface="メイリオ" panose="020B0604030504040204" pitchFamily="50" charset="-128"/>
              </a:rPr>
              <a:t>また、連続条件＜同時条件であった</a:t>
            </a:r>
            <a:endParaRPr kumimoji="1" lang="ja-JP" altLang="en-US" sz="2400" dirty="0">
              <a:latin typeface="メイリオ" panose="020B0604030504040204" pitchFamily="50" charset="-128"/>
              <a:ea typeface="メイリオ" panose="020B0604030504040204" pitchFamily="50" charset="-128"/>
            </a:endParaRPr>
          </a:p>
        </p:txBody>
      </p:sp>
      <p:sp>
        <p:nvSpPr>
          <p:cNvPr id="12" name="矢印: 右 11">
            <a:extLst>
              <a:ext uri="{FF2B5EF4-FFF2-40B4-BE49-F238E27FC236}">
                <a16:creationId xmlns:a16="http://schemas.microsoft.com/office/drawing/2014/main" id="{A13DE9C0-8974-2E39-B355-158862D5B654}"/>
              </a:ext>
            </a:extLst>
          </p:cNvPr>
          <p:cNvSpPr/>
          <p:nvPr/>
        </p:nvSpPr>
        <p:spPr>
          <a:xfrm>
            <a:off x="1233430" y="5836605"/>
            <a:ext cx="937549" cy="41694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34721156-AB0A-A855-4BCA-3A03AA8ECFA0}"/>
              </a:ext>
            </a:extLst>
          </p:cNvPr>
          <p:cNvPicPr>
            <a:picLocks noChangeAspect="1"/>
          </p:cNvPicPr>
          <p:nvPr/>
        </p:nvPicPr>
        <p:blipFill>
          <a:blip r:embed="rId3"/>
          <a:stretch>
            <a:fillRect/>
          </a:stretch>
        </p:blipFill>
        <p:spPr>
          <a:xfrm>
            <a:off x="1082743" y="1528049"/>
            <a:ext cx="4729833" cy="3928166"/>
          </a:xfrm>
          <a:prstGeom prst="rect">
            <a:avLst/>
          </a:prstGeom>
        </p:spPr>
      </p:pic>
      <p:pic>
        <p:nvPicPr>
          <p:cNvPr id="16" name="図 15">
            <a:extLst>
              <a:ext uri="{FF2B5EF4-FFF2-40B4-BE49-F238E27FC236}">
                <a16:creationId xmlns:a16="http://schemas.microsoft.com/office/drawing/2014/main" id="{75312FDA-5B29-E99D-19E9-717E77CE907C}"/>
              </a:ext>
            </a:extLst>
          </p:cNvPr>
          <p:cNvPicPr>
            <a:picLocks noChangeAspect="1"/>
          </p:cNvPicPr>
          <p:nvPr/>
        </p:nvPicPr>
        <p:blipFill>
          <a:blip r:embed="rId4"/>
          <a:stretch>
            <a:fillRect/>
          </a:stretch>
        </p:blipFill>
        <p:spPr>
          <a:xfrm>
            <a:off x="6259108" y="1505867"/>
            <a:ext cx="4729833" cy="3928166"/>
          </a:xfrm>
          <a:prstGeom prst="rect">
            <a:avLst/>
          </a:prstGeom>
        </p:spPr>
      </p:pic>
      <p:grpSp>
        <p:nvGrpSpPr>
          <p:cNvPr id="37" name="グループ化 36">
            <a:extLst>
              <a:ext uri="{FF2B5EF4-FFF2-40B4-BE49-F238E27FC236}">
                <a16:creationId xmlns:a16="http://schemas.microsoft.com/office/drawing/2014/main" id="{E5CAAED3-15E1-1B2D-87D7-C784F9104EC2}"/>
              </a:ext>
            </a:extLst>
          </p:cNvPr>
          <p:cNvGrpSpPr/>
          <p:nvPr/>
        </p:nvGrpSpPr>
        <p:grpSpPr>
          <a:xfrm>
            <a:off x="2416824" y="2274328"/>
            <a:ext cx="2272818" cy="276999"/>
            <a:chOff x="2476982" y="2688295"/>
            <a:chExt cx="2272818" cy="276999"/>
          </a:xfrm>
        </p:grpSpPr>
        <p:cxnSp>
          <p:nvCxnSpPr>
            <p:cNvPr id="20" name="直線コネクタ 19">
              <a:extLst>
                <a:ext uri="{FF2B5EF4-FFF2-40B4-BE49-F238E27FC236}">
                  <a16:creationId xmlns:a16="http://schemas.microsoft.com/office/drawing/2014/main" id="{DEE56B52-0AB0-4420-F403-3A032CF7E45E}"/>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05D63F48-2C34-C804-3A96-F744F62722B9}"/>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467B289E-FFF5-76E6-D1B0-C1BA5355845F}"/>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91354AC5-F975-E9EC-7A40-0E6832575D8E}"/>
                </a:ext>
              </a:extLst>
            </p:cNvPr>
            <p:cNvSpPr txBox="1"/>
            <p:nvPr/>
          </p:nvSpPr>
          <p:spPr>
            <a:xfrm>
              <a:off x="3496484" y="268829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38" name="グループ化 37">
            <a:extLst>
              <a:ext uri="{FF2B5EF4-FFF2-40B4-BE49-F238E27FC236}">
                <a16:creationId xmlns:a16="http://schemas.microsoft.com/office/drawing/2014/main" id="{5029BE5A-264E-5EA4-55C2-59C285228F11}"/>
              </a:ext>
            </a:extLst>
          </p:cNvPr>
          <p:cNvGrpSpPr/>
          <p:nvPr/>
        </p:nvGrpSpPr>
        <p:grpSpPr>
          <a:xfrm>
            <a:off x="7621850" y="2274328"/>
            <a:ext cx="2272818" cy="276999"/>
            <a:chOff x="2476982" y="2688295"/>
            <a:chExt cx="2272818" cy="276999"/>
          </a:xfrm>
        </p:grpSpPr>
        <p:cxnSp>
          <p:nvCxnSpPr>
            <p:cNvPr id="39" name="直線コネクタ 38">
              <a:extLst>
                <a:ext uri="{FF2B5EF4-FFF2-40B4-BE49-F238E27FC236}">
                  <a16:creationId xmlns:a16="http://schemas.microsoft.com/office/drawing/2014/main" id="{ABEAB64A-67A9-1BF8-8F6C-FEA261B02E62}"/>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9B246C94-5011-7204-7F12-4E8AC9022267}"/>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40B26B50-7FBC-2932-377E-5FB26D76E0AB}"/>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D9DC59DE-1879-9E02-C1E3-031F5AAAC650}"/>
                </a:ext>
              </a:extLst>
            </p:cNvPr>
            <p:cNvSpPr txBox="1"/>
            <p:nvPr/>
          </p:nvSpPr>
          <p:spPr>
            <a:xfrm>
              <a:off x="3496484" y="268829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56" name="グループ化 55">
            <a:extLst>
              <a:ext uri="{FF2B5EF4-FFF2-40B4-BE49-F238E27FC236}">
                <a16:creationId xmlns:a16="http://schemas.microsoft.com/office/drawing/2014/main" id="{81185EAE-C7F1-DE8C-4EB3-551037286864}"/>
              </a:ext>
            </a:extLst>
          </p:cNvPr>
          <p:cNvGrpSpPr/>
          <p:nvPr/>
        </p:nvGrpSpPr>
        <p:grpSpPr>
          <a:xfrm>
            <a:off x="2029782" y="2594368"/>
            <a:ext cx="798040" cy="276999"/>
            <a:chOff x="2476982" y="2688295"/>
            <a:chExt cx="2272818" cy="276999"/>
          </a:xfrm>
        </p:grpSpPr>
        <p:cxnSp>
          <p:nvCxnSpPr>
            <p:cNvPr id="57" name="直線コネクタ 56">
              <a:extLst>
                <a:ext uri="{FF2B5EF4-FFF2-40B4-BE49-F238E27FC236}">
                  <a16:creationId xmlns:a16="http://schemas.microsoft.com/office/drawing/2014/main" id="{1B4EC821-276A-B812-0E4C-90B45B72A56B}"/>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7DD03200-F3E9-4EDA-569E-262168332E27}"/>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5F84040D-2B9E-2332-5345-E171EAB533ED}"/>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69057842-0936-D584-49D7-6338279C9E96}"/>
                </a:ext>
              </a:extLst>
            </p:cNvPr>
            <p:cNvSpPr txBox="1"/>
            <p:nvPr/>
          </p:nvSpPr>
          <p:spPr>
            <a:xfrm>
              <a:off x="3279466" y="268829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61" name="グループ化 60">
            <a:extLst>
              <a:ext uri="{FF2B5EF4-FFF2-40B4-BE49-F238E27FC236}">
                <a16:creationId xmlns:a16="http://schemas.microsoft.com/office/drawing/2014/main" id="{9F4596D0-9A0C-935C-171E-8F16581CC92B}"/>
              </a:ext>
            </a:extLst>
          </p:cNvPr>
          <p:cNvGrpSpPr/>
          <p:nvPr/>
        </p:nvGrpSpPr>
        <p:grpSpPr>
          <a:xfrm>
            <a:off x="4299373" y="2015110"/>
            <a:ext cx="798040" cy="276999"/>
            <a:chOff x="2476982" y="2688295"/>
            <a:chExt cx="2272818" cy="276999"/>
          </a:xfrm>
        </p:grpSpPr>
        <p:cxnSp>
          <p:nvCxnSpPr>
            <p:cNvPr id="62" name="直線コネクタ 61">
              <a:extLst>
                <a:ext uri="{FF2B5EF4-FFF2-40B4-BE49-F238E27FC236}">
                  <a16:creationId xmlns:a16="http://schemas.microsoft.com/office/drawing/2014/main" id="{B6C1D94B-19EB-7C7A-69A8-1D3FCDC2F924}"/>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312AAA22-1E66-81A4-6C65-6C919A31CE40}"/>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1C5010A6-0391-2D5A-720C-769B272E6154}"/>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736526BF-2427-E81F-E091-15E39E074B8C}"/>
                </a:ext>
              </a:extLst>
            </p:cNvPr>
            <p:cNvSpPr txBox="1"/>
            <p:nvPr/>
          </p:nvSpPr>
          <p:spPr>
            <a:xfrm>
              <a:off x="3279466" y="268829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66" name="グループ化 65">
            <a:extLst>
              <a:ext uri="{FF2B5EF4-FFF2-40B4-BE49-F238E27FC236}">
                <a16:creationId xmlns:a16="http://schemas.microsoft.com/office/drawing/2014/main" id="{4C275B72-1BFD-1D54-76EA-14E265126670}"/>
              </a:ext>
            </a:extLst>
          </p:cNvPr>
          <p:cNvGrpSpPr/>
          <p:nvPr/>
        </p:nvGrpSpPr>
        <p:grpSpPr>
          <a:xfrm>
            <a:off x="7226057" y="2594368"/>
            <a:ext cx="798040" cy="276999"/>
            <a:chOff x="2476982" y="2688295"/>
            <a:chExt cx="2272818" cy="276999"/>
          </a:xfrm>
        </p:grpSpPr>
        <p:cxnSp>
          <p:nvCxnSpPr>
            <p:cNvPr id="67" name="直線コネクタ 66">
              <a:extLst>
                <a:ext uri="{FF2B5EF4-FFF2-40B4-BE49-F238E27FC236}">
                  <a16:creationId xmlns:a16="http://schemas.microsoft.com/office/drawing/2014/main" id="{91E97592-C301-FAC7-0569-111B8D47F9AC}"/>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5293E562-C866-C8D6-9CD8-6438B470C345}"/>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B8BFC218-C934-F31C-AE9B-01A66BA709AF}"/>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70" name="テキスト ボックス 69">
              <a:extLst>
                <a:ext uri="{FF2B5EF4-FFF2-40B4-BE49-F238E27FC236}">
                  <a16:creationId xmlns:a16="http://schemas.microsoft.com/office/drawing/2014/main" id="{65709EA4-9AB1-129D-F64D-7E9593D54959}"/>
                </a:ext>
              </a:extLst>
            </p:cNvPr>
            <p:cNvSpPr txBox="1"/>
            <p:nvPr/>
          </p:nvSpPr>
          <p:spPr>
            <a:xfrm>
              <a:off x="3279466" y="268829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71" name="グループ化 70">
            <a:extLst>
              <a:ext uri="{FF2B5EF4-FFF2-40B4-BE49-F238E27FC236}">
                <a16:creationId xmlns:a16="http://schemas.microsoft.com/office/drawing/2014/main" id="{8208F277-5091-ABB6-EF1F-E1C68364680C}"/>
              </a:ext>
            </a:extLst>
          </p:cNvPr>
          <p:cNvGrpSpPr/>
          <p:nvPr/>
        </p:nvGrpSpPr>
        <p:grpSpPr>
          <a:xfrm>
            <a:off x="9495648" y="2015110"/>
            <a:ext cx="798040" cy="276999"/>
            <a:chOff x="2476982" y="2688295"/>
            <a:chExt cx="2272818" cy="276999"/>
          </a:xfrm>
        </p:grpSpPr>
        <p:cxnSp>
          <p:nvCxnSpPr>
            <p:cNvPr id="72" name="直線コネクタ 71">
              <a:extLst>
                <a:ext uri="{FF2B5EF4-FFF2-40B4-BE49-F238E27FC236}">
                  <a16:creationId xmlns:a16="http://schemas.microsoft.com/office/drawing/2014/main" id="{BB10DE42-FEC5-DD62-8803-C0658F158823}"/>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4D8F5FF1-3BA5-67CA-7A64-E93070A39B3D}"/>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6297979D-FAA7-846F-C5ED-60D842C9B446}"/>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B28C3FAF-2A05-DB74-E36D-3D6CB1EA010E}"/>
                </a:ext>
              </a:extLst>
            </p:cNvPr>
            <p:cNvSpPr txBox="1"/>
            <p:nvPr/>
          </p:nvSpPr>
          <p:spPr>
            <a:xfrm>
              <a:off x="3279466" y="268829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82563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nodePh="1">
                                  <p:stCondLst>
                                    <p:cond delay="0"/>
                                  </p:stCondLst>
                                  <p:endCondLst>
                                    <p:cond evt="begin" delay="0">
                                      <p:tn val="5"/>
                                    </p:cond>
                                  </p:endCondLst>
                                  <p:childTnLst>
                                    <p:set>
                                      <p:cBhvr>
                                        <p:cTn id="6" dur="indefinite"/>
                                        <p:tgtEl>
                                          <p:spTgt spid="41">
                                            <p:txEl>
                                              <p:pRg st="0" end="0"/>
                                            </p:txEl>
                                          </p:spTgt>
                                        </p:tgtEl>
                                        <p:attrNameLst>
                                          <p:attrName>style.opacity</p:attrName>
                                        </p:attrNameLst>
                                      </p:cBhvr>
                                      <p:to>
                                        <p:strVal val="0.2"/>
                                      </p:to>
                                    </p:set>
                                    <p:animEffect filter="image" prLst="opacity: 0.2">
                                      <p:cBhvr rctx="IE">
                                        <p:cTn id="7" dur="indefinite"/>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1A86-64E0-DF76-6935-038B1360E365}"/>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A8F80285-73FC-3E9B-FB3E-6239B4C7BBDE}"/>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CAFF108B-8FC3-F01B-ED7E-8CB56DA48EEC}"/>
              </a:ext>
            </a:extLst>
          </p:cNvPr>
          <p:cNvSpPr txBox="1">
            <a:spLocks/>
          </p:cNvSpPr>
          <p:nvPr/>
        </p:nvSpPr>
        <p:spPr>
          <a:xfrm>
            <a:off x="473692" y="-88740"/>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結果</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41" name="コンテンツ プレースホルダー 2">
            <a:extLst>
              <a:ext uri="{FF2B5EF4-FFF2-40B4-BE49-F238E27FC236}">
                <a16:creationId xmlns:a16="http://schemas.microsoft.com/office/drawing/2014/main" id="{AC39AB30-B545-E255-B942-A24022961EE0}"/>
              </a:ext>
            </a:extLst>
          </p:cNvPr>
          <p:cNvSpPr txBox="1">
            <a:spLocks/>
          </p:cNvSpPr>
          <p:nvPr/>
        </p:nvSpPr>
        <p:spPr>
          <a:xfrm>
            <a:off x="5309970" y="1188721"/>
            <a:ext cx="6379109" cy="5293360"/>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b="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01240F5F-B0BE-C463-2CA6-1D1C733954F8}"/>
              </a:ext>
            </a:extLst>
          </p:cNvPr>
          <p:cNvSpPr txBox="1"/>
          <p:nvPr/>
        </p:nvSpPr>
        <p:spPr>
          <a:xfrm>
            <a:off x="5049970" y="579765"/>
            <a:ext cx="1620957" cy="523220"/>
          </a:xfrm>
          <a:prstGeom prst="rect">
            <a:avLst/>
          </a:prstGeom>
          <a:noFill/>
        </p:spPr>
        <p:txBody>
          <a:bodyPr wrap="none" rtlCol="0">
            <a:spAutoFit/>
          </a:bodyPr>
          <a:lstStyle/>
          <a:p>
            <a:r>
              <a:rPr kumimoji="1" lang="ja-JP" altLang="en-US" sz="2800" b="1" dirty="0">
                <a:latin typeface="メイリオ" panose="020B0604030504040204" pitchFamily="50" charset="-128"/>
                <a:ea typeface="メイリオ" panose="020B0604030504040204" pitchFamily="50" charset="-128"/>
              </a:rPr>
              <a:t>勇気尺度</a:t>
            </a:r>
          </a:p>
        </p:txBody>
      </p:sp>
      <p:sp>
        <p:nvSpPr>
          <p:cNvPr id="29" name="テキスト ボックス 28">
            <a:extLst>
              <a:ext uri="{FF2B5EF4-FFF2-40B4-BE49-F238E27FC236}">
                <a16:creationId xmlns:a16="http://schemas.microsoft.com/office/drawing/2014/main" id="{9E372426-2C37-F9A0-BBA2-57872FB2B5DE}"/>
              </a:ext>
            </a:extLst>
          </p:cNvPr>
          <p:cNvSpPr txBox="1"/>
          <p:nvPr/>
        </p:nvSpPr>
        <p:spPr>
          <a:xfrm>
            <a:off x="2271116" y="5854861"/>
            <a:ext cx="9417963" cy="830997"/>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葛藤のグラフと同じ傾向⇒葛藤をより感じる方が勇気も感じやすい</a:t>
            </a:r>
            <a:endParaRPr kumimoji="1"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また、連続表示り同時表示の方が勇気を感じやすい</a:t>
            </a:r>
            <a:endParaRPr kumimoji="1" lang="en-US" altLang="ja-JP" sz="2400" dirty="0">
              <a:latin typeface="メイリオ" panose="020B0604030504040204" pitchFamily="50" charset="-128"/>
              <a:ea typeface="メイリオ" panose="020B0604030504040204" pitchFamily="50" charset="-128"/>
            </a:endParaRPr>
          </a:p>
        </p:txBody>
      </p:sp>
      <p:sp>
        <p:nvSpPr>
          <p:cNvPr id="30" name="矢印: 右 29">
            <a:extLst>
              <a:ext uri="{FF2B5EF4-FFF2-40B4-BE49-F238E27FC236}">
                <a16:creationId xmlns:a16="http://schemas.microsoft.com/office/drawing/2014/main" id="{9D7621B1-7CA5-C2A5-E51A-A4E15382A498}"/>
              </a:ext>
            </a:extLst>
          </p:cNvPr>
          <p:cNvSpPr/>
          <p:nvPr/>
        </p:nvSpPr>
        <p:spPr>
          <a:xfrm>
            <a:off x="1174654" y="5965858"/>
            <a:ext cx="937549" cy="41694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9E1D3B88-9DF1-BA83-116E-6407EF25ED44}"/>
              </a:ext>
            </a:extLst>
          </p:cNvPr>
          <p:cNvPicPr>
            <a:picLocks noChangeAspect="1"/>
          </p:cNvPicPr>
          <p:nvPr/>
        </p:nvPicPr>
        <p:blipFill>
          <a:blip r:embed="rId3"/>
          <a:stretch>
            <a:fillRect/>
          </a:stretch>
        </p:blipFill>
        <p:spPr>
          <a:xfrm>
            <a:off x="425839" y="1047270"/>
            <a:ext cx="5386757" cy="4473748"/>
          </a:xfrm>
          <a:prstGeom prst="rect">
            <a:avLst/>
          </a:prstGeom>
        </p:spPr>
      </p:pic>
      <p:pic>
        <p:nvPicPr>
          <p:cNvPr id="45" name="図 44">
            <a:extLst>
              <a:ext uri="{FF2B5EF4-FFF2-40B4-BE49-F238E27FC236}">
                <a16:creationId xmlns:a16="http://schemas.microsoft.com/office/drawing/2014/main" id="{E9080D1C-F1F4-A6E3-37FA-1C13273CDF9F}"/>
              </a:ext>
            </a:extLst>
          </p:cNvPr>
          <p:cNvPicPr>
            <a:picLocks noChangeAspect="1"/>
          </p:cNvPicPr>
          <p:nvPr/>
        </p:nvPicPr>
        <p:blipFill>
          <a:blip r:embed="rId4"/>
          <a:stretch>
            <a:fillRect/>
          </a:stretch>
        </p:blipFill>
        <p:spPr>
          <a:xfrm>
            <a:off x="6023289" y="1056896"/>
            <a:ext cx="5386757" cy="4473748"/>
          </a:xfrm>
          <a:prstGeom prst="rect">
            <a:avLst/>
          </a:prstGeom>
        </p:spPr>
      </p:pic>
      <p:grpSp>
        <p:nvGrpSpPr>
          <p:cNvPr id="46" name="グループ化 45">
            <a:extLst>
              <a:ext uri="{FF2B5EF4-FFF2-40B4-BE49-F238E27FC236}">
                <a16:creationId xmlns:a16="http://schemas.microsoft.com/office/drawing/2014/main" id="{5591AA66-77A4-F7BC-CB5C-E11055155AA8}"/>
              </a:ext>
            </a:extLst>
          </p:cNvPr>
          <p:cNvGrpSpPr/>
          <p:nvPr/>
        </p:nvGrpSpPr>
        <p:grpSpPr>
          <a:xfrm>
            <a:off x="2566408" y="1592384"/>
            <a:ext cx="2452954" cy="320323"/>
            <a:chOff x="2476982" y="2721242"/>
            <a:chExt cx="2272818" cy="276999"/>
          </a:xfrm>
        </p:grpSpPr>
        <p:cxnSp>
          <p:nvCxnSpPr>
            <p:cNvPr id="47" name="直線コネクタ 46">
              <a:extLst>
                <a:ext uri="{FF2B5EF4-FFF2-40B4-BE49-F238E27FC236}">
                  <a16:creationId xmlns:a16="http://schemas.microsoft.com/office/drawing/2014/main" id="{5CC6F371-A289-4821-D563-E170D541F37D}"/>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ADF3CDBC-AFC8-A29E-CFBB-5634B419CCBF}"/>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8899CD53-E3C9-ED03-E875-45FD11DD2532}"/>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B89823C4-51A7-AC2B-075F-280B75A33E4E}"/>
                </a:ext>
              </a:extLst>
            </p:cNvPr>
            <p:cNvSpPr txBox="1"/>
            <p:nvPr/>
          </p:nvSpPr>
          <p:spPr>
            <a:xfrm>
              <a:off x="3492953" y="2721242"/>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51" name="グループ化 50">
            <a:extLst>
              <a:ext uri="{FF2B5EF4-FFF2-40B4-BE49-F238E27FC236}">
                <a16:creationId xmlns:a16="http://schemas.microsoft.com/office/drawing/2014/main" id="{8F9DD28A-DDE0-65B3-5C79-A8BD0C2310C1}"/>
              </a:ext>
            </a:extLst>
          </p:cNvPr>
          <p:cNvGrpSpPr/>
          <p:nvPr/>
        </p:nvGrpSpPr>
        <p:grpSpPr>
          <a:xfrm>
            <a:off x="1582447" y="1817477"/>
            <a:ext cx="2452954" cy="320323"/>
            <a:chOff x="2476982" y="2714655"/>
            <a:chExt cx="2272818" cy="276999"/>
          </a:xfrm>
        </p:grpSpPr>
        <p:cxnSp>
          <p:nvCxnSpPr>
            <p:cNvPr id="52" name="直線コネクタ 51">
              <a:extLst>
                <a:ext uri="{FF2B5EF4-FFF2-40B4-BE49-F238E27FC236}">
                  <a16:creationId xmlns:a16="http://schemas.microsoft.com/office/drawing/2014/main" id="{EAF52C7D-8234-AE28-CFB1-5B0FA2E491FF}"/>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E741E324-D88D-8261-6155-621CF04F42D8}"/>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F8228226-18C7-EF5B-3531-0617A25DEAA5}"/>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53765B45-76BF-1964-445F-49A283CCCAA9}"/>
                </a:ext>
              </a:extLst>
            </p:cNvPr>
            <p:cNvSpPr txBox="1"/>
            <p:nvPr/>
          </p:nvSpPr>
          <p:spPr>
            <a:xfrm>
              <a:off x="3496484" y="271465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56" name="グループ化 55">
            <a:extLst>
              <a:ext uri="{FF2B5EF4-FFF2-40B4-BE49-F238E27FC236}">
                <a16:creationId xmlns:a16="http://schemas.microsoft.com/office/drawing/2014/main" id="{2033437A-82D5-955F-3192-BC7C4D0FAD73}"/>
              </a:ext>
            </a:extLst>
          </p:cNvPr>
          <p:cNvGrpSpPr/>
          <p:nvPr/>
        </p:nvGrpSpPr>
        <p:grpSpPr>
          <a:xfrm>
            <a:off x="4012540" y="1327914"/>
            <a:ext cx="1006821" cy="231259"/>
            <a:chOff x="2476982" y="2670040"/>
            <a:chExt cx="2272818" cy="276999"/>
          </a:xfrm>
        </p:grpSpPr>
        <p:cxnSp>
          <p:nvCxnSpPr>
            <p:cNvPr id="57" name="直線コネクタ 56">
              <a:extLst>
                <a:ext uri="{FF2B5EF4-FFF2-40B4-BE49-F238E27FC236}">
                  <a16:creationId xmlns:a16="http://schemas.microsoft.com/office/drawing/2014/main" id="{8AA50BFA-27C5-B758-A4C7-704B8B3ABE8A}"/>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9022A262-218E-DE67-3C31-AB5523CE5433}"/>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5B673C7B-D55A-DC74-4327-8C6EDCFEAD68}"/>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3CDFBF15-C0EB-87C2-215A-2D9F747C6E62}"/>
                </a:ext>
              </a:extLst>
            </p:cNvPr>
            <p:cNvSpPr txBox="1"/>
            <p:nvPr/>
          </p:nvSpPr>
          <p:spPr>
            <a:xfrm>
              <a:off x="3301534" y="2670040"/>
              <a:ext cx="362930"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61" name="グループ化 60">
            <a:extLst>
              <a:ext uri="{FF2B5EF4-FFF2-40B4-BE49-F238E27FC236}">
                <a16:creationId xmlns:a16="http://schemas.microsoft.com/office/drawing/2014/main" id="{F9964156-E859-7C41-F448-5850637C920B}"/>
              </a:ext>
            </a:extLst>
          </p:cNvPr>
          <p:cNvGrpSpPr/>
          <p:nvPr/>
        </p:nvGrpSpPr>
        <p:grpSpPr>
          <a:xfrm>
            <a:off x="7204707" y="1817477"/>
            <a:ext cx="2425689" cy="320323"/>
            <a:chOff x="2476982" y="2714655"/>
            <a:chExt cx="2272818" cy="276999"/>
          </a:xfrm>
        </p:grpSpPr>
        <p:cxnSp>
          <p:nvCxnSpPr>
            <p:cNvPr id="62" name="直線コネクタ 61">
              <a:extLst>
                <a:ext uri="{FF2B5EF4-FFF2-40B4-BE49-F238E27FC236}">
                  <a16:creationId xmlns:a16="http://schemas.microsoft.com/office/drawing/2014/main" id="{9FD1F78B-5A9A-D23B-83DD-BF0BD774B149}"/>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D212E1E5-245D-30A1-0F39-9F7328CAA559}"/>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E3B1C97D-FA18-BE06-815F-8D720E2F5963}"/>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00AD5933-CBA3-B720-7D61-7C77AB995106}"/>
                </a:ext>
              </a:extLst>
            </p:cNvPr>
            <p:cNvSpPr txBox="1"/>
            <p:nvPr/>
          </p:nvSpPr>
          <p:spPr>
            <a:xfrm>
              <a:off x="3496484" y="271465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66" name="グループ化 65">
            <a:extLst>
              <a:ext uri="{FF2B5EF4-FFF2-40B4-BE49-F238E27FC236}">
                <a16:creationId xmlns:a16="http://schemas.microsoft.com/office/drawing/2014/main" id="{0A87697D-6D51-1ECD-9D08-032AB79F3D7E}"/>
              </a:ext>
            </a:extLst>
          </p:cNvPr>
          <p:cNvGrpSpPr/>
          <p:nvPr/>
        </p:nvGrpSpPr>
        <p:grpSpPr>
          <a:xfrm>
            <a:off x="8141521" y="1472090"/>
            <a:ext cx="2425689" cy="320323"/>
            <a:chOff x="2476982" y="2714655"/>
            <a:chExt cx="2272818" cy="276999"/>
          </a:xfrm>
        </p:grpSpPr>
        <p:cxnSp>
          <p:nvCxnSpPr>
            <p:cNvPr id="67" name="直線コネクタ 66">
              <a:extLst>
                <a:ext uri="{FF2B5EF4-FFF2-40B4-BE49-F238E27FC236}">
                  <a16:creationId xmlns:a16="http://schemas.microsoft.com/office/drawing/2014/main" id="{6A313DBD-4377-12DE-BFC2-737F2336E793}"/>
                </a:ext>
              </a:extLst>
            </p:cNvPr>
            <p:cNvCxnSpPr>
              <a:cxnSpLocks/>
            </p:cNvCxnSpPr>
            <p:nvPr/>
          </p:nvCxnSpPr>
          <p:spPr>
            <a:xfrm>
              <a:off x="2476982" y="2862355"/>
              <a:ext cx="2272818" cy="0"/>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AF74A17F-EC67-46F1-9504-1C394DA7CC9D}"/>
                </a:ext>
              </a:extLst>
            </p:cNvPr>
            <p:cNvCxnSpPr>
              <a:cxnSpLocks/>
            </p:cNvCxnSpPr>
            <p:nvPr/>
          </p:nvCxnSpPr>
          <p:spPr>
            <a:xfrm flipV="1">
              <a:off x="4749800"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FDADB73C-B4A9-5D3E-9D5F-E305A85DC195}"/>
                </a:ext>
              </a:extLst>
            </p:cNvPr>
            <p:cNvCxnSpPr>
              <a:cxnSpLocks/>
            </p:cNvCxnSpPr>
            <p:nvPr/>
          </p:nvCxnSpPr>
          <p:spPr>
            <a:xfrm flipV="1">
              <a:off x="2476982" y="2857275"/>
              <a:ext cx="0" cy="73885"/>
            </a:xfrm>
            <a:prstGeom prst="line">
              <a:avLst/>
            </a:prstGeom>
            <a:ln w="127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70" name="テキスト ボックス 69">
              <a:extLst>
                <a:ext uri="{FF2B5EF4-FFF2-40B4-BE49-F238E27FC236}">
                  <a16:creationId xmlns:a16="http://schemas.microsoft.com/office/drawing/2014/main" id="{B7BEBA06-44F2-8FCA-7B99-A54CF37468E9}"/>
                </a:ext>
              </a:extLst>
            </p:cNvPr>
            <p:cNvSpPr txBox="1"/>
            <p:nvPr/>
          </p:nvSpPr>
          <p:spPr>
            <a:xfrm>
              <a:off x="3496484" y="2714655"/>
              <a:ext cx="362929" cy="276999"/>
            </a:xfrm>
            <a:prstGeom prst="rect">
              <a:avLst/>
            </a:prstGeom>
            <a:noFill/>
          </p:spPr>
          <p:txBody>
            <a:bodyPr wrap="square" rtlCol="0">
              <a:spAutoFit/>
            </a:bodyPr>
            <a:lstStyle/>
            <a:p>
              <a:r>
                <a:rPr lang="ja-JP" altLang="en-US" sz="1200" b="1" dirty="0">
                  <a:latin typeface="メイリオ" panose="020B0604030504040204" pitchFamily="50" charset="-128"/>
                  <a:ea typeface="メイリオ" panose="020B0604030504040204" pitchFamily="50" charset="-128"/>
                </a:rPr>
                <a:t>*</a:t>
              </a:r>
              <a:endParaRPr kumimoji="1" lang="ja-JP" altLang="en-US" sz="1200" b="1" dirty="0">
                <a:latin typeface="メイリオ" panose="020B0604030504040204" pitchFamily="50" charset="-128"/>
                <a:ea typeface="メイリオ" panose="020B0604030504040204" pitchFamily="50" charset="-128"/>
              </a:endParaRPr>
            </a:p>
          </p:txBody>
        </p:sp>
      </p:grpSp>
    </p:spTree>
    <p:extLst>
      <p:ext uri="{BB962C8B-B14F-4D97-AF65-F5344CB8AC3E}">
        <p14:creationId xmlns:p14="http://schemas.microsoft.com/office/powerpoint/2010/main" val="233925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nodePh="1">
                                  <p:stCondLst>
                                    <p:cond delay="0"/>
                                  </p:stCondLst>
                                  <p:endCondLst>
                                    <p:cond evt="begin" delay="0">
                                      <p:tn val="5"/>
                                    </p:cond>
                                  </p:endCondLst>
                                  <p:childTnLst>
                                    <p:set>
                                      <p:cBhvr>
                                        <p:cTn id="6" dur="indefinite"/>
                                        <p:tgtEl>
                                          <p:spTgt spid="41">
                                            <p:txEl>
                                              <p:pRg st="0" end="0"/>
                                            </p:txEl>
                                          </p:spTgt>
                                        </p:tgtEl>
                                        <p:attrNameLst>
                                          <p:attrName>style.opacity</p:attrName>
                                        </p:attrNameLst>
                                      </p:cBhvr>
                                      <p:to>
                                        <p:strVal val="0.2"/>
                                      </p:to>
                                    </p:set>
                                    <p:animEffect filter="image" prLst="opacity: 0.2">
                                      <p:cBhvr rctx="IE">
                                        <p:cTn id="7" dur="indefinite"/>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3E03-8115-94D9-A5C7-4443FA39E8A5}"/>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5947F854-A3B7-33EB-13BD-7F8E0B92378E}"/>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b="0" dirty="0">
              <a:latin typeface="メイリオ" panose="020B0604030504040204" pitchFamily="50" charset="-128"/>
              <a:ea typeface="メイリオ" panose="020B0604030504040204" pitchFamily="50" charset="-128"/>
            </a:endParaRPr>
          </a:p>
        </p:txBody>
      </p:sp>
      <p:sp>
        <p:nvSpPr>
          <p:cNvPr id="6" name="タイトル 1">
            <a:extLst>
              <a:ext uri="{FF2B5EF4-FFF2-40B4-BE49-F238E27FC236}">
                <a16:creationId xmlns:a16="http://schemas.microsoft.com/office/drawing/2014/main" id="{FA6AB6FB-CE5B-9D37-8B82-256DC7BD5FD5}"/>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結論</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3F268A83-CD5A-4ED5-28B0-CA8B33849757}"/>
              </a:ext>
            </a:extLst>
          </p:cNvPr>
          <p:cNvSpPr txBox="1">
            <a:spLocks/>
          </p:cNvSpPr>
          <p:nvPr/>
        </p:nvSpPr>
        <p:spPr>
          <a:xfrm>
            <a:off x="763664" y="1445165"/>
            <a:ext cx="10929996" cy="483988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葛藤のスコアが高いと勇気のスコアも高い</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「葛藤＋行動＝勇気ある行動」の仮説を支持</a:t>
            </a:r>
            <a:endParaRPr lang="en-US" altLang="ja-JP"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最も勇気のスコアが高かったのは「葛藤あり</a:t>
            </a:r>
            <a:r>
              <a:rPr lang="en-US" altLang="ja-JP" b="0" dirty="0">
                <a:latin typeface="メイリオ" panose="020B0604030504040204" pitchFamily="50" charset="-128"/>
                <a:ea typeface="メイリオ" panose="020B0604030504040204" pitchFamily="50" charset="-128"/>
              </a:rPr>
              <a:t>×</a:t>
            </a:r>
            <a:r>
              <a:rPr lang="ja-JP" altLang="en-US" b="0" dirty="0">
                <a:latin typeface="メイリオ" panose="020B0604030504040204" pitchFamily="50" charset="-128"/>
                <a:ea typeface="メイリオ" panose="020B0604030504040204" pitchFamily="50" charset="-128"/>
              </a:rPr>
              <a:t>同時」条件</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a:t>
            </a:r>
            <a:r>
              <a:rPr lang="ja-JP" altLang="en-US" b="0" dirty="0">
                <a:latin typeface="メイリオ" panose="020B0604030504040204" pitchFamily="50" charset="-128"/>
                <a:ea typeface="メイリオ" panose="020B0604030504040204" pitchFamily="50" charset="-128"/>
              </a:rPr>
              <a:t>この条件を実験</a:t>
            </a:r>
            <a:r>
              <a:rPr lang="en-US" altLang="ja-JP" b="0" dirty="0">
                <a:latin typeface="メイリオ" panose="020B0604030504040204" pitchFamily="50" charset="-128"/>
                <a:ea typeface="メイリオ" panose="020B0604030504040204" pitchFamily="50" charset="-128"/>
              </a:rPr>
              <a:t>2</a:t>
            </a:r>
            <a:r>
              <a:rPr lang="ja-JP" altLang="en-US" dirty="0">
                <a:latin typeface="メイリオ" panose="020B0604030504040204" pitchFamily="50" charset="-128"/>
                <a:ea typeface="メイリオ" panose="020B0604030504040204" pitchFamily="50" charset="-128"/>
              </a:rPr>
              <a:t>で用いる</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全体の傾向として、葛藤項目、勇気尺度においてシーン２のスコアがシーン</a:t>
            </a:r>
            <a:r>
              <a:rPr lang="en-US" altLang="ja-JP" b="0" dirty="0">
                <a:latin typeface="メイリオ" panose="020B0604030504040204" pitchFamily="50" charset="-128"/>
                <a:ea typeface="メイリオ" panose="020B0604030504040204" pitchFamily="50" charset="-128"/>
              </a:rPr>
              <a:t>1</a:t>
            </a:r>
            <a:r>
              <a:rPr lang="ja-JP" altLang="en-US" b="0" dirty="0">
                <a:latin typeface="メイリオ" panose="020B0604030504040204" pitchFamily="50" charset="-128"/>
                <a:ea typeface="メイリオ" panose="020B0604030504040204" pitchFamily="50" charset="-128"/>
              </a:rPr>
              <a:t>に比べて低かった</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⇒授業中の質問という設定がコンフォートゾーン内の行動である参加者が多かったのではないか</a:t>
            </a:r>
            <a:endParaRPr lang="en-US" altLang="ja-JP"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⇒シーン</a:t>
            </a:r>
            <a:r>
              <a:rPr lang="en-US" altLang="ja-JP" b="0" dirty="0">
                <a:latin typeface="メイリオ" panose="020B0604030504040204" pitchFamily="50" charset="-128"/>
                <a:ea typeface="メイリオ" panose="020B0604030504040204" pitchFamily="50" charset="-128"/>
              </a:rPr>
              <a:t>1</a:t>
            </a:r>
            <a:r>
              <a:rPr lang="ja-JP" altLang="en-US" b="0" dirty="0">
                <a:latin typeface="メイリオ" panose="020B0604030504040204" pitchFamily="50" charset="-128"/>
                <a:ea typeface="メイリオ" panose="020B0604030504040204" pitchFamily="50" charset="-128"/>
              </a:rPr>
              <a:t>を実験</a:t>
            </a:r>
            <a:r>
              <a:rPr lang="en-US" altLang="ja-JP" b="0" dirty="0">
                <a:latin typeface="メイリオ" panose="020B0604030504040204" pitchFamily="50" charset="-128"/>
                <a:ea typeface="メイリオ" panose="020B0604030504040204" pitchFamily="50" charset="-128"/>
              </a:rPr>
              <a:t>2</a:t>
            </a:r>
            <a:r>
              <a:rPr lang="ja-JP" altLang="en-US" b="0" dirty="0">
                <a:latin typeface="メイリオ" panose="020B0604030504040204" pitchFamily="50" charset="-128"/>
                <a:ea typeface="メイリオ" panose="020B0604030504040204" pitchFamily="50" charset="-128"/>
              </a:rPr>
              <a:t>で用いる</a:t>
            </a:r>
            <a:endParaRPr lang="en-US" altLang="ja-JP" b="0" dirty="0">
              <a:latin typeface="メイリオ" panose="020B0604030504040204" pitchFamily="50" charset="-128"/>
              <a:ea typeface="メイリオ" panose="020B0604030504040204" pitchFamily="50" charset="-128"/>
            </a:endParaRPr>
          </a:p>
          <a:p>
            <a:pPr lvl="1"/>
            <a:endParaRPr lang="en-US" altLang="ja-JP" b="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7891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nodePh="1">
                                  <p:stCondLst>
                                    <p:cond delay="0"/>
                                  </p:stCondLst>
                                  <p:endCondLst>
                                    <p:cond evt="begin" delay="0">
                                      <p:tn val="5"/>
                                    </p:cond>
                                  </p:endCondLst>
                                  <p:childTnLst>
                                    <p:set>
                                      <p:cBhvr>
                                        <p:cTn id="6" dur="indefinite"/>
                                        <p:tgtEl>
                                          <p:spTgt spid="2">
                                            <p:txEl>
                                              <p:pRg st="0" end="0"/>
                                            </p:txEl>
                                          </p:spTgt>
                                        </p:tgtEl>
                                        <p:attrNameLst>
                                          <p:attrName>style.opacity</p:attrName>
                                        </p:attrNameLst>
                                      </p:cBhvr>
                                      <p:to>
                                        <p:strVal val="0.2"/>
                                      </p:to>
                                    </p:set>
                                    <p:animEffect filter="image" prLst="opacity: 0.2">
                                      <p:cBhvr rctx="IE">
                                        <p:cTn id="7" dur="indefinite"/>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B56E9-BD89-59CF-95ED-C92C4A147A08}"/>
            </a:ext>
          </a:extLst>
        </p:cNvPr>
        <p:cNvGrpSpPr/>
        <p:nvPr/>
      </p:nvGrpSpPr>
      <p:grpSpPr>
        <a:xfrm>
          <a:off x="0" y="0"/>
          <a:ext cx="0" cy="0"/>
          <a:chOff x="0" y="0"/>
          <a:chExt cx="0" cy="0"/>
        </a:xfrm>
      </p:grpSpPr>
      <p:sp>
        <p:nvSpPr>
          <p:cNvPr id="6" name="タイトル 1">
            <a:extLst>
              <a:ext uri="{FF2B5EF4-FFF2-40B4-BE49-F238E27FC236}">
                <a16:creationId xmlns:a16="http://schemas.microsoft.com/office/drawing/2014/main" id="{B2163740-A897-0593-88E7-6E620936D359}"/>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実験計画</a:t>
            </a:r>
            <a:endPar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6D5A34D-9711-A32A-9D1B-0F12231BA1D1}"/>
              </a:ext>
            </a:extLst>
          </p:cNvPr>
          <p:cNvSpPr/>
          <p:nvPr/>
        </p:nvSpPr>
        <p:spPr>
          <a:xfrm>
            <a:off x="158044" y="1286934"/>
            <a:ext cx="5791199" cy="5396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4" name="正方形/長方形 3">
            <a:extLst>
              <a:ext uri="{FF2B5EF4-FFF2-40B4-BE49-F238E27FC236}">
                <a16:creationId xmlns:a16="http://schemas.microsoft.com/office/drawing/2014/main" id="{5B9D5418-ECAA-7AE1-CDD4-9F62FAA2A298}"/>
              </a:ext>
            </a:extLst>
          </p:cNvPr>
          <p:cNvSpPr/>
          <p:nvPr/>
        </p:nvSpPr>
        <p:spPr>
          <a:xfrm>
            <a:off x="6242757" y="1286934"/>
            <a:ext cx="5791199" cy="5396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CCE94B3D-55A0-8010-CB44-38B3493F259F}"/>
              </a:ext>
            </a:extLst>
          </p:cNvPr>
          <p:cNvSpPr txBox="1"/>
          <p:nvPr/>
        </p:nvSpPr>
        <p:spPr>
          <a:xfrm>
            <a:off x="2370060" y="1551744"/>
            <a:ext cx="1367165" cy="523220"/>
          </a:xfrm>
          <a:prstGeom prst="rect">
            <a:avLst/>
          </a:prstGeom>
          <a:noFill/>
        </p:spPr>
        <p:txBody>
          <a:bodyPr wrap="square">
            <a:spAutoFit/>
          </a:bodyPr>
          <a:lstStyle/>
          <a:p>
            <a:r>
              <a:rPr lang="ja-JP" altLang="en-US" sz="2800" b="1" dirty="0">
                <a:latin typeface="メイリオ" panose="020B0604030504040204" pitchFamily="50" charset="-128"/>
                <a:ea typeface="メイリオ" panose="020B0604030504040204" pitchFamily="50" charset="-128"/>
              </a:rPr>
              <a:t>実験</a:t>
            </a:r>
            <a:r>
              <a:rPr lang="en-US" altLang="ja-JP" sz="2800" b="1" dirty="0">
                <a:latin typeface="メイリオ" panose="020B0604030504040204" pitchFamily="50" charset="-128"/>
                <a:ea typeface="メイリオ" panose="020B0604030504040204" pitchFamily="50" charset="-128"/>
              </a:rPr>
              <a:t>1</a:t>
            </a:r>
            <a:endParaRPr lang="ja-JP" altLang="en-US" sz="28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B99EF6FB-327A-92C9-44A0-63C55FD5F30F}"/>
              </a:ext>
            </a:extLst>
          </p:cNvPr>
          <p:cNvSpPr txBox="1"/>
          <p:nvPr/>
        </p:nvSpPr>
        <p:spPr>
          <a:xfrm>
            <a:off x="8680549" y="1551744"/>
            <a:ext cx="1367165" cy="523220"/>
          </a:xfrm>
          <a:prstGeom prst="rect">
            <a:avLst/>
          </a:prstGeom>
          <a:noFill/>
        </p:spPr>
        <p:txBody>
          <a:bodyPr wrap="square">
            <a:spAutoFit/>
          </a:bodyPr>
          <a:lstStyle/>
          <a:p>
            <a:r>
              <a:rPr lang="ja-JP" altLang="en-US" sz="2800" b="1" dirty="0">
                <a:latin typeface="メイリオ" panose="020B0604030504040204" pitchFamily="50" charset="-128"/>
                <a:ea typeface="メイリオ" panose="020B0604030504040204" pitchFamily="50" charset="-128"/>
              </a:rPr>
              <a:t>実験</a:t>
            </a:r>
            <a:r>
              <a:rPr lang="en-US" altLang="ja-JP" sz="2800" b="1" dirty="0">
                <a:latin typeface="メイリオ" panose="020B0604030504040204" pitchFamily="50" charset="-128"/>
                <a:ea typeface="メイリオ" panose="020B0604030504040204" pitchFamily="50" charset="-128"/>
              </a:rPr>
              <a:t>2</a:t>
            </a:r>
            <a:endParaRPr lang="ja-JP" altLang="en-US" sz="28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CF242B5-2825-71B6-C283-8A78571DA8E3}"/>
              </a:ext>
            </a:extLst>
          </p:cNvPr>
          <p:cNvSpPr txBox="1"/>
          <p:nvPr/>
        </p:nvSpPr>
        <p:spPr>
          <a:xfrm>
            <a:off x="355899" y="2387530"/>
            <a:ext cx="5395486" cy="707886"/>
          </a:xfrm>
          <a:prstGeom prst="rect">
            <a:avLst/>
          </a:prstGeom>
          <a:noFill/>
        </p:spPr>
        <p:txBody>
          <a:bodyPr wrap="square">
            <a:spAutoFit/>
          </a:bodyPr>
          <a:lstStyle/>
          <a:p>
            <a:r>
              <a:rPr lang="ja-JP" altLang="en-US" sz="2000" b="1" dirty="0">
                <a:latin typeface="メイリオ" panose="020B0604030504040204" pitchFamily="50" charset="-128"/>
                <a:ea typeface="メイリオ" panose="020B0604030504040204" pitchFamily="50" charset="-128"/>
              </a:rPr>
              <a:t>エージェントの勇気を最も感じさせる表現の選定（オンライン調査）</a:t>
            </a:r>
            <a:endParaRPr lang="en-US" altLang="ja-JP" sz="20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7A3B7445-98C3-B8C0-320C-56658F35FE57}"/>
              </a:ext>
            </a:extLst>
          </p:cNvPr>
          <p:cNvSpPr txBox="1"/>
          <p:nvPr/>
        </p:nvSpPr>
        <p:spPr>
          <a:xfrm>
            <a:off x="6440615" y="2233642"/>
            <a:ext cx="5395486" cy="707886"/>
          </a:xfrm>
          <a:prstGeom prst="rect">
            <a:avLst/>
          </a:prstGeom>
          <a:noFill/>
        </p:spPr>
        <p:txBody>
          <a:bodyPr wrap="square">
            <a:spAutoFit/>
          </a:bodyPr>
          <a:lstStyle/>
          <a:p>
            <a:r>
              <a:rPr lang="ja-JP" altLang="en-US" sz="2000" b="1" dirty="0">
                <a:latin typeface="メイリオ" panose="020B0604030504040204" pitchFamily="50" charset="-128"/>
                <a:ea typeface="メイリオ" panose="020B0604030504040204" pitchFamily="50" charset="-128"/>
              </a:rPr>
              <a:t>エージェントの勇気ある行動が人の勇気を引き出す効果の検証</a:t>
            </a:r>
          </a:p>
        </p:txBody>
      </p:sp>
      <p:pic>
        <p:nvPicPr>
          <p:cNvPr id="24" name="図 23">
            <a:extLst>
              <a:ext uri="{FF2B5EF4-FFF2-40B4-BE49-F238E27FC236}">
                <a16:creationId xmlns:a16="http://schemas.microsoft.com/office/drawing/2014/main" id="{591BB051-758E-F82D-8212-6A5AD9339475}"/>
              </a:ext>
            </a:extLst>
          </p:cNvPr>
          <p:cNvPicPr>
            <a:picLocks noChangeAspect="1"/>
          </p:cNvPicPr>
          <p:nvPr/>
        </p:nvPicPr>
        <p:blipFill>
          <a:blip r:embed="rId3"/>
          <a:stretch>
            <a:fillRect/>
          </a:stretch>
        </p:blipFill>
        <p:spPr>
          <a:xfrm>
            <a:off x="9815512" y="3711154"/>
            <a:ext cx="1914525" cy="2390775"/>
          </a:xfrm>
          <a:prstGeom prst="rect">
            <a:avLst/>
          </a:prstGeom>
        </p:spPr>
      </p:pic>
      <p:pic>
        <p:nvPicPr>
          <p:cNvPr id="26" name="グラフィックス 25" descr="山形の矢印 単色塗りつぶし">
            <a:extLst>
              <a:ext uri="{FF2B5EF4-FFF2-40B4-BE49-F238E27FC236}">
                <a16:creationId xmlns:a16="http://schemas.microsoft.com/office/drawing/2014/main" id="{E3C371E4-370B-F78F-8908-690DC1C652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0142" y="4515564"/>
            <a:ext cx="1019612" cy="781957"/>
          </a:xfrm>
          <a:prstGeom prst="rect">
            <a:avLst/>
          </a:prstGeom>
        </p:spPr>
      </p:pic>
      <p:sp>
        <p:nvSpPr>
          <p:cNvPr id="30" name="正方形/長方形 29">
            <a:extLst>
              <a:ext uri="{FF2B5EF4-FFF2-40B4-BE49-F238E27FC236}">
                <a16:creationId xmlns:a16="http://schemas.microsoft.com/office/drawing/2014/main" id="{5EEA5564-5EF8-1BE4-422A-334839D7ED21}"/>
              </a:ext>
            </a:extLst>
          </p:cNvPr>
          <p:cNvSpPr/>
          <p:nvPr/>
        </p:nvSpPr>
        <p:spPr>
          <a:xfrm>
            <a:off x="6158660" y="1208690"/>
            <a:ext cx="5949243" cy="5581807"/>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pic>
        <p:nvPicPr>
          <p:cNvPr id="31" name="図 30">
            <a:extLst>
              <a:ext uri="{FF2B5EF4-FFF2-40B4-BE49-F238E27FC236}">
                <a16:creationId xmlns:a16="http://schemas.microsoft.com/office/drawing/2014/main" id="{2F97A097-C421-1F69-5C24-7E5F28691972}"/>
              </a:ext>
            </a:extLst>
          </p:cNvPr>
          <p:cNvPicPr>
            <a:picLocks noChangeAspect="1"/>
          </p:cNvPicPr>
          <p:nvPr/>
        </p:nvPicPr>
        <p:blipFill>
          <a:blip r:embed="rId6"/>
          <a:stretch>
            <a:fillRect/>
          </a:stretch>
        </p:blipFill>
        <p:spPr>
          <a:xfrm>
            <a:off x="7883044" y="5093304"/>
            <a:ext cx="658464" cy="892833"/>
          </a:xfrm>
          <a:prstGeom prst="rect">
            <a:avLst/>
          </a:prstGeom>
        </p:spPr>
      </p:pic>
      <p:pic>
        <p:nvPicPr>
          <p:cNvPr id="51" name="図 50">
            <a:extLst>
              <a:ext uri="{FF2B5EF4-FFF2-40B4-BE49-F238E27FC236}">
                <a16:creationId xmlns:a16="http://schemas.microsoft.com/office/drawing/2014/main" id="{6566E716-4263-90B1-172E-CF0EA740267B}"/>
              </a:ext>
            </a:extLst>
          </p:cNvPr>
          <p:cNvPicPr>
            <a:picLocks noChangeAspect="1"/>
          </p:cNvPicPr>
          <p:nvPr/>
        </p:nvPicPr>
        <p:blipFill>
          <a:blip r:embed="rId7"/>
          <a:stretch>
            <a:fillRect/>
          </a:stretch>
        </p:blipFill>
        <p:spPr>
          <a:xfrm>
            <a:off x="1374205" y="3760942"/>
            <a:ext cx="1211644" cy="921111"/>
          </a:xfrm>
          <a:prstGeom prst="rect">
            <a:avLst/>
          </a:prstGeom>
        </p:spPr>
      </p:pic>
      <p:pic>
        <p:nvPicPr>
          <p:cNvPr id="52" name="図 51">
            <a:extLst>
              <a:ext uri="{FF2B5EF4-FFF2-40B4-BE49-F238E27FC236}">
                <a16:creationId xmlns:a16="http://schemas.microsoft.com/office/drawing/2014/main" id="{F7923144-9F4F-084F-B120-DE80FC878EA7}"/>
              </a:ext>
            </a:extLst>
          </p:cNvPr>
          <p:cNvPicPr>
            <a:picLocks noChangeAspect="1"/>
          </p:cNvPicPr>
          <p:nvPr/>
        </p:nvPicPr>
        <p:blipFill>
          <a:blip r:embed="rId8"/>
          <a:stretch>
            <a:fillRect/>
          </a:stretch>
        </p:blipFill>
        <p:spPr>
          <a:xfrm>
            <a:off x="3409432" y="3732926"/>
            <a:ext cx="1156327" cy="879059"/>
          </a:xfrm>
          <a:prstGeom prst="rect">
            <a:avLst/>
          </a:prstGeom>
        </p:spPr>
      </p:pic>
      <p:sp>
        <p:nvSpPr>
          <p:cNvPr id="53" name="矢印: 右 52">
            <a:extLst>
              <a:ext uri="{FF2B5EF4-FFF2-40B4-BE49-F238E27FC236}">
                <a16:creationId xmlns:a16="http://schemas.microsoft.com/office/drawing/2014/main" id="{A1E14EBC-6913-ACE1-1491-AB3096BEB3AF}"/>
              </a:ext>
            </a:extLst>
          </p:cNvPr>
          <p:cNvSpPr/>
          <p:nvPr/>
        </p:nvSpPr>
        <p:spPr>
          <a:xfrm>
            <a:off x="2808514" y="3992572"/>
            <a:ext cx="424543" cy="3597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54" name="図 53">
            <a:extLst>
              <a:ext uri="{FF2B5EF4-FFF2-40B4-BE49-F238E27FC236}">
                <a16:creationId xmlns:a16="http://schemas.microsoft.com/office/drawing/2014/main" id="{61CD6769-68A4-895D-D51D-3EB39EF47B0B}"/>
              </a:ext>
            </a:extLst>
          </p:cNvPr>
          <p:cNvPicPr>
            <a:picLocks noChangeAspect="1"/>
          </p:cNvPicPr>
          <p:nvPr/>
        </p:nvPicPr>
        <p:blipFill>
          <a:blip r:embed="rId9"/>
          <a:stretch>
            <a:fillRect/>
          </a:stretch>
        </p:blipFill>
        <p:spPr>
          <a:xfrm>
            <a:off x="2238270" y="5183407"/>
            <a:ext cx="1498955" cy="1139530"/>
          </a:xfrm>
          <a:prstGeom prst="rect">
            <a:avLst/>
          </a:prstGeom>
        </p:spPr>
      </p:pic>
      <p:pic>
        <p:nvPicPr>
          <p:cNvPr id="56" name="Picture 4" descr="モクモク妄想">
            <a:extLst>
              <a:ext uri="{FF2B5EF4-FFF2-40B4-BE49-F238E27FC236}">
                <a16:creationId xmlns:a16="http://schemas.microsoft.com/office/drawing/2014/main" id="{290738F2-FF91-3194-B867-F47347BB874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715628" y="4071258"/>
            <a:ext cx="1344798" cy="1022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14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C7507-438A-51E1-06BD-3BBB02C2F419}"/>
            </a:ext>
          </a:extLst>
        </p:cNvPr>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B6E5EAE0-CCF7-3EB1-00F0-EA0186B32409}"/>
              </a:ext>
            </a:extLst>
          </p:cNvPr>
          <p:cNvSpPr txBox="1">
            <a:spLocks/>
          </p:cNvSpPr>
          <p:nvPr/>
        </p:nvSpPr>
        <p:spPr>
          <a:xfrm>
            <a:off x="763664" y="1798320"/>
            <a:ext cx="10773016" cy="4992177"/>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b="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1543F6D0-1247-065A-AC9A-B50794680D13}"/>
              </a:ext>
            </a:extLst>
          </p:cNvPr>
          <p:cNvSpPr txBox="1"/>
          <p:nvPr/>
        </p:nvSpPr>
        <p:spPr>
          <a:xfrm>
            <a:off x="538468" y="1163754"/>
            <a:ext cx="11256554" cy="1384995"/>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目的：</a:t>
            </a:r>
            <a:r>
              <a:rPr lang="ja-JP" altLang="en-US" sz="2800" b="1" dirty="0">
                <a:latin typeface="メイリオ" panose="020B0604030504040204" pitchFamily="50" charset="-128"/>
                <a:ea typeface="メイリオ" panose="020B0604030504040204" pitchFamily="50" charset="-128"/>
              </a:rPr>
              <a:t>実験</a:t>
            </a:r>
            <a:r>
              <a:rPr lang="en-US" altLang="ja-JP" sz="2800" b="1" dirty="0">
                <a:latin typeface="メイリオ" panose="020B0604030504040204" pitchFamily="50" charset="-128"/>
                <a:ea typeface="メイリオ" panose="020B0604030504040204" pitchFamily="50" charset="-128"/>
              </a:rPr>
              <a:t>1</a:t>
            </a:r>
            <a:r>
              <a:rPr lang="ja-JP" altLang="en-US" sz="2800" b="1" dirty="0">
                <a:latin typeface="メイリオ" panose="020B0604030504040204" pitchFamily="50" charset="-128"/>
                <a:ea typeface="メイリオ" panose="020B0604030504040204" pitchFamily="50" charset="-128"/>
              </a:rPr>
              <a:t>で選定した最適な表現を用いて、エージェントの勇気ある行動を見たとき、ユーザーの勇気が高まるか検証する</a:t>
            </a:r>
          </a:p>
          <a:p>
            <a:endParaRPr lang="ja-JP" altLang="en-US" sz="28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AFDE1B9-3366-9224-D465-B26DED4A33F6}"/>
              </a:ext>
            </a:extLst>
          </p:cNvPr>
          <p:cNvSpPr txBox="1"/>
          <p:nvPr/>
        </p:nvSpPr>
        <p:spPr>
          <a:xfrm>
            <a:off x="6258566" y="2954003"/>
            <a:ext cx="3100627" cy="523220"/>
          </a:xfrm>
          <a:prstGeom prst="rect">
            <a:avLst/>
          </a:prstGeom>
          <a:noFill/>
        </p:spPr>
        <p:txBody>
          <a:bodyPr wrap="square" rtlCol="0">
            <a:spAutoFit/>
          </a:bodyPr>
          <a:lstStyle/>
          <a:p>
            <a:r>
              <a:rPr kumimoji="1" lang="ja-JP" altLang="en-US" sz="2800" b="1" dirty="0">
                <a:latin typeface="メイリオ" panose="020B0604030504040204" pitchFamily="50" charset="-128"/>
                <a:ea typeface="メイリオ" panose="020B0604030504040204" pitchFamily="50" charset="-128"/>
              </a:rPr>
              <a:t>独立変数</a:t>
            </a:r>
          </a:p>
        </p:txBody>
      </p:sp>
      <p:graphicFrame>
        <p:nvGraphicFramePr>
          <p:cNvPr id="8" name="表 7">
            <a:extLst>
              <a:ext uri="{FF2B5EF4-FFF2-40B4-BE49-F238E27FC236}">
                <a16:creationId xmlns:a16="http://schemas.microsoft.com/office/drawing/2014/main" id="{26EBC7B7-BEAE-21F3-2BB8-F05BCF399D9E}"/>
              </a:ext>
            </a:extLst>
          </p:cNvPr>
          <p:cNvGraphicFramePr>
            <a:graphicFrameLocks noGrp="1"/>
          </p:cNvGraphicFramePr>
          <p:nvPr>
            <p:extLst>
              <p:ext uri="{D42A27DB-BD31-4B8C-83A1-F6EECF244321}">
                <p14:modId xmlns:p14="http://schemas.microsoft.com/office/powerpoint/2010/main" val="1606308885"/>
              </p:ext>
            </p:extLst>
          </p:nvPr>
        </p:nvGraphicFramePr>
        <p:xfrm>
          <a:off x="6398281" y="3624405"/>
          <a:ext cx="4473601" cy="2189595"/>
        </p:xfrm>
        <a:graphic>
          <a:graphicData uri="http://schemas.openxmlformats.org/drawingml/2006/table">
            <a:tbl>
              <a:tblPr/>
              <a:tblGrid>
                <a:gridCol w="474103">
                  <a:extLst>
                    <a:ext uri="{9D8B030D-6E8A-4147-A177-3AD203B41FA5}">
                      <a16:colId xmlns:a16="http://schemas.microsoft.com/office/drawing/2014/main" val="24610681"/>
                    </a:ext>
                  </a:extLst>
                </a:gridCol>
                <a:gridCol w="1999749">
                  <a:extLst>
                    <a:ext uri="{9D8B030D-6E8A-4147-A177-3AD203B41FA5}">
                      <a16:colId xmlns:a16="http://schemas.microsoft.com/office/drawing/2014/main" val="2117162621"/>
                    </a:ext>
                  </a:extLst>
                </a:gridCol>
                <a:gridCol w="1999749">
                  <a:extLst>
                    <a:ext uri="{9D8B030D-6E8A-4147-A177-3AD203B41FA5}">
                      <a16:colId xmlns:a16="http://schemas.microsoft.com/office/drawing/2014/main" val="1096694092"/>
                    </a:ext>
                  </a:extLst>
                </a:gridCol>
              </a:tblGrid>
              <a:tr h="437919">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1" dirty="0"/>
                        <a:t>Conflict presence</a:t>
                      </a:r>
                      <a:endParaRPr lang="en-US" sz="1600" b="1"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Action presence</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793342"/>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①</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No-Conflict</a:t>
                      </a:r>
                      <a:endParaRPr 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7969755"/>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②</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2519204"/>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③</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0521873"/>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④</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1260095"/>
                  </a:ext>
                </a:extLst>
              </a:tr>
            </a:tbl>
          </a:graphicData>
        </a:graphic>
      </p:graphicFrame>
      <p:sp>
        <p:nvSpPr>
          <p:cNvPr id="12" name="タイトル 1">
            <a:extLst>
              <a:ext uri="{FF2B5EF4-FFF2-40B4-BE49-F238E27FC236}">
                <a16:creationId xmlns:a16="http://schemas.microsoft.com/office/drawing/2014/main" id="{8144D381-CB81-09C5-2CFF-9D9291D50C33}"/>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 2</a:t>
            </a:r>
          </a:p>
        </p:txBody>
      </p:sp>
      <p:sp>
        <p:nvSpPr>
          <p:cNvPr id="13" name="コンテンツ プレースホルダー 2">
            <a:extLst>
              <a:ext uri="{FF2B5EF4-FFF2-40B4-BE49-F238E27FC236}">
                <a16:creationId xmlns:a16="http://schemas.microsoft.com/office/drawing/2014/main" id="{A572A83B-C0D7-963D-35E4-E2DFDA607351}"/>
              </a:ext>
            </a:extLst>
          </p:cNvPr>
          <p:cNvSpPr txBox="1">
            <a:spLocks/>
          </p:cNvSpPr>
          <p:nvPr/>
        </p:nvSpPr>
        <p:spPr>
          <a:xfrm>
            <a:off x="611381" y="2489317"/>
            <a:ext cx="5484619" cy="3957488"/>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0" dirty="0">
                <a:latin typeface="メイリオ" panose="020B0604030504040204" pitchFamily="50" charset="-128"/>
                <a:ea typeface="メイリオ" panose="020B0604030504040204" pitchFamily="50" charset="-128"/>
              </a:rPr>
              <a:t>2</a:t>
            </a:r>
            <a:r>
              <a:rPr lang="ja-JP" altLang="en-US" b="0" dirty="0">
                <a:latin typeface="メイリオ" panose="020B0604030504040204" pitchFamily="50" charset="-128"/>
                <a:ea typeface="メイリオ" panose="020B0604030504040204" pitchFamily="50" charset="-128"/>
              </a:rPr>
              <a:t>要因</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葛藤の有無</a:t>
            </a:r>
            <a:endParaRPr lang="en-US" altLang="ja-JP"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行動の有無</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行動を要因に加えた理由</a:t>
            </a:r>
            <a:endParaRPr lang="en-US" altLang="ja-JP" b="0" dirty="0">
              <a:latin typeface="メイリオ" panose="020B0604030504040204" pitchFamily="50" charset="-128"/>
              <a:ea typeface="メイリオ" panose="020B0604030504040204" pitchFamily="50" charset="-128"/>
            </a:endParaRPr>
          </a:p>
          <a:p>
            <a:pPr lvl="1"/>
            <a:r>
              <a:rPr lang="ja-JP" altLang="en-US" b="0" dirty="0">
                <a:latin typeface="メイリオ" panose="020B0604030504040204" pitchFamily="50" charset="-128"/>
                <a:ea typeface="メイリオ" panose="020B0604030504040204" pitchFamily="50" charset="-128"/>
              </a:rPr>
              <a:t>葛藤の表現と、踏み出す決断のどちらが勇気づけに寄与するかを切り分けるため</a:t>
            </a:r>
            <a:endParaRPr lang="en-US" altLang="ja-JP" b="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48910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3B43-CE66-81D2-F8EB-8C2EDD870CF6}"/>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B4B4284-192B-29C4-B7BC-005AB37AFA64}"/>
              </a:ext>
            </a:extLst>
          </p:cNvPr>
          <p:cNvSpPr txBox="1"/>
          <p:nvPr/>
        </p:nvSpPr>
        <p:spPr>
          <a:xfrm>
            <a:off x="538468" y="1163754"/>
            <a:ext cx="11256554"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rPr>
              <a:t>実験設定</a:t>
            </a:r>
          </a:p>
        </p:txBody>
      </p:sp>
      <p:pic>
        <p:nvPicPr>
          <p:cNvPr id="5" name="グラフィックス 4" descr="ドキュメント 単色塗りつぶし">
            <a:extLst>
              <a:ext uri="{FF2B5EF4-FFF2-40B4-BE49-F238E27FC236}">
                <a16:creationId xmlns:a16="http://schemas.microsoft.com/office/drawing/2014/main" id="{BF1764A4-5D3E-ADA3-717B-C2AA1872DB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29278" y="3037114"/>
            <a:ext cx="914400" cy="914400"/>
          </a:xfrm>
          <a:prstGeom prst="rect">
            <a:avLst/>
          </a:prstGeom>
        </p:spPr>
      </p:pic>
      <p:pic>
        <p:nvPicPr>
          <p:cNvPr id="1026" name="Picture 2" descr="動画再生のアイコン02 | フリーのアイコンイラスト素材 icon-pit">
            <a:extLst>
              <a:ext uri="{FF2B5EF4-FFF2-40B4-BE49-F238E27FC236}">
                <a16:creationId xmlns:a16="http://schemas.microsoft.com/office/drawing/2014/main" id="{CCA2D900-3E49-5DA9-8572-E3A7153411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1320" y="2910549"/>
            <a:ext cx="1167530" cy="1167530"/>
          </a:xfrm>
          <a:prstGeom prst="rect">
            <a:avLst/>
          </a:prstGeom>
          <a:noFill/>
          <a:extLst>
            <a:ext uri="{909E8E84-426E-40DD-AFC4-6F175D3DCCD1}">
              <a14:hiddenFill xmlns:a14="http://schemas.microsoft.com/office/drawing/2010/main">
                <a:solidFill>
                  <a:srgbClr val="FFFFFF"/>
                </a:solidFill>
              </a14:hiddenFill>
            </a:ext>
          </a:extLst>
        </p:spPr>
      </p:pic>
      <p:pic>
        <p:nvPicPr>
          <p:cNvPr id="7" name="グラフィックス 6" descr="ドキュメント 単色塗りつぶし">
            <a:extLst>
              <a:ext uri="{FF2B5EF4-FFF2-40B4-BE49-F238E27FC236}">
                <a16:creationId xmlns:a16="http://schemas.microsoft.com/office/drawing/2014/main" id="{489E12BF-165D-756B-EC19-877A33BABE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13573" y="3037034"/>
            <a:ext cx="914400" cy="914400"/>
          </a:xfrm>
          <a:prstGeom prst="rect">
            <a:avLst/>
          </a:prstGeom>
        </p:spPr>
      </p:pic>
      <p:sp>
        <p:nvSpPr>
          <p:cNvPr id="8" name="矢印: 右 7">
            <a:extLst>
              <a:ext uri="{FF2B5EF4-FFF2-40B4-BE49-F238E27FC236}">
                <a16:creationId xmlns:a16="http://schemas.microsoft.com/office/drawing/2014/main" id="{C91F05E5-0EFC-D3C8-0EF5-2D368F21EB8C}"/>
              </a:ext>
            </a:extLst>
          </p:cNvPr>
          <p:cNvSpPr/>
          <p:nvPr/>
        </p:nvSpPr>
        <p:spPr>
          <a:xfrm>
            <a:off x="4303794" y="3305739"/>
            <a:ext cx="537410"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90198595-DC34-8894-192A-22A0C8CE6EED}"/>
              </a:ext>
            </a:extLst>
          </p:cNvPr>
          <p:cNvSpPr/>
          <p:nvPr/>
        </p:nvSpPr>
        <p:spPr>
          <a:xfrm>
            <a:off x="6799592" y="3305739"/>
            <a:ext cx="537410"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D9CA8D7-8F17-23D2-FBC8-B9FC69B2C825}"/>
              </a:ext>
            </a:extLst>
          </p:cNvPr>
          <p:cNvSpPr txBox="1"/>
          <p:nvPr/>
        </p:nvSpPr>
        <p:spPr>
          <a:xfrm>
            <a:off x="5217362" y="4168082"/>
            <a:ext cx="1227221" cy="369332"/>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rPr>
              <a:t>刺激提示</a:t>
            </a:r>
            <a:endParaRPr kumimoji="1" lang="ja-JP" altLang="en-US"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8947A129-6328-265D-2C8C-0E0E8A80AD46}"/>
              </a:ext>
            </a:extLst>
          </p:cNvPr>
          <p:cNvSpPr txBox="1"/>
          <p:nvPr/>
        </p:nvSpPr>
        <p:spPr>
          <a:xfrm>
            <a:off x="2602499" y="4168082"/>
            <a:ext cx="1893800" cy="369332"/>
          </a:xfrm>
          <a:prstGeom prst="rect">
            <a:avLst/>
          </a:prstGeom>
          <a:noFill/>
        </p:spPr>
        <p:txBody>
          <a:bodyPr wrap="square" rtlCol="0">
            <a:spAutoFit/>
          </a:bodyPr>
          <a:lstStyle/>
          <a:p>
            <a:r>
              <a:rPr kumimoji="1" lang="ja-JP" altLang="en-US" dirty="0">
                <a:latin typeface="メイリオ" panose="020B0604030504040204" pitchFamily="50" charset="-128"/>
                <a:ea typeface="メイリオ" panose="020B0604030504040204" pitchFamily="50" charset="-128"/>
              </a:rPr>
              <a:t>事前アンケート</a:t>
            </a:r>
          </a:p>
        </p:txBody>
      </p:sp>
      <p:sp>
        <p:nvSpPr>
          <p:cNvPr id="13" name="テキスト ボックス 12">
            <a:extLst>
              <a:ext uri="{FF2B5EF4-FFF2-40B4-BE49-F238E27FC236}">
                <a16:creationId xmlns:a16="http://schemas.microsoft.com/office/drawing/2014/main" id="{A4AD2A87-D59D-B84F-3B22-59DC2B81504B}"/>
              </a:ext>
            </a:extLst>
          </p:cNvPr>
          <p:cNvSpPr txBox="1"/>
          <p:nvPr/>
        </p:nvSpPr>
        <p:spPr>
          <a:xfrm>
            <a:off x="7288875" y="4168082"/>
            <a:ext cx="1893800" cy="369332"/>
          </a:xfrm>
          <a:prstGeom prst="rect">
            <a:avLst/>
          </a:prstGeom>
          <a:noFill/>
        </p:spPr>
        <p:txBody>
          <a:bodyPr wrap="square" rtlCol="0">
            <a:spAutoFit/>
          </a:bodyPr>
          <a:lstStyle/>
          <a:p>
            <a:r>
              <a:rPr lang="ja-JP" altLang="en-US" dirty="0">
                <a:latin typeface="メイリオ" panose="020B0604030504040204" pitchFamily="50" charset="-128"/>
                <a:ea typeface="メイリオ" panose="020B0604030504040204" pitchFamily="50" charset="-128"/>
              </a:rPr>
              <a:t>事後</a:t>
            </a:r>
            <a:r>
              <a:rPr kumimoji="1" lang="ja-JP" altLang="en-US" dirty="0">
                <a:latin typeface="メイリオ" panose="020B0604030504040204" pitchFamily="50" charset="-128"/>
                <a:ea typeface="メイリオ" panose="020B0604030504040204" pitchFamily="50" charset="-128"/>
              </a:rPr>
              <a:t>アンケート</a:t>
            </a:r>
          </a:p>
        </p:txBody>
      </p:sp>
      <p:sp>
        <p:nvSpPr>
          <p:cNvPr id="16" name="コンテンツ プレースホルダー 2">
            <a:extLst>
              <a:ext uri="{FF2B5EF4-FFF2-40B4-BE49-F238E27FC236}">
                <a16:creationId xmlns:a16="http://schemas.microsoft.com/office/drawing/2014/main" id="{2E1C1EA6-90D8-3075-27CE-B3CA98E61B5C}"/>
              </a:ext>
            </a:extLst>
          </p:cNvPr>
          <p:cNvSpPr txBox="1">
            <a:spLocks/>
          </p:cNvSpPr>
          <p:nvPr/>
        </p:nvSpPr>
        <p:spPr>
          <a:xfrm>
            <a:off x="2415175" y="2320723"/>
            <a:ext cx="6767501" cy="2601263"/>
          </a:xfrm>
          <a:prstGeom prst="rect">
            <a:avLst/>
          </a:prstGeom>
        </p:spPr>
        <p:txBody>
          <a:bodyPr>
            <a:normAutofit/>
          </a:bodyPr>
          <a:lst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0" dirty="0">
                <a:latin typeface="メイリオ" panose="020B0604030504040204" pitchFamily="50" charset="-128"/>
                <a:ea typeface="メイリオ" panose="020B0604030504040204" pitchFamily="50" charset="-128"/>
              </a:rPr>
              <a:t>実験手続き</a:t>
            </a:r>
            <a:endParaRPr lang="en-US" altLang="ja-JP" b="0" dirty="0">
              <a:latin typeface="メイリオ" panose="020B0604030504040204" pitchFamily="50" charset="-128"/>
              <a:ea typeface="メイリオ" panose="020B0604030504040204" pitchFamily="50" charset="-128"/>
            </a:endParaRPr>
          </a:p>
          <a:p>
            <a:endParaRPr lang="en-US" altLang="ja-JP" b="0" dirty="0">
              <a:latin typeface="メイリオ" panose="020B0604030504040204" pitchFamily="50" charset="-128"/>
              <a:ea typeface="メイリオ" panose="020B0604030504040204" pitchFamily="50" charset="-128"/>
            </a:endParaRPr>
          </a:p>
          <a:p>
            <a:pPr lvl="1"/>
            <a:endParaRPr lang="en-US" altLang="ja-JP" b="0" dirty="0">
              <a:latin typeface="メイリオ" panose="020B0604030504040204" pitchFamily="50" charset="-128"/>
              <a:ea typeface="メイリオ" panose="020B0604030504040204" pitchFamily="50" charset="-128"/>
            </a:endParaRPr>
          </a:p>
        </p:txBody>
      </p:sp>
      <p:sp>
        <p:nvSpPr>
          <p:cNvPr id="23" name="タイトル 1">
            <a:extLst>
              <a:ext uri="{FF2B5EF4-FFF2-40B4-BE49-F238E27FC236}">
                <a16:creationId xmlns:a16="http://schemas.microsoft.com/office/drawing/2014/main" id="{93753A6D-0249-CDD4-00C5-FE4770001FE4}"/>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 2</a:t>
            </a:r>
          </a:p>
        </p:txBody>
      </p:sp>
    </p:spTree>
    <p:extLst>
      <p:ext uri="{BB962C8B-B14F-4D97-AF65-F5344CB8AC3E}">
        <p14:creationId xmlns:p14="http://schemas.microsoft.com/office/powerpoint/2010/main" val="2943088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57B5D60-1A10-490A-988B-6E99613A8F93}"/>
              </a:ext>
            </a:extLst>
          </p:cNvPr>
          <p:cNvSpPr>
            <a:spLocks noGrp="1"/>
          </p:cNvSpPr>
          <p:nvPr>
            <p:ph idx="1"/>
          </p:nvPr>
        </p:nvSpPr>
        <p:spPr>
          <a:xfrm>
            <a:off x="1618538" y="1951668"/>
            <a:ext cx="8954923" cy="4007273"/>
          </a:xfrm>
        </p:spPr>
        <p:txBody>
          <a:bodyPr>
            <a:normAutofit/>
          </a:bodyPr>
          <a:lstStyle/>
          <a:p>
            <a:r>
              <a:rPr lang="ja-JP" altLang="en-US" b="0" dirty="0">
                <a:latin typeface="メイリオ" panose="020B0604030504040204" pitchFamily="50" charset="-128"/>
                <a:ea typeface="メイリオ" panose="020B0604030504040204" pitchFamily="50" charset="-128"/>
              </a:rPr>
              <a:t>独立変数</a:t>
            </a:r>
            <a:endParaRPr lang="en-US" altLang="ja-JP" b="0" dirty="0">
              <a:latin typeface="メイリオ" panose="020B0604030504040204" pitchFamily="50" charset="-128"/>
              <a:ea typeface="メイリオ" panose="020B0604030504040204" pitchFamily="50" charset="-128"/>
            </a:endParaRPr>
          </a:p>
          <a:p>
            <a:pPr lvl="1"/>
            <a:r>
              <a:rPr lang="en-US" altLang="ja-JP" dirty="0">
                <a:latin typeface="メイリオ" panose="020B0604030504040204" pitchFamily="50" charset="-128"/>
                <a:ea typeface="メイリオ" panose="020B0604030504040204" pitchFamily="50" charset="-128"/>
              </a:rPr>
              <a:t>2</a:t>
            </a:r>
            <a:r>
              <a:rPr lang="ja-JP" altLang="en-US" dirty="0">
                <a:latin typeface="メイリオ" panose="020B0604030504040204" pitchFamily="50" charset="-128"/>
                <a:ea typeface="メイリオ" panose="020B0604030504040204" pitchFamily="50" charset="-128"/>
              </a:rPr>
              <a:t>要因</a:t>
            </a:r>
            <a:r>
              <a:rPr lang="en-US" altLang="ja-JP" dirty="0">
                <a:latin typeface="メイリオ" panose="020B0604030504040204" pitchFamily="50" charset="-128"/>
                <a:ea typeface="メイリオ" panose="020B0604030504040204" pitchFamily="50" charset="-128"/>
              </a:rPr>
              <a:t>4</a:t>
            </a:r>
            <a:r>
              <a:rPr lang="ja-JP" altLang="en-US" dirty="0">
                <a:latin typeface="メイリオ" panose="020B0604030504040204" pitchFamily="50" charset="-128"/>
                <a:ea typeface="メイリオ" panose="020B0604030504040204" pitchFamily="50" charset="-128"/>
              </a:rPr>
              <a:t>条件</a:t>
            </a:r>
            <a:endParaRPr lang="en-US" altLang="ja-JP"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条件間比較</a:t>
            </a:r>
            <a:br>
              <a:rPr lang="en-US" altLang="ja-JP" dirty="0">
                <a:latin typeface="メイリオ" panose="020B0604030504040204" pitchFamily="50" charset="-128"/>
                <a:ea typeface="メイリオ" panose="020B0604030504040204" pitchFamily="50" charset="-128"/>
              </a:rPr>
            </a:br>
            <a:endParaRPr lang="en-US" altLang="ja-JP" dirty="0">
              <a:latin typeface="メイリオ" panose="020B0604030504040204" pitchFamily="50" charset="-128"/>
              <a:ea typeface="メイリオ" panose="020B0604030504040204" pitchFamily="50" charset="-128"/>
            </a:endParaRPr>
          </a:p>
          <a:p>
            <a:r>
              <a:rPr kumimoji="1" lang="ja-JP" altLang="en-US" b="0" dirty="0">
                <a:latin typeface="メイリオ" panose="020B0604030504040204" pitchFamily="50" charset="-128"/>
                <a:ea typeface="メイリオ" panose="020B0604030504040204" pitchFamily="50" charset="-128"/>
              </a:rPr>
              <a:t>従属変数</a:t>
            </a:r>
            <a:endParaRPr kumimoji="1"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勇気尺度</a:t>
            </a:r>
            <a:endParaRPr lang="en-US" altLang="ja-JP" dirty="0">
              <a:latin typeface="メイリオ" panose="020B0604030504040204" pitchFamily="50" charset="-128"/>
              <a:ea typeface="メイリオ" panose="020B0604030504040204" pitchFamily="50" charset="-128"/>
            </a:endParaRPr>
          </a:p>
        </p:txBody>
      </p:sp>
      <p:sp>
        <p:nvSpPr>
          <p:cNvPr id="2" name="タイトル 1">
            <a:extLst>
              <a:ext uri="{FF2B5EF4-FFF2-40B4-BE49-F238E27FC236}">
                <a16:creationId xmlns:a16="http://schemas.microsoft.com/office/drawing/2014/main" id="{BDF87EAE-ECF3-DF73-6E37-DCB2FD770EB3}"/>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 2</a:t>
            </a:r>
          </a:p>
        </p:txBody>
      </p:sp>
      <p:graphicFrame>
        <p:nvGraphicFramePr>
          <p:cNvPr id="6" name="表 5">
            <a:extLst>
              <a:ext uri="{FF2B5EF4-FFF2-40B4-BE49-F238E27FC236}">
                <a16:creationId xmlns:a16="http://schemas.microsoft.com/office/drawing/2014/main" id="{B004F0C7-6D9B-9B38-28F2-270475ED234E}"/>
              </a:ext>
            </a:extLst>
          </p:cNvPr>
          <p:cNvGraphicFramePr>
            <a:graphicFrameLocks noGrp="1"/>
          </p:cNvGraphicFramePr>
          <p:nvPr>
            <p:extLst>
              <p:ext uri="{D42A27DB-BD31-4B8C-83A1-F6EECF244321}">
                <p14:modId xmlns:p14="http://schemas.microsoft.com/office/powerpoint/2010/main" val="1901704546"/>
              </p:ext>
            </p:extLst>
          </p:nvPr>
        </p:nvGraphicFramePr>
        <p:xfrm>
          <a:off x="4965913" y="1569743"/>
          <a:ext cx="4473601" cy="2189595"/>
        </p:xfrm>
        <a:graphic>
          <a:graphicData uri="http://schemas.openxmlformats.org/drawingml/2006/table">
            <a:tbl>
              <a:tblPr/>
              <a:tblGrid>
                <a:gridCol w="474103">
                  <a:extLst>
                    <a:ext uri="{9D8B030D-6E8A-4147-A177-3AD203B41FA5}">
                      <a16:colId xmlns:a16="http://schemas.microsoft.com/office/drawing/2014/main" val="24610681"/>
                    </a:ext>
                  </a:extLst>
                </a:gridCol>
                <a:gridCol w="1999749">
                  <a:extLst>
                    <a:ext uri="{9D8B030D-6E8A-4147-A177-3AD203B41FA5}">
                      <a16:colId xmlns:a16="http://schemas.microsoft.com/office/drawing/2014/main" val="2117162621"/>
                    </a:ext>
                  </a:extLst>
                </a:gridCol>
                <a:gridCol w="1999749">
                  <a:extLst>
                    <a:ext uri="{9D8B030D-6E8A-4147-A177-3AD203B41FA5}">
                      <a16:colId xmlns:a16="http://schemas.microsoft.com/office/drawing/2014/main" val="1096694092"/>
                    </a:ext>
                  </a:extLst>
                </a:gridCol>
              </a:tblGrid>
              <a:tr h="437919">
                <a:tc>
                  <a:txBody>
                    <a:bodyPr/>
                    <a:lstStyle/>
                    <a:p>
                      <a:pPr algn="l" fontAlgn="ct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1" dirty="0"/>
                        <a:t>Conflict presence</a:t>
                      </a:r>
                      <a:endParaRPr lang="en-US" sz="1600" b="1"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1" i="0" u="none" strike="noStrike" dirty="0">
                          <a:solidFill>
                            <a:srgbClr val="000000"/>
                          </a:solidFill>
                          <a:effectLst/>
                          <a:latin typeface="メイリオ" panose="020B0604030504040204" pitchFamily="50" charset="-128"/>
                          <a:ea typeface="メイリオ" panose="020B0604030504040204" pitchFamily="50" charset="-128"/>
                        </a:rPr>
                        <a:t>Action presence</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793342"/>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①</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No-Conflict</a:t>
                      </a:r>
                      <a:endParaRPr lang="en-US" sz="1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7969755"/>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②</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2519204"/>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③</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No-Action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0521873"/>
                  </a:ext>
                </a:extLst>
              </a:tr>
              <a:tr h="437919">
                <a:tc>
                  <a:txBody>
                    <a:bodyPr/>
                    <a:lstStyle/>
                    <a:p>
                      <a:pPr algn="ctr" fontAlgn="ct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④</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Conflict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メイリオ" panose="020B0604030504040204" pitchFamily="50" charset="-128"/>
                          <a:ea typeface="メイリオ" panose="020B0604030504040204" pitchFamily="50" charset="-128"/>
                        </a:rPr>
                        <a:t>Action</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1260095"/>
                  </a:ext>
                </a:extLst>
              </a:tr>
            </a:tbl>
          </a:graphicData>
        </a:graphic>
      </p:graphicFrame>
      <p:sp>
        <p:nvSpPr>
          <p:cNvPr id="14" name="テキスト ボックス 13">
            <a:extLst>
              <a:ext uri="{FF2B5EF4-FFF2-40B4-BE49-F238E27FC236}">
                <a16:creationId xmlns:a16="http://schemas.microsoft.com/office/drawing/2014/main" id="{A43F89AE-2710-9100-0535-A55390C20BCA}"/>
              </a:ext>
            </a:extLst>
          </p:cNvPr>
          <p:cNvSpPr txBox="1"/>
          <p:nvPr/>
        </p:nvSpPr>
        <p:spPr>
          <a:xfrm>
            <a:off x="538468" y="1163754"/>
            <a:ext cx="11256554" cy="523220"/>
          </a:xfrm>
          <a:prstGeom prst="rect">
            <a:avLst/>
          </a:prstGeom>
          <a:noFill/>
        </p:spPr>
        <p:txBody>
          <a:bodyPr wrap="square" rtlCol="0">
            <a:spAutoFit/>
          </a:bodyPr>
          <a:lstStyle/>
          <a:p>
            <a:r>
              <a:rPr lang="ja-JP" altLang="en-US" sz="2800" b="1" dirty="0">
                <a:latin typeface="メイリオ" panose="020B0604030504040204" pitchFamily="50" charset="-128"/>
                <a:ea typeface="メイリオ" panose="020B0604030504040204" pitchFamily="50" charset="-128"/>
              </a:rPr>
              <a:t>実験設定</a:t>
            </a:r>
          </a:p>
        </p:txBody>
      </p:sp>
    </p:spTree>
    <p:extLst>
      <p:ext uri="{BB962C8B-B14F-4D97-AF65-F5344CB8AC3E}">
        <p14:creationId xmlns:p14="http://schemas.microsoft.com/office/powerpoint/2010/main" val="1403281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11D04-2D73-4A3B-D14F-93540A107720}"/>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E0F27557-B935-BF22-A691-AF784DD85CDB}"/>
              </a:ext>
            </a:extLst>
          </p:cNvPr>
          <p:cNvSpPr/>
          <p:nvPr/>
        </p:nvSpPr>
        <p:spPr>
          <a:xfrm>
            <a:off x="10590028" y="1187116"/>
            <a:ext cx="1392858" cy="14072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00ADA11C-E7DE-7B08-9892-79565CF323A8}"/>
              </a:ext>
            </a:extLst>
          </p:cNvPr>
          <p:cNvSpPr>
            <a:spLocks noGrp="1"/>
          </p:cNvSpPr>
          <p:nvPr>
            <p:ph idx="1"/>
          </p:nvPr>
        </p:nvSpPr>
        <p:spPr>
          <a:xfrm>
            <a:off x="339186" y="1833447"/>
            <a:ext cx="6434119" cy="4577080"/>
          </a:xfrm>
        </p:spPr>
        <p:txBody>
          <a:bodyPr>
            <a:normAutofit/>
          </a:bodyPr>
          <a:lstStyle/>
          <a:p>
            <a:r>
              <a:rPr lang="en-US" altLang="ja-JP" b="0" dirty="0">
                <a:latin typeface="メイリオ" panose="020B0604030504040204" pitchFamily="50" charset="-128"/>
                <a:ea typeface="メイリオ" panose="020B0604030504040204" pitchFamily="50" charset="-128"/>
              </a:rPr>
              <a:t>H1</a:t>
            </a:r>
            <a:endParaRPr kumimoji="1" lang="en-US" altLang="ja-JP" b="0" dirty="0">
              <a:latin typeface="メイリオ" panose="020B0604030504040204" pitchFamily="50" charset="-128"/>
              <a:ea typeface="メイリオ" panose="020B0604030504040204" pitchFamily="50" charset="-128"/>
            </a:endParaRPr>
          </a:p>
          <a:p>
            <a:pPr lvl="1"/>
            <a:r>
              <a:rPr kumimoji="1" lang="ja-JP" altLang="en-US" b="0" dirty="0">
                <a:latin typeface="メイリオ" panose="020B0604030504040204" pitchFamily="50" charset="-128"/>
                <a:ea typeface="メイリオ" panose="020B0604030504040204" pitchFamily="50" charset="-128"/>
              </a:rPr>
              <a:t>エージェントが行動に至る場合、観察者の勇気は向上する</a:t>
            </a:r>
            <a:endParaRPr kumimoji="1" lang="en-US" altLang="ja-JP" b="0" dirty="0">
              <a:latin typeface="メイリオ" panose="020B0604030504040204" pitchFamily="50" charset="-128"/>
              <a:ea typeface="メイリオ" panose="020B0604030504040204" pitchFamily="50" charset="-128"/>
            </a:endParaRPr>
          </a:p>
          <a:p>
            <a:r>
              <a:rPr lang="en-US" altLang="ja-JP" b="0" dirty="0">
                <a:latin typeface="メイリオ" panose="020B0604030504040204" pitchFamily="50" charset="-128"/>
                <a:ea typeface="メイリオ" panose="020B0604030504040204" pitchFamily="50" charset="-128"/>
              </a:rPr>
              <a:t>H2</a:t>
            </a:r>
          </a:p>
          <a:p>
            <a:pPr lvl="1"/>
            <a:r>
              <a:rPr kumimoji="1" lang="ja-JP" altLang="en-US" b="0" dirty="0">
                <a:latin typeface="メイリオ" panose="020B0604030504040204" pitchFamily="50" charset="-128"/>
                <a:ea typeface="メイリオ" panose="020B0604030504040204" pitchFamily="50" charset="-128"/>
              </a:rPr>
              <a:t>エージェントが行動する場合、葛藤を伴って行動する姿は、葛藤せず行動する姿よりも強く観察者の勇気が向上する</a:t>
            </a:r>
            <a:endParaRPr kumimoji="1" lang="en-US" altLang="ja-JP" b="0" dirty="0">
              <a:latin typeface="メイリオ" panose="020B0604030504040204" pitchFamily="50" charset="-128"/>
              <a:ea typeface="メイリオ" panose="020B0604030504040204" pitchFamily="50" charset="-128"/>
            </a:endParaRPr>
          </a:p>
          <a:p>
            <a:pPr lvl="1"/>
            <a:endParaRPr kumimoji="1" lang="en-US" altLang="ja-JP" b="0" dirty="0">
              <a:latin typeface="メイリオ" panose="020B0604030504040204" pitchFamily="50" charset="-128"/>
              <a:ea typeface="メイリオ" panose="020B0604030504040204" pitchFamily="50" charset="-128"/>
            </a:endParaRPr>
          </a:p>
        </p:txBody>
      </p:sp>
      <p:grpSp>
        <p:nvGrpSpPr>
          <p:cNvPr id="4" name="グループ化 3">
            <a:extLst>
              <a:ext uri="{FF2B5EF4-FFF2-40B4-BE49-F238E27FC236}">
                <a16:creationId xmlns:a16="http://schemas.microsoft.com/office/drawing/2014/main" id="{3CF995D6-413E-1C53-D61B-B99F2865FCA2}"/>
              </a:ext>
            </a:extLst>
          </p:cNvPr>
          <p:cNvGrpSpPr/>
          <p:nvPr/>
        </p:nvGrpSpPr>
        <p:grpSpPr>
          <a:xfrm>
            <a:off x="7362150" y="1895088"/>
            <a:ext cx="4426087" cy="3568823"/>
            <a:chOff x="3630967" y="2689934"/>
            <a:chExt cx="5138691" cy="3781887"/>
          </a:xfrm>
        </p:grpSpPr>
        <p:cxnSp>
          <p:nvCxnSpPr>
            <p:cNvPr id="5" name="直線コネクタ 4">
              <a:extLst>
                <a:ext uri="{FF2B5EF4-FFF2-40B4-BE49-F238E27FC236}">
                  <a16:creationId xmlns:a16="http://schemas.microsoft.com/office/drawing/2014/main" id="{C1494D09-692F-B22C-4443-DA7B700CB3B6}"/>
                </a:ext>
              </a:extLst>
            </p:cNvPr>
            <p:cNvCxnSpPr/>
            <p:nvPr/>
          </p:nvCxnSpPr>
          <p:spPr>
            <a:xfrm>
              <a:off x="3630967" y="2689934"/>
              <a:ext cx="0" cy="3781887"/>
            </a:xfrm>
            <a:prstGeom prst="line">
              <a:avLst/>
            </a:prstGeom>
            <a:ln w="28575">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FD7DC99A-7C54-CEF2-E520-3885642A7C23}"/>
                </a:ext>
              </a:extLst>
            </p:cNvPr>
            <p:cNvCxnSpPr>
              <a:cxnSpLocks/>
            </p:cNvCxnSpPr>
            <p:nvPr/>
          </p:nvCxnSpPr>
          <p:spPr>
            <a:xfrm flipH="1">
              <a:off x="3630967" y="6471821"/>
              <a:ext cx="5138691" cy="0"/>
            </a:xfrm>
            <a:prstGeom prst="line">
              <a:avLst/>
            </a:prstGeom>
            <a:ln w="28575">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grpSp>
      <p:sp>
        <p:nvSpPr>
          <p:cNvPr id="7" name="テキスト ボックス 6">
            <a:extLst>
              <a:ext uri="{FF2B5EF4-FFF2-40B4-BE49-F238E27FC236}">
                <a16:creationId xmlns:a16="http://schemas.microsoft.com/office/drawing/2014/main" id="{077C8E30-8993-8DEA-5F5D-F89379DD4B81}"/>
              </a:ext>
            </a:extLst>
          </p:cNvPr>
          <p:cNvSpPr txBox="1"/>
          <p:nvPr/>
        </p:nvSpPr>
        <p:spPr>
          <a:xfrm>
            <a:off x="10830047" y="2108390"/>
            <a:ext cx="494046" cy="369332"/>
          </a:xfrm>
          <a:prstGeom prst="rect">
            <a:avLst/>
          </a:prstGeom>
          <a:noFill/>
        </p:spPr>
        <p:txBody>
          <a:bodyPr wrap="none" rtlCol="0">
            <a:spAutoFit/>
          </a:bodyPr>
          <a:lstStyle/>
          <a:p>
            <a:r>
              <a:rPr kumimoji="1" lang="en-US" altLang="ja-JP" dirty="0">
                <a:latin typeface="メイリオ" panose="020B0604030504040204" pitchFamily="50" charset="-128"/>
                <a:ea typeface="メイリオ" panose="020B0604030504040204" pitchFamily="50" charset="-128"/>
              </a:rPr>
              <a:t>No</a:t>
            </a:r>
            <a:endParaRPr kumimoji="1" lang="ja-JP" altLang="en-US"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6E5AC063-9C47-B8D2-08A8-3891E333FAA3}"/>
              </a:ext>
            </a:extLst>
          </p:cNvPr>
          <p:cNvSpPr txBox="1"/>
          <p:nvPr/>
        </p:nvSpPr>
        <p:spPr>
          <a:xfrm>
            <a:off x="10776012" y="1739058"/>
            <a:ext cx="564450" cy="369332"/>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rPr>
              <a:t>Yes</a:t>
            </a:r>
            <a:endParaRPr kumimoji="1" lang="ja-JP" altLang="en-US"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8FC23A84-B3EF-8442-A3C4-ACB352EA7DB6}"/>
              </a:ext>
            </a:extLst>
          </p:cNvPr>
          <p:cNvSpPr txBox="1"/>
          <p:nvPr/>
        </p:nvSpPr>
        <p:spPr>
          <a:xfrm>
            <a:off x="10208135" y="5605500"/>
            <a:ext cx="564450" cy="369332"/>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rPr>
              <a:t>Yes</a:t>
            </a:r>
            <a:endParaRPr kumimoji="1" lang="ja-JP" altLang="en-US"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CDA833BE-CC02-E6D3-2C51-E1E6517BEBFA}"/>
              </a:ext>
            </a:extLst>
          </p:cNvPr>
          <p:cNvSpPr txBox="1"/>
          <p:nvPr/>
        </p:nvSpPr>
        <p:spPr>
          <a:xfrm>
            <a:off x="8160284" y="5605500"/>
            <a:ext cx="494046" cy="369332"/>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rPr>
              <a:t>No</a:t>
            </a:r>
            <a:endParaRPr kumimoji="1" lang="ja-JP" altLang="en-US" dirty="0">
              <a:latin typeface="メイリオ" panose="020B0604030504040204" pitchFamily="50" charset="-128"/>
              <a:ea typeface="メイリオ" panose="020B0604030504040204" pitchFamily="50" charset="-128"/>
            </a:endParaRPr>
          </a:p>
        </p:txBody>
      </p:sp>
      <p:cxnSp>
        <p:nvCxnSpPr>
          <p:cNvPr id="11" name="直線コネクタ 10">
            <a:extLst>
              <a:ext uri="{FF2B5EF4-FFF2-40B4-BE49-F238E27FC236}">
                <a16:creationId xmlns:a16="http://schemas.microsoft.com/office/drawing/2014/main" id="{D0B6A707-12D5-05FA-8DD4-89B69D76F847}"/>
              </a:ext>
            </a:extLst>
          </p:cNvPr>
          <p:cNvCxnSpPr/>
          <p:nvPr/>
        </p:nvCxnSpPr>
        <p:spPr>
          <a:xfrm flipV="1">
            <a:off x="8407307" y="4478120"/>
            <a:ext cx="2314575" cy="590550"/>
          </a:xfrm>
          <a:prstGeom prst="line">
            <a:avLst/>
          </a:prstGeom>
          <a:ln w="38100">
            <a:solidFill>
              <a:srgbClr val="0070C0"/>
            </a:solidFill>
          </a:ln>
        </p:spPr>
        <p:style>
          <a:lnRef idx="3">
            <a:schemeClr val="dk1"/>
          </a:lnRef>
          <a:fillRef idx="0">
            <a:schemeClr val="dk1"/>
          </a:fillRef>
          <a:effectRef idx="2">
            <a:schemeClr val="dk1"/>
          </a:effectRef>
          <a:fontRef idx="minor">
            <a:schemeClr val="tx1"/>
          </a:fontRef>
        </p:style>
      </p:cxnSp>
      <p:cxnSp>
        <p:nvCxnSpPr>
          <p:cNvPr id="12" name="直線コネクタ 11">
            <a:extLst>
              <a:ext uri="{FF2B5EF4-FFF2-40B4-BE49-F238E27FC236}">
                <a16:creationId xmlns:a16="http://schemas.microsoft.com/office/drawing/2014/main" id="{8ABC8648-CDCC-862F-88D1-935C2F099719}"/>
              </a:ext>
            </a:extLst>
          </p:cNvPr>
          <p:cNvCxnSpPr>
            <a:cxnSpLocks/>
          </p:cNvCxnSpPr>
          <p:nvPr/>
        </p:nvCxnSpPr>
        <p:spPr>
          <a:xfrm flipV="1">
            <a:off x="8407307" y="2820770"/>
            <a:ext cx="2314575" cy="1657350"/>
          </a:xfrm>
          <a:prstGeom prst="line">
            <a:avLst/>
          </a:prstGeom>
          <a:ln w="38100">
            <a:solidFill>
              <a:schemeClr val="accent2"/>
            </a:solidFill>
          </a:ln>
        </p:spPr>
        <p:style>
          <a:lnRef idx="3">
            <a:schemeClr val="dk1"/>
          </a:lnRef>
          <a:fillRef idx="0">
            <a:schemeClr val="dk1"/>
          </a:fillRef>
          <a:effectRef idx="2">
            <a:schemeClr val="dk1"/>
          </a:effectRef>
          <a:fontRef idx="minor">
            <a:schemeClr val="tx1"/>
          </a:fontRef>
        </p:style>
      </p:cxnSp>
      <p:cxnSp>
        <p:nvCxnSpPr>
          <p:cNvPr id="13" name="直線コネクタ 12">
            <a:extLst>
              <a:ext uri="{FF2B5EF4-FFF2-40B4-BE49-F238E27FC236}">
                <a16:creationId xmlns:a16="http://schemas.microsoft.com/office/drawing/2014/main" id="{1CE30B5E-343D-FBE0-A24D-9A1007DF7382}"/>
              </a:ext>
            </a:extLst>
          </p:cNvPr>
          <p:cNvCxnSpPr>
            <a:cxnSpLocks/>
          </p:cNvCxnSpPr>
          <p:nvPr/>
        </p:nvCxnSpPr>
        <p:spPr>
          <a:xfrm>
            <a:off x="11467638" y="1907956"/>
            <a:ext cx="298005" cy="0"/>
          </a:xfrm>
          <a:prstGeom prst="line">
            <a:avLst/>
          </a:prstGeom>
          <a:ln w="38100">
            <a:solidFill>
              <a:schemeClr val="accent2"/>
            </a:solidFill>
          </a:ln>
        </p:spPr>
        <p:style>
          <a:lnRef idx="3">
            <a:schemeClr val="dk1"/>
          </a:lnRef>
          <a:fillRef idx="0">
            <a:schemeClr val="dk1"/>
          </a:fillRef>
          <a:effectRef idx="2">
            <a:schemeClr val="dk1"/>
          </a:effectRef>
          <a:fontRef idx="minor">
            <a:schemeClr val="tx1"/>
          </a:fontRef>
        </p:style>
      </p:cxnSp>
      <p:cxnSp>
        <p:nvCxnSpPr>
          <p:cNvPr id="14" name="直線コネクタ 13">
            <a:extLst>
              <a:ext uri="{FF2B5EF4-FFF2-40B4-BE49-F238E27FC236}">
                <a16:creationId xmlns:a16="http://schemas.microsoft.com/office/drawing/2014/main" id="{084528BD-451B-F44D-D0D8-78181AF2B46D}"/>
              </a:ext>
            </a:extLst>
          </p:cNvPr>
          <p:cNvCxnSpPr>
            <a:cxnSpLocks/>
          </p:cNvCxnSpPr>
          <p:nvPr/>
        </p:nvCxnSpPr>
        <p:spPr>
          <a:xfrm>
            <a:off x="11467638" y="2249978"/>
            <a:ext cx="298005" cy="0"/>
          </a:xfrm>
          <a:prstGeom prst="line">
            <a:avLst/>
          </a:prstGeom>
          <a:ln w="38100">
            <a:solidFill>
              <a:srgbClr val="0070C0"/>
            </a:solidFill>
          </a:ln>
        </p:spPr>
        <p:style>
          <a:lnRef idx="3">
            <a:schemeClr val="dk1"/>
          </a:lnRef>
          <a:fillRef idx="0">
            <a:schemeClr val="dk1"/>
          </a:fillRef>
          <a:effectRef idx="2">
            <a:schemeClr val="dk1"/>
          </a:effectRef>
          <a:fontRef idx="minor">
            <a:schemeClr val="tx1"/>
          </a:fontRef>
        </p:style>
      </p:cxnSp>
      <p:sp>
        <p:nvSpPr>
          <p:cNvPr id="15" name="テキスト ボックス 14">
            <a:extLst>
              <a:ext uri="{FF2B5EF4-FFF2-40B4-BE49-F238E27FC236}">
                <a16:creationId xmlns:a16="http://schemas.microsoft.com/office/drawing/2014/main" id="{300BEC6B-67EA-625B-F106-FB413D70CF81}"/>
              </a:ext>
            </a:extLst>
          </p:cNvPr>
          <p:cNvSpPr txBox="1"/>
          <p:nvPr/>
        </p:nvSpPr>
        <p:spPr>
          <a:xfrm>
            <a:off x="6886803" y="995458"/>
            <a:ext cx="1392858" cy="923330"/>
          </a:xfrm>
          <a:prstGeom prst="rect">
            <a:avLst/>
          </a:prstGeom>
          <a:noFill/>
        </p:spPr>
        <p:txBody>
          <a:bodyPr wrap="square" rtlCol="0">
            <a:spAutoFit/>
          </a:bodyPr>
          <a:lstStyle/>
          <a:p>
            <a:r>
              <a:rPr kumimoji="1" lang="en-US" altLang="ja-JP" dirty="0">
                <a:latin typeface="メイリオ" panose="020B0604030504040204" pitchFamily="50" charset="-128"/>
                <a:ea typeface="メイリオ" panose="020B0604030504040204" pitchFamily="50" charset="-128"/>
              </a:rPr>
              <a:t>Courage Score Change</a:t>
            </a:r>
            <a:endParaRPr kumimoji="1" lang="ja-JP" altLang="en-US"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BBAD259-F654-D435-B0E0-5741EB3B7713}"/>
              </a:ext>
            </a:extLst>
          </p:cNvPr>
          <p:cNvSpPr txBox="1"/>
          <p:nvPr/>
        </p:nvSpPr>
        <p:spPr>
          <a:xfrm>
            <a:off x="654024" y="1187116"/>
            <a:ext cx="3098848" cy="523220"/>
          </a:xfrm>
          <a:prstGeom prst="rect">
            <a:avLst/>
          </a:prstGeom>
          <a:noFill/>
        </p:spPr>
        <p:txBody>
          <a:bodyPr wrap="square" rtlCol="0">
            <a:spAutoFit/>
          </a:bodyPr>
          <a:lstStyle/>
          <a:p>
            <a:r>
              <a:rPr lang="en-US" altLang="ja-JP" sz="2800" b="1" dirty="0">
                <a:latin typeface="メイリオ" panose="020B0604030504040204" pitchFamily="50" charset="-128"/>
                <a:ea typeface="メイリオ" panose="020B0604030504040204" pitchFamily="50" charset="-128"/>
              </a:rPr>
              <a:t>Hypothesis</a:t>
            </a:r>
            <a:endParaRPr lang="ja-JP" altLang="en-US" sz="28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70E61CD6-973F-52EF-161B-54DF2B6C5D3C}"/>
              </a:ext>
            </a:extLst>
          </p:cNvPr>
          <p:cNvSpPr txBox="1"/>
          <p:nvPr/>
        </p:nvSpPr>
        <p:spPr>
          <a:xfrm>
            <a:off x="9021195" y="5950804"/>
            <a:ext cx="886781" cy="369332"/>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rPr>
              <a:t>Action</a:t>
            </a:r>
            <a:endParaRPr kumimoji="1" lang="ja-JP" altLang="en-US"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32D1356-8470-07A3-8351-DEF89516081C}"/>
              </a:ext>
            </a:extLst>
          </p:cNvPr>
          <p:cNvSpPr txBox="1"/>
          <p:nvPr/>
        </p:nvSpPr>
        <p:spPr>
          <a:xfrm>
            <a:off x="10785578" y="1341004"/>
            <a:ext cx="1024704" cy="369332"/>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rPr>
              <a:t>Conflict</a:t>
            </a:r>
            <a:endParaRPr kumimoji="1" lang="ja-JP" altLang="en-US" dirty="0">
              <a:latin typeface="メイリオ" panose="020B0604030504040204" pitchFamily="50" charset="-128"/>
              <a:ea typeface="メイリオ" panose="020B0604030504040204" pitchFamily="50" charset="-128"/>
            </a:endParaRPr>
          </a:p>
        </p:txBody>
      </p:sp>
      <p:sp>
        <p:nvSpPr>
          <p:cNvPr id="20" name="タイトル 1">
            <a:extLst>
              <a:ext uri="{FF2B5EF4-FFF2-40B4-BE49-F238E27FC236}">
                <a16:creationId xmlns:a16="http://schemas.microsoft.com/office/drawing/2014/main" id="{793F195A-4412-8F8A-56BB-F1E2664B0E2E}"/>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 2</a:t>
            </a:r>
          </a:p>
        </p:txBody>
      </p:sp>
    </p:spTree>
    <p:extLst>
      <p:ext uri="{BB962C8B-B14F-4D97-AF65-F5344CB8AC3E}">
        <p14:creationId xmlns:p14="http://schemas.microsoft.com/office/powerpoint/2010/main" val="814566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8371-F44D-1FC9-3076-15FFBB6B88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DD22A2-7FB0-8529-C236-71A489DD3F67}"/>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a:t>
            </a:r>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 </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2 Result</a:t>
            </a:r>
          </a:p>
        </p:txBody>
      </p:sp>
      <p:pic>
        <p:nvPicPr>
          <p:cNvPr id="17" name="図 16" descr="グラフ, 折れ線グラフ&#10;&#10;AI 生成コンテンツは誤りを含む可能性があります。">
            <a:extLst>
              <a:ext uri="{FF2B5EF4-FFF2-40B4-BE49-F238E27FC236}">
                <a16:creationId xmlns:a16="http://schemas.microsoft.com/office/drawing/2014/main" id="{0BB26343-86D3-A59C-3226-F7CA974F4079}"/>
              </a:ext>
            </a:extLst>
          </p:cNvPr>
          <p:cNvPicPr>
            <a:picLocks noChangeAspect="1"/>
          </p:cNvPicPr>
          <p:nvPr/>
        </p:nvPicPr>
        <p:blipFill>
          <a:blip r:embed="rId3"/>
          <a:stretch>
            <a:fillRect/>
          </a:stretch>
        </p:blipFill>
        <p:spPr>
          <a:xfrm>
            <a:off x="6912390" y="2346407"/>
            <a:ext cx="5125276" cy="3843958"/>
          </a:xfrm>
          <a:prstGeom prst="rect">
            <a:avLst/>
          </a:prstGeom>
        </p:spPr>
      </p:pic>
      <p:sp>
        <p:nvSpPr>
          <p:cNvPr id="19" name="矢印: 下 18">
            <a:extLst>
              <a:ext uri="{FF2B5EF4-FFF2-40B4-BE49-F238E27FC236}">
                <a16:creationId xmlns:a16="http://schemas.microsoft.com/office/drawing/2014/main" id="{3ED0DB0A-141F-9F83-BD29-A577230D7CE9}"/>
              </a:ext>
            </a:extLst>
          </p:cNvPr>
          <p:cNvSpPr/>
          <p:nvPr/>
        </p:nvSpPr>
        <p:spPr>
          <a:xfrm>
            <a:off x="3040909" y="2597867"/>
            <a:ext cx="531628" cy="41467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D64FF4E1-14F9-FF1D-8F44-7D3C696E646D}"/>
              </a:ext>
            </a:extLst>
          </p:cNvPr>
          <p:cNvSpPr txBox="1"/>
          <p:nvPr/>
        </p:nvSpPr>
        <p:spPr>
          <a:xfrm>
            <a:off x="1469085" y="2065648"/>
            <a:ext cx="3951723"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交互作用有意（</a:t>
            </a:r>
            <a:r>
              <a:rPr kumimoji="1" lang="en-US" altLang="ja-JP" sz="2400" dirty="0">
                <a:latin typeface="メイリオ" panose="020B0604030504040204" pitchFamily="50" charset="-128"/>
                <a:ea typeface="メイリオ" panose="020B0604030504040204" pitchFamily="50" charset="-128"/>
              </a:rPr>
              <a:t>p=0.005</a:t>
            </a:r>
            <a:r>
              <a:rPr kumimoji="1" lang="ja-JP" altLang="en-US" sz="2400" dirty="0">
                <a:latin typeface="メイリオ" panose="020B0604030504040204" pitchFamily="50" charset="-128"/>
                <a:ea typeface="メイリオ" panose="020B0604030504040204" pitchFamily="50" charset="-128"/>
              </a:rPr>
              <a:t>）</a:t>
            </a:r>
          </a:p>
        </p:txBody>
      </p:sp>
      <mc:AlternateContent xmlns:mc="http://schemas.openxmlformats.org/markup-compatibility/2006" xmlns:a14="http://schemas.microsoft.com/office/drawing/2010/main">
        <mc:Choice Requires="a14">
          <p:sp>
            <p:nvSpPr>
              <p:cNvPr id="23" name="コンテンツ プレースホルダー 2">
                <a:extLst>
                  <a:ext uri="{FF2B5EF4-FFF2-40B4-BE49-F238E27FC236}">
                    <a16:creationId xmlns:a16="http://schemas.microsoft.com/office/drawing/2014/main" id="{AC71F1D7-DE24-B1E0-EAC9-C57938925B2E}"/>
                  </a:ext>
                </a:extLst>
              </p:cNvPr>
              <p:cNvSpPr>
                <a:spLocks noGrp="1"/>
              </p:cNvSpPr>
              <p:nvPr>
                <p:ph idx="1"/>
              </p:nvPr>
            </p:nvSpPr>
            <p:spPr>
              <a:xfrm>
                <a:off x="355477" y="3083091"/>
                <a:ext cx="6434119" cy="3300718"/>
              </a:xfrm>
            </p:spPr>
            <p:txBody>
              <a:bodyPr>
                <a:normAutofit fontScale="92500" lnSpcReduction="20000"/>
              </a:bodyPr>
              <a:lstStyle/>
              <a:p>
                <a:r>
                  <a:rPr lang="en-US" altLang="ja-JP" b="0" dirty="0">
                    <a:latin typeface="メイリオ" panose="020B0604030504040204" pitchFamily="50" charset="-128"/>
                    <a:ea typeface="メイリオ" panose="020B0604030504040204" pitchFamily="50" charset="-128"/>
                  </a:rPr>
                  <a:t>Conflict = No</a:t>
                </a:r>
                <a:endParaRPr lang="ja-JP" altLang="en-US" b="0" dirty="0">
                  <a:latin typeface="メイリオ" panose="020B0604030504040204" pitchFamily="50" charset="-128"/>
                  <a:ea typeface="メイリオ" panose="020B0604030504040204" pitchFamily="50" charset="-128"/>
                </a:endParaRPr>
              </a:p>
              <a:p>
                <a:pPr lvl="1"/>
                <a14:m>
                  <m:oMath xmlns:m="http://schemas.openxmlformats.org/officeDocument/2006/math">
                    <m:r>
                      <a:rPr lang="ja-JP" altLang="en-US" b="0" i="1" smtClean="0">
                        <a:latin typeface="Cambria Math" panose="02040503050406030204" pitchFamily="18" charset="0"/>
                      </a:rPr>
                      <m:t>𝑝</m:t>
                    </m:r>
                    <m:r>
                      <a:rPr lang="en-US" altLang="ja-JP" b="0" smtClean="0">
                        <a:latin typeface="Cambria Math" panose="02040503050406030204" pitchFamily="18" charset="0"/>
                      </a:rPr>
                      <m:t>=.006</m:t>
                    </m:r>
                  </m:oMath>
                </a14:m>
                <a:r>
                  <a:rPr lang="ja-JP" altLang="en-US" dirty="0">
                    <a:latin typeface="メイリオ" panose="020B0604030504040204" pitchFamily="50" charset="-128"/>
                    <a:ea typeface="メイリオ" panose="020B0604030504040204" pitchFamily="50" charset="-128"/>
                  </a:rPr>
                  <a:t> **</a:t>
                </a:r>
              </a:p>
              <a:p>
                <a:pPr lvl="1"/>
                <a:r>
                  <a:rPr lang="ja-JP" altLang="en-US" dirty="0">
                    <a:latin typeface="メイリオ" panose="020B0604030504040204" pitchFamily="50" charset="-128"/>
                    <a:ea typeface="メイリオ" panose="020B0604030504040204" pitchFamily="50" charset="-128"/>
                  </a:rPr>
                  <a:t>行動するかどうかが有意な差を生む。行動しないとマイナス、すればプラス。</a:t>
                </a:r>
              </a:p>
              <a:p>
                <a:r>
                  <a:rPr lang="en-US" altLang="ja-JP" b="0" dirty="0">
                    <a:latin typeface="メイリオ" panose="020B0604030504040204" pitchFamily="50" charset="-128"/>
                    <a:ea typeface="メイリオ" panose="020B0604030504040204" pitchFamily="50" charset="-128"/>
                  </a:rPr>
                  <a:t>Conflict = Yes</a:t>
                </a:r>
                <a:endParaRPr lang="ja-JP" altLang="en-US" b="0" dirty="0">
                  <a:latin typeface="メイリオ" panose="020B0604030504040204" pitchFamily="50" charset="-128"/>
                  <a:ea typeface="メイリオ" panose="020B0604030504040204" pitchFamily="50" charset="-128"/>
                </a:endParaRPr>
              </a:p>
              <a:p>
                <a:pPr lvl="1"/>
                <a14:m>
                  <m:oMath xmlns:m="http://schemas.openxmlformats.org/officeDocument/2006/math">
                    <m:r>
                      <a:rPr lang="ja-JP" altLang="en-US" b="0" i="1" smtClean="0">
                        <a:latin typeface="Cambria Math" panose="02040503050406030204" pitchFamily="18" charset="0"/>
                      </a:rPr>
                      <m:t>𝑝</m:t>
                    </m:r>
                    <m:r>
                      <a:rPr lang="en-US" altLang="ja-JP" b="0" smtClean="0">
                        <a:latin typeface="Cambria Math" panose="02040503050406030204" pitchFamily="18" charset="0"/>
                      </a:rPr>
                      <m:t>=.531</m:t>
                    </m:r>
                  </m:oMath>
                </a14:m>
                <a:r>
                  <a:rPr lang="ja-JP" altLang="en-US" dirty="0">
                    <a:latin typeface="メイリオ" panose="020B0604030504040204" pitchFamily="50" charset="-128"/>
                    <a:ea typeface="メイリオ" panose="020B0604030504040204" pitchFamily="50" charset="-128"/>
                  </a:rPr>
                  <a:t> </a:t>
                </a:r>
                <a:r>
                  <a:rPr lang="en-US" altLang="ja-JP" dirty="0" err="1">
                    <a:latin typeface="メイリオ" panose="020B0604030504040204" pitchFamily="50" charset="-128"/>
                    <a:ea typeface="メイリオ" panose="020B0604030504040204" pitchFamily="50" charset="-128"/>
                  </a:rPr>
                  <a:t>n.s</a:t>
                </a: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有意差なし。葛藤があれば、行動してもしなくても勇気評価は下がらない（むしろ上がる）。</a:t>
                </a:r>
              </a:p>
              <a:p>
                <a:endParaRPr kumimoji="1" lang="en-US" altLang="ja-JP" b="0" dirty="0">
                  <a:latin typeface="メイリオ" panose="020B0604030504040204" pitchFamily="50" charset="-128"/>
                  <a:ea typeface="メイリオ" panose="020B0604030504040204" pitchFamily="50" charset="-128"/>
                </a:endParaRPr>
              </a:p>
            </p:txBody>
          </p:sp>
        </mc:Choice>
        <mc:Fallback xmlns="">
          <p:sp>
            <p:nvSpPr>
              <p:cNvPr id="23" name="コンテンツ プレースホルダー 2">
                <a:extLst>
                  <a:ext uri="{FF2B5EF4-FFF2-40B4-BE49-F238E27FC236}">
                    <a16:creationId xmlns:a16="http://schemas.microsoft.com/office/drawing/2014/main" id="{AC71F1D7-DE24-B1E0-EAC9-C57938925B2E}"/>
                  </a:ext>
                </a:extLst>
              </p:cNvPr>
              <p:cNvSpPr>
                <a:spLocks noGrp="1" noRot="1" noChangeAspect="1" noMove="1" noResize="1" noEditPoints="1" noAdjustHandles="1" noChangeArrowheads="1" noChangeShapeType="1" noTextEdit="1"/>
              </p:cNvSpPr>
              <p:nvPr>
                <p:ph idx="1"/>
              </p:nvPr>
            </p:nvSpPr>
            <p:spPr>
              <a:xfrm>
                <a:off x="355477" y="3083091"/>
                <a:ext cx="6434119" cy="3300718"/>
              </a:xfrm>
              <a:blipFill>
                <a:blip r:embed="rId4"/>
                <a:stretch>
                  <a:fillRect l="-1420" t="-2957" r="-758"/>
                </a:stretch>
              </a:blipFill>
            </p:spPr>
            <p:txBody>
              <a:bodyPr/>
              <a:lstStyle/>
              <a:p>
                <a:r>
                  <a:rPr lang="ja-JP" altLang="en-US">
                    <a:noFill/>
                  </a:rPr>
                  <a:t> </a:t>
                </a:r>
              </a:p>
            </p:txBody>
          </p:sp>
        </mc:Fallback>
      </mc:AlternateContent>
      <p:sp>
        <p:nvSpPr>
          <p:cNvPr id="26" name="テキスト ボックス 25">
            <a:extLst>
              <a:ext uri="{FF2B5EF4-FFF2-40B4-BE49-F238E27FC236}">
                <a16:creationId xmlns:a16="http://schemas.microsoft.com/office/drawing/2014/main" id="{7241AD1B-D3B6-32D7-1E2E-2B870F33CC3D}"/>
              </a:ext>
            </a:extLst>
          </p:cNvPr>
          <p:cNvSpPr txBox="1"/>
          <p:nvPr/>
        </p:nvSpPr>
        <p:spPr>
          <a:xfrm>
            <a:off x="473692" y="1293460"/>
            <a:ext cx="8541459" cy="523220"/>
          </a:xfrm>
          <a:prstGeom prst="rect">
            <a:avLst/>
          </a:prstGeom>
          <a:noFill/>
        </p:spPr>
        <p:txBody>
          <a:bodyPr wrap="square" rtlCol="0">
            <a:spAutoFit/>
          </a:bodyPr>
          <a:lstStyle/>
          <a:p>
            <a:r>
              <a:rPr lang="en-US" altLang="ja-JP" sz="2800" b="1" dirty="0">
                <a:latin typeface="メイリオ" panose="020B0604030504040204" pitchFamily="50" charset="-128"/>
                <a:ea typeface="メイリオ" panose="020B0604030504040204" pitchFamily="50" charset="-128"/>
              </a:rPr>
              <a:t>Courage Score</a:t>
            </a:r>
            <a:r>
              <a:rPr lang="ja-JP" altLang="en-US" sz="2800" b="1" dirty="0">
                <a:latin typeface="メイリオ" panose="020B0604030504040204" pitchFamily="50" charset="-128"/>
                <a:ea typeface="メイリオ" panose="020B0604030504040204" pitchFamily="50" charset="-128"/>
              </a:rPr>
              <a:t> </a:t>
            </a:r>
            <a:r>
              <a:rPr lang="en-US" altLang="ja-JP" sz="2800" b="1" dirty="0">
                <a:latin typeface="メイリオ" panose="020B0604030504040204" pitchFamily="50" charset="-128"/>
                <a:ea typeface="メイリオ" panose="020B0604030504040204" pitchFamily="50" charset="-128"/>
              </a:rPr>
              <a:t>Change</a:t>
            </a:r>
            <a:r>
              <a:rPr lang="ja-JP" altLang="en-US" sz="2800" b="1" dirty="0">
                <a:latin typeface="メイリオ" panose="020B0604030504040204" pitchFamily="50" charset="-128"/>
                <a:ea typeface="メイリオ" panose="020B0604030504040204" pitchFamily="50" charset="-128"/>
              </a:rPr>
              <a:t>（</a:t>
            </a:r>
            <a:r>
              <a:rPr lang="en-US" altLang="ja-JP" sz="2800" b="1" dirty="0">
                <a:latin typeface="メイリオ" panose="020B0604030504040204" pitchFamily="50" charset="-128"/>
                <a:ea typeface="メイリオ" panose="020B0604030504040204" pitchFamily="50" charset="-128"/>
              </a:rPr>
              <a:t>Post-Pre</a:t>
            </a:r>
            <a:r>
              <a:rPr lang="ja-JP" altLang="en-US" sz="2800" b="1"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9918578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6A22-5EEA-BE9C-2CF9-3CA6DF629D4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C63161-0487-C84F-73C2-2FA23B444943}"/>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a:t>
            </a:r>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 </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2 Result</a:t>
            </a:r>
          </a:p>
        </p:txBody>
      </p:sp>
      <p:pic>
        <p:nvPicPr>
          <p:cNvPr id="17" name="図 16" descr="グラフ, 折れ線グラフ&#10;&#10;AI 生成コンテンツは誤りを含む可能性があります。">
            <a:extLst>
              <a:ext uri="{FF2B5EF4-FFF2-40B4-BE49-F238E27FC236}">
                <a16:creationId xmlns:a16="http://schemas.microsoft.com/office/drawing/2014/main" id="{A1244994-FF73-B469-46D1-ED8C9C9AE3B7}"/>
              </a:ext>
            </a:extLst>
          </p:cNvPr>
          <p:cNvPicPr>
            <a:picLocks noChangeAspect="1"/>
          </p:cNvPicPr>
          <p:nvPr/>
        </p:nvPicPr>
        <p:blipFill>
          <a:blip r:embed="rId3"/>
          <a:stretch>
            <a:fillRect/>
          </a:stretch>
        </p:blipFill>
        <p:spPr>
          <a:xfrm>
            <a:off x="6704536" y="2317898"/>
            <a:ext cx="5375940" cy="4031956"/>
          </a:xfrm>
          <a:prstGeom prst="rect">
            <a:avLst/>
          </a:prstGeom>
        </p:spPr>
      </p:pic>
      <p:sp>
        <p:nvSpPr>
          <p:cNvPr id="18" name="テキスト ボックス 17">
            <a:extLst>
              <a:ext uri="{FF2B5EF4-FFF2-40B4-BE49-F238E27FC236}">
                <a16:creationId xmlns:a16="http://schemas.microsoft.com/office/drawing/2014/main" id="{005383D2-0BC2-B01E-8F54-0C94FB5D89B0}"/>
              </a:ext>
            </a:extLst>
          </p:cNvPr>
          <p:cNvSpPr txBox="1"/>
          <p:nvPr/>
        </p:nvSpPr>
        <p:spPr>
          <a:xfrm>
            <a:off x="473692" y="1293460"/>
            <a:ext cx="8541459" cy="523220"/>
          </a:xfrm>
          <a:prstGeom prst="rect">
            <a:avLst/>
          </a:prstGeom>
          <a:noFill/>
        </p:spPr>
        <p:txBody>
          <a:bodyPr wrap="square" rtlCol="0">
            <a:spAutoFit/>
          </a:bodyPr>
          <a:lstStyle/>
          <a:p>
            <a:r>
              <a:rPr lang="en-US" altLang="ja-JP" sz="2800" b="1" dirty="0">
                <a:latin typeface="メイリオ" panose="020B0604030504040204" pitchFamily="50" charset="-128"/>
                <a:ea typeface="メイリオ" panose="020B0604030504040204" pitchFamily="50" charset="-128"/>
              </a:rPr>
              <a:t>Courage Score</a:t>
            </a:r>
            <a:r>
              <a:rPr lang="ja-JP" altLang="en-US" sz="2800" b="1" dirty="0">
                <a:latin typeface="メイリオ" panose="020B0604030504040204" pitchFamily="50" charset="-128"/>
                <a:ea typeface="メイリオ" panose="020B0604030504040204" pitchFamily="50" charset="-128"/>
              </a:rPr>
              <a:t> </a:t>
            </a:r>
            <a:r>
              <a:rPr lang="en-US" altLang="ja-JP" sz="2800" b="1" dirty="0">
                <a:latin typeface="メイリオ" panose="020B0604030504040204" pitchFamily="50" charset="-128"/>
                <a:ea typeface="メイリオ" panose="020B0604030504040204" pitchFamily="50" charset="-128"/>
              </a:rPr>
              <a:t>Change</a:t>
            </a:r>
            <a:r>
              <a:rPr lang="ja-JP" altLang="en-US" sz="2800" b="1" dirty="0">
                <a:latin typeface="メイリオ" panose="020B0604030504040204" pitchFamily="50" charset="-128"/>
                <a:ea typeface="メイリオ" panose="020B0604030504040204" pitchFamily="50" charset="-128"/>
              </a:rPr>
              <a:t>（</a:t>
            </a:r>
            <a:r>
              <a:rPr lang="en-US" altLang="ja-JP" sz="2800" b="1" dirty="0">
                <a:latin typeface="メイリオ" panose="020B0604030504040204" pitchFamily="50" charset="-128"/>
                <a:ea typeface="メイリオ" panose="020B0604030504040204" pitchFamily="50" charset="-128"/>
              </a:rPr>
              <a:t>Post-Pre</a:t>
            </a:r>
            <a:r>
              <a:rPr lang="ja-JP" altLang="en-US" sz="2800" b="1" dirty="0">
                <a:latin typeface="メイリオ" panose="020B0604030504040204" pitchFamily="50" charset="-128"/>
                <a:ea typeface="メイリオ" panose="020B0604030504040204" pitchFamily="50" charset="-128"/>
              </a:rPr>
              <a:t>）</a:t>
            </a:r>
          </a:p>
        </p:txBody>
      </p:sp>
      <p:sp>
        <p:nvSpPr>
          <p:cNvPr id="19" name="矢印: 下 18">
            <a:extLst>
              <a:ext uri="{FF2B5EF4-FFF2-40B4-BE49-F238E27FC236}">
                <a16:creationId xmlns:a16="http://schemas.microsoft.com/office/drawing/2014/main" id="{8B53FA9E-E20D-E34F-92A5-9CEA9CE63454}"/>
              </a:ext>
            </a:extLst>
          </p:cNvPr>
          <p:cNvSpPr/>
          <p:nvPr/>
        </p:nvSpPr>
        <p:spPr>
          <a:xfrm>
            <a:off x="3040909" y="2597867"/>
            <a:ext cx="531628" cy="41467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296AF394-ABE8-58B6-E332-74B8915F688D}"/>
              </a:ext>
            </a:extLst>
          </p:cNvPr>
          <p:cNvSpPr txBox="1"/>
          <p:nvPr/>
        </p:nvSpPr>
        <p:spPr>
          <a:xfrm>
            <a:off x="1469085" y="2065648"/>
            <a:ext cx="3951723"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交互作用有意（</a:t>
            </a:r>
            <a:r>
              <a:rPr kumimoji="1" lang="en-US" altLang="ja-JP" sz="2400" dirty="0">
                <a:latin typeface="メイリオ" panose="020B0604030504040204" pitchFamily="50" charset="-128"/>
                <a:ea typeface="メイリオ" panose="020B0604030504040204" pitchFamily="50" charset="-128"/>
              </a:rPr>
              <a:t>p=0.005</a:t>
            </a:r>
            <a:r>
              <a:rPr kumimoji="1" lang="ja-JP" altLang="en-US" sz="2400" dirty="0">
                <a:latin typeface="メイリオ" panose="020B0604030504040204" pitchFamily="50" charset="-128"/>
                <a:ea typeface="メイリオ" panose="020B0604030504040204" pitchFamily="50" charset="-128"/>
              </a:rPr>
              <a:t>）</a:t>
            </a:r>
          </a:p>
        </p:txBody>
      </p:sp>
      <mc:AlternateContent xmlns:mc="http://schemas.openxmlformats.org/markup-compatibility/2006" xmlns:a14="http://schemas.microsoft.com/office/drawing/2010/main">
        <mc:Choice Requires="a14">
          <p:sp>
            <p:nvSpPr>
              <p:cNvPr id="23" name="コンテンツ プレースホルダー 2">
                <a:extLst>
                  <a:ext uri="{FF2B5EF4-FFF2-40B4-BE49-F238E27FC236}">
                    <a16:creationId xmlns:a16="http://schemas.microsoft.com/office/drawing/2014/main" id="{26EF9D47-87D5-7354-7F7B-D627B7E2E777}"/>
                  </a:ext>
                </a:extLst>
              </p:cNvPr>
              <p:cNvSpPr>
                <a:spLocks noGrp="1"/>
              </p:cNvSpPr>
              <p:nvPr>
                <p:ph idx="1"/>
              </p:nvPr>
            </p:nvSpPr>
            <p:spPr>
              <a:xfrm>
                <a:off x="270417" y="3083091"/>
                <a:ext cx="6434119" cy="3615421"/>
              </a:xfrm>
            </p:spPr>
            <p:txBody>
              <a:bodyPr>
                <a:normAutofit fontScale="92500" lnSpcReduction="20000"/>
              </a:bodyPr>
              <a:lstStyle/>
              <a:p>
                <a:r>
                  <a:rPr lang="en-US" altLang="ja-JP" b="0" dirty="0">
                    <a:latin typeface="メイリオ" panose="020B0604030504040204" pitchFamily="50" charset="-128"/>
                    <a:ea typeface="メイリオ" panose="020B0604030504040204" pitchFamily="50" charset="-128"/>
                  </a:rPr>
                  <a:t>Action = No</a:t>
                </a:r>
                <a:endParaRPr lang="ja-JP" altLang="en-US" b="0" dirty="0">
                  <a:latin typeface="メイリオ" panose="020B0604030504040204" pitchFamily="50" charset="-128"/>
                  <a:ea typeface="メイリオ" panose="020B0604030504040204" pitchFamily="50" charset="-128"/>
                </a:endParaRPr>
              </a:p>
              <a:p>
                <a:pPr lvl="1"/>
                <a14:m>
                  <m:oMath xmlns:m="http://schemas.openxmlformats.org/officeDocument/2006/math">
                    <m:r>
                      <a:rPr lang="ja-JP" altLang="en-US" i="1">
                        <a:latin typeface="Cambria Math" panose="02040503050406030204" pitchFamily="18" charset="0"/>
                      </a:rPr>
                      <m:t>𝑝</m:t>
                    </m:r>
                    <m:r>
                      <a:rPr lang="en-US" altLang="ja-JP">
                        <a:latin typeface="Cambria Math" panose="02040503050406030204" pitchFamily="18" charset="0"/>
                      </a:rPr>
                      <m:t>=.005</m:t>
                    </m:r>
                  </m:oMath>
                </a14:m>
                <a:r>
                  <a:rPr lang="ja-JP" altLang="en-US" b="1" dirty="0">
                    <a:latin typeface="メイリオ" panose="020B0604030504040204" pitchFamily="50" charset="-128"/>
                    <a:ea typeface="メイリオ" panose="020B0604030504040204" pitchFamily="50" charset="-128"/>
                  </a:rPr>
                  <a:t> **</a:t>
                </a:r>
                <a:endParaRPr lang="ja-JP" altLang="en-US"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行動できない場合、葛藤の有無が有意な差を生む。葛藤を見せないとマイナスだが、見せればプラスになる。</a:t>
                </a:r>
                <a:endParaRPr lang="en-US" altLang="ja-JP"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a:t>
                </a:r>
              </a:p>
              <a:p>
                <a:r>
                  <a:rPr lang="en-US" altLang="ja-JP" b="0" dirty="0">
                    <a:latin typeface="メイリオ" panose="020B0604030504040204" pitchFamily="50" charset="-128"/>
                    <a:ea typeface="メイリオ" panose="020B0604030504040204" pitchFamily="50" charset="-128"/>
                  </a:rPr>
                  <a:t>Action = Yes</a:t>
                </a:r>
                <a:endParaRPr lang="ja-JP" altLang="en-US" b="0" dirty="0">
                  <a:latin typeface="メイリオ" panose="020B0604030504040204" pitchFamily="50" charset="-128"/>
                  <a:ea typeface="メイリオ" panose="020B0604030504040204" pitchFamily="50" charset="-128"/>
                </a:endParaRPr>
              </a:p>
              <a:p>
                <a:pPr lvl="1"/>
                <a14:m>
                  <m:oMath xmlns:m="http://schemas.openxmlformats.org/officeDocument/2006/math">
                    <m:r>
                      <a:rPr lang="ja-JP" altLang="en-US" i="1">
                        <a:latin typeface="Cambria Math" panose="02040503050406030204" pitchFamily="18" charset="0"/>
                      </a:rPr>
                      <m:t>𝑝</m:t>
                    </m:r>
                    <m:r>
                      <a:rPr lang="en-US" altLang="ja-JP">
                        <a:latin typeface="Cambria Math" panose="02040503050406030204" pitchFamily="18" charset="0"/>
                      </a:rPr>
                      <m:t>=.230</m:t>
                    </m:r>
                  </m:oMath>
                </a14:m>
                <a:r>
                  <a:rPr lang="ja-JP" altLang="en-US" b="1" dirty="0">
                    <a:latin typeface="メイリオ" panose="020B0604030504040204" pitchFamily="50" charset="-128"/>
                    <a:ea typeface="メイリオ" panose="020B0604030504040204" pitchFamily="50" charset="-128"/>
                  </a:rPr>
                  <a:t> </a:t>
                </a:r>
                <a:r>
                  <a:rPr lang="en-US" altLang="ja-JP" dirty="0" err="1">
                    <a:latin typeface="メイリオ" panose="020B0604030504040204" pitchFamily="50" charset="-128"/>
                    <a:ea typeface="メイリオ" panose="020B0604030504040204" pitchFamily="50" charset="-128"/>
                  </a:rPr>
                  <a:t>n.s</a:t>
                </a: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有意差なし。行動できた場合は、葛藤の有無に関わらず高い評価が得られる。</a:t>
                </a:r>
                <a:endParaRPr lang="en-US" altLang="ja-JP" dirty="0">
                  <a:latin typeface="メイリオ" panose="020B0604030504040204" pitchFamily="50" charset="-128"/>
                  <a:ea typeface="メイリオ" panose="020B0604030504040204" pitchFamily="50" charset="-128"/>
                </a:endParaRPr>
              </a:p>
            </p:txBody>
          </p:sp>
        </mc:Choice>
        <mc:Fallback xmlns="">
          <p:sp>
            <p:nvSpPr>
              <p:cNvPr id="23" name="コンテンツ プレースホルダー 2">
                <a:extLst>
                  <a:ext uri="{FF2B5EF4-FFF2-40B4-BE49-F238E27FC236}">
                    <a16:creationId xmlns:a16="http://schemas.microsoft.com/office/drawing/2014/main" id="{26EF9D47-87D5-7354-7F7B-D627B7E2E777}"/>
                  </a:ext>
                </a:extLst>
              </p:cNvPr>
              <p:cNvSpPr>
                <a:spLocks noGrp="1" noRot="1" noChangeAspect="1" noMove="1" noResize="1" noEditPoints="1" noAdjustHandles="1" noChangeArrowheads="1" noChangeShapeType="1" noTextEdit="1"/>
              </p:cNvSpPr>
              <p:nvPr>
                <p:ph idx="1"/>
              </p:nvPr>
            </p:nvSpPr>
            <p:spPr>
              <a:xfrm>
                <a:off x="270417" y="3083091"/>
                <a:ext cx="6434119" cy="3615421"/>
              </a:xfrm>
              <a:blipFill>
                <a:blip r:embed="rId4"/>
                <a:stretch>
                  <a:fillRect l="-1420" t="-2698" r="-75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64778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CD7B8-112F-123A-499A-741EAF1A990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コンテンツ プレースホルダー 4">
                <a:extLst>
                  <a:ext uri="{FF2B5EF4-FFF2-40B4-BE49-F238E27FC236}">
                    <a16:creationId xmlns:a16="http://schemas.microsoft.com/office/drawing/2014/main" id="{32F8FE9F-7312-5323-81EB-F3259AF5E395}"/>
                  </a:ext>
                </a:extLst>
              </p:cNvPr>
              <p:cNvSpPr>
                <a:spLocks noGrp="1"/>
              </p:cNvSpPr>
              <p:nvPr>
                <p:ph idx="1"/>
              </p:nvPr>
            </p:nvSpPr>
            <p:spPr>
              <a:xfrm>
                <a:off x="555716" y="1892595"/>
                <a:ext cx="11023140" cy="4784652"/>
              </a:xfrm>
            </p:spPr>
            <p:txBody>
              <a:bodyPr/>
              <a:lstStyle/>
              <a:p>
                <a:r>
                  <a:rPr lang="en-US" altLang="ja-JP" b="0" dirty="0">
                    <a:latin typeface="メイリオ" panose="020B0604030504040204" pitchFamily="50" charset="-128"/>
                    <a:ea typeface="メイリオ" panose="020B0604030504040204" pitchFamily="50" charset="-128"/>
                  </a:rPr>
                  <a:t>H1:</a:t>
                </a:r>
                <a:r>
                  <a:rPr lang="ja-JP" altLang="en-US" b="0" dirty="0">
                    <a:latin typeface="メイリオ" panose="020B0604030504040204" pitchFamily="50" charset="-128"/>
                    <a:ea typeface="メイリオ" panose="020B0604030504040204" pitchFamily="50" charset="-128"/>
                  </a:rPr>
                  <a:t>エージェントが行動に至る場合、観察者の勇気は向上する</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判定</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支持された</a:t>
                </a:r>
                <a:endParaRPr lang="ja-JP" altLang="en-US"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根拠</a:t>
                </a:r>
                <a:r>
                  <a:rPr lang="en-US" altLang="ja-JP" b="0" dirty="0">
                    <a:latin typeface="メイリオ" panose="020B0604030504040204" pitchFamily="50" charset="-128"/>
                    <a:ea typeface="メイリオ" panose="020B0604030504040204" pitchFamily="50" charset="-128"/>
                  </a:rPr>
                  <a:t>:</a:t>
                </a:r>
              </a:p>
              <a:p>
                <a:pPr lvl="2"/>
                <a:r>
                  <a:rPr lang="ja-JP" altLang="en-US" b="1" dirty="0">
                    <a:latin typeface="メイリオ" panose="020B0604030504040204" pitchFamily="50" charset="-128"/>
                    <a:ea typeface="メイリオ" panose="020B0604030504040204" pitchFamily="50" charset="-128"/>
                  </a:rPr>
                  <a:t>勇気尺度</a:t>
                </a:r>
                <a:r>
                  <a:rPr lang="en-US" altLang="ja-JP" b="1" dirty="0">
                    <a:latin typeface="メイリオ" panose="020B0604030504040204" pitchFamily="50" charset="-128"/>
                    <a:ea typeface="メイリオ" panose="020B0604030504040204" pitchFamily="50" charset="-128"/>
                  </a:rPr>
                  <a:t>(Diff)</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「葛藤なし」条件において、行動した群はしなかった群より有意にスコアが増加 </a:t>
                </a:r>
                <a:r>
                  <a:rPr lang="en-US" altLang="ja-JP" dirty="0">
                    <a:latin typeface="メイリオ" panose="020B0604030504040204" pitchFamily="50" charset="-128"/>
                    <a:ea typeface="メイリオ" panose="020B0604030504040204" pitchFamily="50" charset="-128"/>
                  </a:rPr>
                  <a:t>(</a:t>
                </a:r>
                <a14:m>
                  <m:oMath xmlns:m="http://schemas.openxmlformats.org/officeDocument/2006/math">
                    <m:r>
                      <a:rPr lang="ja-JP" altLang="en-US" i="1">
                        <a:latin typeface="Cambria Math" panose="02040503050406030204" pitchFamily="18" charset="0"/>
                      </a:rPr>
                      <m:t>𝑝</m:t>
                    </m:r>
                    <m:r>
                      <a:rPr lang="en-US" altLang="ja-JP">
                        <a:latin typeface="Cambria Math" panose="02040503050406030204" pitchFamily="18" charset="0"/>
                      </a:rPr>
                      <m:t>&lt;.01</m:t>
                    </m:r>
                  </m:oMath>
                </a14:m>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a:t>
                </a:r>
              </a:p>
              <a:p>
                <a:pPr lvl="1"/>
                <a:r>
                  <a:rPr lang="ja-JP" altLang="en-US" b="0" dirty="0">
                    <a:latin typeface="メイリオ" panose="020B0604030504040204" pitchFamily="50" charset="-128"/>
                    <a:ea typeface="メイリオ" panose="020B0604030504040204" pitchFamily="50" charset="-128"/>
                  </a:rPr>
                  <a:t>「行動（成功）」は、人をポジティブに変化させる強力なエンジンである。</a:t>
                </a:r>
              </a:p>
            </p:txBody>
          </p:sp>
        </mc:Choice>
        <mc:Fallback xmlns="">
          <p:sp>
            <p:nvSpPr>
              <p:cNvPr id="5" name="コンテンツ プレースホルダー 4">
                <a:extLst>
                  <a:ext uri="{FF2B5EF4-FFF2-40B4-BE49-F238E27FC236}">
                    <a16:creationId xmlns:a16="http://schemas.microsoft.com/office/drawing/2014/main" id="{32F8FE9F-7312-5323-81EB-F3259AF5E395}"/>
                  </a:ext>
                </a:extLst>
              </p:cNvPr>
              <p:cNvSpPr>
                <a:spLocks noGrp="1" noRot="1" noChangeAspect="1" noMove="1" noResize="1" noEditPoints="1" noAdjustHandles="1" noChangeArrowheads="1" noChangeShapeType="1" noTextEdit="1"/>
              </p:cNvSpPr>
              <p:nvPr>
                <p:ph idx="1"/>
              </p:nvPr>
            </p:nvSpPr>
            <p:spPr>
              <a:xfrm>
                <a:off x="555716" y="1892595"/>
                <a:ext cx="11023140" cy="4784652"/>
              </a:xfrm>
              <a:blipFill>
                <a:blip r:embed="rId3"/>
                <a:stretch>
                  <a:fillRect l="-940" t="-637" r="-608"/>
                </a:stretch>
              </a:blipFill>
            </p:spPr>
            <p:txBody>
              <a:bodyPr/>
              <a:lstStyle/>
              <a:p>
                <a:r>
                  <a:rPr lang="ja-JP" altLang="en-US">
                    <a:noFill/>
                  </a:rPr>
                  <a:t> </a:t>
                </a:r>
              </a:p>
            </p:txBody>
          </p:sp>
        </mc:Fallback>
      </mc:AlternateContent>
      <p:sp>
        <p:nvSpPr>
          <p:cNvPr id="7" name="タイトル 1">
            <a:extLst>
              <a:ext uri="{FF2B5EF4-FFF2-40B4-BE49-F238E27FC236}">
                <a16:creationId xmlns:a16="http://schemas.microsoft.com/office/drawing/2014/main" id="{0AC6BA45-B5A3-DA95-CC4E-7ABA7E2481D6}"/>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a:t>
            </a:r>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 </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2 Result</a:t>
            </a:r>
          </a:p>
        </p:txBody>
      </p:sp>
      <p:sp>
        <p:nvSpPr>
          <p:cNvPr id="8" name="テキスト ボックス 7">
            <a:extLst>
              <a:ext uri="{FF2B5EF4-FFF2-40B4-BE49-F238E27FC236}">
                <a16:creationId xmlns:a16="http://schemas.microsoft.com/office/drawing/2014/main" id="{AED6D2BC-39DE-8649-545B-1946111E8ED1}"/>
              </a:ext>
            </a:extLst>
          </p:cNvPr>
          <p:cNvSpPr txBox="1"/>
          <p:nvPr/>
        </p:nvSpPr>
        <p:spPr>
          <a:xfrm>
            <a:off x="643813" y="1205884"/>
            <a:ext cx="8541459" cy="523220"/>
          </a:xfrm>
          <a:prstGeom prst="rect">
            <a:avLst/>
          </a:prstGeom>
          <a:noFill/>
        </p:spPr>
        <p:txBody>
          <a:bodyPr wrap="square" rtlCol="0">
            <a:spAutoFit/>
          </a:bodyPr>
          <a:lstStyle/>
          <a:p>
            <a:r>
              <a:rPr lang="en-US" altLang="ja-JP" sz="2800" b="1" dirty="0">
                <a:latin typeface="メイリオ" panose="020B0604030504040204" pitchFamily="50" charset="-128"/>
                <a:ea typeface="メイリオ" panose="020B0604030504040204" pitchFamily="50" charset="-128"/>
              </a:rPr>
              <a:t>Hypothesis verification</a:t>
            </a:r>
            <a:endParaRPr lang="ja-JP" altLang="en-US" sz="28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52565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DFAC9-CF02-D580-6ECF-D0A3E2AECEC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コンテンツ プレースホルダー 4">
                <a:extLst>
                  <a:ext uri="{FF2B5EF4-FFF2-40B4-BE49-F238E27FC236}">
                    <a16:creationId xmlns:a16="http://schemas.microsoft.com/office/drawing/2014/main" id="{2C2FBAB8-8934-193B-2BC2-84A88C90FBBB}"/>
                  </a:ext>
                </a:extLst>
              </p:cNvPr>
              <p:cNvSpPr>
                <a:spLocks noGrp="1"/>
              </p:cNvSpPr>
              <p:nvPr>
                <p:ph idx="1"/>
              </p:nvPr>
            </p:nvSpPr>
            <p:spPr>
              <a:xfrm>
                <a:off x="473692" y="2041451"/>
                <a:ext cx="11105164" cy="4635796"/>
              </a:xfrm>
            </p:spPr>
            <p:txBody>
              <a:bodyPr>
                <a:normAutofit/>
              </a:bodyPr>
              <a:lstStyle/>
              <a:p>
                <a:r>
                  <a:rPr lang="en-US" altLang="ja-JP" b="0" dirty="0">
                    <a:latin typeface="メイリオ" panose="020B0604030504040204" pitchFamily="50" charset="-128"/>
                    <a:ea typeface="メイリオ" panose="020B0604030504040204" pitchFamily="50" charset="-128"/>
                  </a:rPr>
                  <a:t>H2:</a:t>
                </a:r>
                <a:r>
                  <a:rPr lang="ja-JP" altLang="en-US" b="0" dirty="0">
                    <a:latin typeface="メイリオ" panose="020B0604030504040204" pitchFamily="50" charset="-128"/>
                    <a:ea typeface="メイリオ" panose="020B0604030504040204" pitchFamily="50" charset="-128"/>
                  </a:rPr>
                  <a:t>エージェントが行動する場合、葛藤を伴って行動する姿は、葛藤せず行動する姿よりも強く観察者の勇気が向上する</a:t>
                </a:r>
                <a:endParaRPr lang="en-US" altLang="ja-JP"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判定</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支持されなかった</a:t>
                </a:r>
                <a:endParaRPr lang="ja-JP" altLang="en-US" b="0" dirty="0">
                  <a:latin typeface="メイリオ" panose="020B0604030504040204" pitchFamily="50" charset="-128"/>
                  <a:ea typeface="メイリオ" panose="020B0604030504040204" pitchFamily="50" charset="-128"/>
                </a:endParaRPr>
              </a:p>
              <a:p>
                <a:pPr lvl="1"/>
                <a:r>
                  <a:rPr lang="ja-JP" altLang="en-US" dirty="0">
                    <a:latin typeface="メイリオ" panose="020B0604030504040204" pitchFamily="50" charset="-128"/>
                    <a:ea typeface="メイリオ" panose="020B0604030504040204" pitchFamily="50" charset="-128"/>
                  </a:rPr>
                  <a:t>根拠</a:t>
                </a:r>
                <a:r>
                  <a:rPr lang="en-US" altLang="ja-JP" b="0" dirty="0">
                    <a:latin typeface="メイリオ" panose="020B0604030504040204" pitchFamily="50" charset="-128"/>
                    <a:ea typeface="メイリオ" panose="020B0604030504040204" pitchFamily="50" charset="-128"/>
                  </a:rPr>
                  <a:t>: </a:t>
                </a:r>
                <a:r>
                  <a:rPr lang="ja-JP" altLang="en-US" b="0" dirty="0">
                    <a:latin typeface="メイリオ" panose="020B0604030504040204" pitchFamily="50" charset="-128"/>
                    <a:ea typeface="メイリオ" panose="020B0604030504040204" pitchFamily="50" charset="-128"/>
                  </a:rPr>
                  <a:t>行動あり（</a:t>
                </a:r>
                <a:r>
                  <a:rPr lang="en-US" altLang="ja-JP" b="0" dirty="0">
                    <a:latin typeface="メイリオ" panose="020B0604030504040204" pitchFamily="50" charset="-128"/>
                    <a:ea typeface="メイリオ" panose="020B0604030504040204" pitchFamily="50" charset="-128"/>
                  </a:rPr>
                  <a:t>Action=Yes</a:t>
                </a:r>
                <a:r>
                  <a:rPr lang="ja-JP" altLang="en-US" b="0" dirty="0">
                    <a:latin typeface="メイリオ" panose="020B0604030504040204" pitchFamily="50" charset="-128"/>
                    <a:ea typeface="メイリオ" panose="020B0604030504040204" pitchFamily="50" charset="-128"/>
                  </a:rPr>
                  <a:t>）条件において、葛藤の有無による勇気スコアの変化量に有意差は見られなかった </a:t>
                </a:r>
                <a:r>
                  <a:rPr lang="en-US" altLang="ja-JP" b="0" dirty="0">
                    <a:latin typeface="メイリオ" panose="020B0604030504040204" pitchFamily="50" charset="-128"/>
                    <a:ea typeface="メイリオ" panose="020B0604030504040204" pitchFamily="50" charset="-128"/>
                  </a:rPr>
                  <a:t>(</a:t>
                </a:r>
                <a14:m>
                  <m:oMath xmlns:m="http://schemas.openxmlformats.org/officeDocument/2006/math">
                    <m:r>
                      <a:rPr lang="ja-JP" altLang="en-US" i="1">
                        <a:latin typeface="Cambria Math" panose="02040503050406030204" pitchFamily="18" charset="0"/>
                      </a:rPr>
                      <m:t>𝑝</m:t>
                    </m:r>
                    <m:r>
                      <a:rPr lang="en-US" altLang="ja-JP">
                        <a:latin typeface="Cambria Math" panose="02040503050406030204" pitchFamily="18" charset="0"/>
                      </a:rPr>
                      <m:t>=.23</m:t>
                    </m:r>
                  </m:oMath>
                </a14:m>
                <a:r>
                  <a:rPr lang="en-US" altLang="ja-JP" b="0" dirty="0">
                    <a:latin typeface="メイリオ" panose="020B0604030504040204" pitchFamily="50" charset="-128"/>
                    <a:ea typeface="メイリオ" panose="020B0604030504040204" pitchFamily="50" charset="-128"/>
                  </a:rPr>
                  <a:t>)</a:t>
                </a:r>
                <a:r>
                  <a:rPr lang="ja-JP" altLang="en-US" b="0" dirty="0">
                    <a:latin typeface="メイリオ" panose="020B0604030504040204" pitchFamily="50" charset="-128"/>
                    <a:ea typeface="メイリオ" panose="020B0604030504040204" pitchFamily="50" charset="-128"/>
                  </a:rPr>
                  <a:t>。</a:t>
                </a:r>
              </a:p>
              <a:p>
                <a:pPr lvl="1"/>
                <a:r>
                  <a:rPr lang="ja-JP" altLang="en-US" dirty="0">
                    <a:latin typeface="メイリオ" panose="020B0604030504040204" pitchFamily="50" charset="-128"/>
                    <a:ea typeface="メイリオ" panose="020B0604030504040204" pitchFamily="50" charset="-128"/>
                  </a:rPr>
                  <a:t>考察</a:t>
                </a:r>
                <a:r>
                  <a:rPr lang="en-US" altLang="ja-JP" b="0" dirty="0">
                    <a:latin typeface="メイリオ" panose="020B0604030504040204" pitchFamily="50" charset="-128"/>
                    <a:ea typeface="メイリオ" panose="020B0604030504040204" pitchFamily="50" charset="-128"/>
                  </a:rPr>
                  <a:t>:</a:t>
                </a:r>
              </a:p>
              <a:p>
                <a:pPr lvl="2"/>
                <a:r>
                  <a:rPr lang="ja-JP" altLang="en-US" dirty="0">
                    <a:latin typeface="メイリオ" panose="020B0604030504040204" pitchFamily="50" charset="-128"/>
                    <a:ea typeface="メイリオ" panose="020B0604030504040204" pitchFamily="50" charset="-128"/>
                  </a:rPr>
                  <a:t>行動が達成された時点で、視聴者の注目は「プロセス（葛藤）」よりも「結果（成功）」に強く集まった可能性がある。</a:t>
                </a:r>
              </a:p>
              <a:p>
                <a:pPr lvl="2"/>
                <a:r>
                  <a:rPr lang="ja-JP" altLang="en-US" dirty="0">
                    <a:latin typeface="メイリオ" panose="020B0604030504040204" pitchFamily="50" charset="-128"/>
                    <a:ea typeface="メイリオ" panose="020B0604030504040204" pitchFamily="50" charset="-128"/>
                  </a:rPr>
                  <a:t>「迷わず進む強さ（葛藤なし）」への憧れと、「恐怖を乗り越える姿勢（葛藤あり）」への共感が、異なるルートで同程度の勇気づけ効果を生んだと考えられる。</a:t>
                </a:r>
              </a:p>
            </p:txBody>
          </p:sp>
        </mc:Choice>
        <mc:Fallback xmlns="">
          <p:sp>
            <p:nvSpPr>
              <p:cNvPr id="5" name="コンテンツ プレースホルダー 4">
                <a:extLst>
                  <a:ext uri="{FF2B5EF4-FFF2-40B4-BE49-F238E27FC236}">
                    <a16:creationId xmlns:a16="http://schemas.microsoft.com/office/drawing/2014/main" id="{2C2FBAB8-8934-193B-2BC2-84A88C90FBBB}"/>
                  </a:ext>
                </a:extLst>
              </p:cNvPr>
              <p:cNvSpPr>
                <a:spLocks noGrp="1" noRot="1" noChangeAspect="1" noMove="1" noResize="1" noEditPoints="1" noAdjustHandles="1" noChangeArrowheads="1" noChangeShapeType="1" noTextEdit="1"/>
              </p:cNvSpPr>
              <p:nvPr>
                <p:ph idx="1"/>
              </p:nvPr>
            </p:nvSpPr>
            <p:spPr>
              <a:xfrm>
                <a:off x="473692" y="2041451"/>
                <a:ext cx="11105164" cy="4635796"/>
              </a:xfrm>
              <a:blipFill>
                <a:blip r:embed="rId3"/>
                <a:stretch>
                  <a:fillRect l="-988" t="-658"/>
                </a:stretch>
              </a:blipFill>
            </p:spPr>
            <p:txBody>
              <a:bodyPr/>
              <a:lstStyle/>
              <a:p>
                <a:r>
                  <a:rPr lang="ja-JP" altLang="en-US">
                    <a:noFill/>
                  </a:rPr>
                  <a:t> </a:t>
                </a:r>
              </a:p>
            </p:txBody>
          </p:sp>
        </mc:Fallback>
      </mc:AlternateContent>
      <p:sp>
        <p:nvSpPr>
          <p:cNvPr id="3" name="タイトル 1">
            <a:extLst>
              <a:ext uri="{FF2B5EF4-FFF2-40B4-BE49-F238E27FC236}">
                <a16:creationId xmlns:a16="http://schemas.microsoft.com/office/drawing/2014/main" id="{6016E346-59F4-52A8-C118-BF8ED8F73FA7}"/>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Experiment</a:t>
            </a:r>
            <a:r>
              <a:rPr lang="ja-JP" altLang="en-US" sz="4000" dirty="0">
                <a:solidFill>
                  <a:schemeClr val="accent3">
                    <a:lumMod val="60000"/>
                    <a:lumOff val="40000"/>
                  </a:schemeClr>
                </a:solidFill>
                <a:latin typeface="メイリオ" panose="020B0604030504040204" pitchFamily="50" charset="-128"/>
                <a:ea typeface="メイリオ" panose="020B0604030504040204" pitchFamily="50" charset="-128"/>
              </a:rPr>
              <a:t> </a:t>
            </a:r>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2 Result</a:t>
            </a:r>
          </a:p>
        </p:txBody>
      </p:sp>
      <p:sp>
        <p:nvSpPr>
          <p:cNvPr id="4" name="テキスト ボックス 3">
            <a:extLst>
              <a:ext uri="{FF2B5EF4-FFF2-40B4-BE49-F238E27FC236}">
                <a16:creationId xmlns:a16="http://schemas.microsoft.com/office/drawing/2014/main" id="{1E641559-0B21-946B-8F16-95ED3C75869C}"/>
              </a:ext>
            </a:extLst>
          </p:cNvPr>
          <p:cNvSpPr txBox="1"/>
          <p:nvPr/>
        </p:nvSpPr>
        <p:spPr>
          <a:xfrm>
            <a:off x="643813" y="1205884"/>
            <a:ext cx="8541459" cy="523220"/>
          </a:xfrm>
          <a:prstGeom prst="rect">
            <a:avLst/>
          </a:prstGeom>
          <a:noFill/>
        </p:spPr>
        <p:txBody>
          <a:bodyPr wrap="square" rtlCol="0">
            <a:spAutoFit/>
          </a:bodyPr>
          <a:lstStyle/>
          <a:p>
            <a:r>
              <a:rPr lang="en-US" altLang="ja-JP" sz="2800" b="1" dirty="0">
                <a:latin typeface="メイリオ" panose="020B0604030504040204" pitchFamily="50" charset="-128"/>
                <a:ea typeface="メイリオ" panose="020B0604030504040204" pitchFamily="50" charset="-128"/>
              </a:rPr>
              <a:t>Hypothesis verification</a:t>
            </a:r>
            <a:endParaRPr lang="ja-JP" altLang="en-US" sz="28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14207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DA70A-0933-967D-DC25-54E3EF284A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0DED08-58A6-1B15-9F87-CF069DF2DFDE}"/>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Summery of Result and Discussion</a:t>
            </a:r>
          </a:p>
        </p:txBody>
      </p:sp>
      <p:sp>
        <p:nvSpPr>
          <p:cNvPr id="5" name="コンテンツ プレースホルダー 4">
            <a:extLst>
              <a:ext uri="{FF2B5EF4-FFF2-40B4-BE49-F238E27FC236}">
                <a16:creationId xmlns:a16="http://schemas.microsoft.com/office/drawing/2014/main" id="{09FB0C89-0E83-F9F0-FD3D-14AA02F501DA}"/>
              </a:ext>
            </a:extLst>
          </p:cNvPr>
          <p:cNvSpPr>
            <a:spLocks noGrp="1"/>
          </p:cNvSpPr>
          <p:nvPr>
            <p:ph idx="1"/>
          </p:nvPr>
        </p:nvSpPr>
        <p:spPr>
          <a:xfrm>
            <a:off x="555716" y="1169581"/>
            <a:ext cx="11023140" cy="5507666"/>
          </a:xfrm>
        </p:spPr>
        <p:txBody>
          <a:bodyPr>
            <a:normAutofit/>
          </a:bodyPr>
          <a:lstStyle/>
          <a:p>
            <a:r>
              <a:rPr lang="ja-JP" altLang="en-US" b="0" dirty="0">
                <a:latin typeface="メイリオ" panose="020B0604030504040204" pitchFamily="50" charset="-128"/>
                <a:ea typeface="メイリオ" panose="020B0604030504040204" pitchFamily="50" charset="-128"/>
              </a:rPr>
              <a:t>エージェントが行動すると、観察者の勇気レベルが向上した。</a:t>
            </a:r>
          </a:p>
          <a:p>
            <a:pPr lvl="1"/>
            <a:r>
              <a:rPr lang="ja-JP" altLang="en-US" b="0" dirty="0">
                <a:latin typeface="メイリオ" panose="020B0604030504040204" pitchFamily="50" charset="-128"/>
                <a:ea typeface="メイリオ" panose="020B0604030504040204" pitchFamily="50" charset="-128"/>
              </a:rPr>
              <a:t>行動することは、</a:t>
            </a:r>
            <a:r>
              <a:rPr lang="ja-JP" altLang="en-US" dirty="0">
                <a:latin typeface="メイリオ" panose="020B0604030504040204" pitchFamily="50" charset="-128"/>
                <a:ea typeface="メイリオ" panose="020B0604030504040204" pitchFamily="50" charset="-128"/>
              </a:rPr>
              <a:t>人を勇気づける</a:t>
            </a:r>
            <a:r>
              <a:rPr lang="ja-JP" altLang="en-US" b="0" dirty="0">
                <a:latin typeface="メイリオ" panose="020B0604030504040204" pitchFamily="50" charset="-128"/>
                <a:ea typeface="メイリオ" panose="020B0604030504040204" pitchFamily="50" charset="-128"/>
              </a:rPr>
              <a:t>最も強力な要因である。</a:t>
            </a:r>
          </a:p>
          <a:p>
            <a:r>
              <a:rPr lang="ja-JP" altLang="en-US" b="0" dirty="0">
                <a:latin typeface="メイリオ" panose="020B0604030504040204" pitchFamily="50" charset="-128"/>
                <a:ea typeface="メイリオ" panose="020B0604030504040204" pitchFamily="50" charset="-128"/>
              </a:rPr>
              <a:t>エージェントが行動できた場合、葛藤の有無による勇気レベルに有意差はなかった。</a:t>
            </a:r>
          </a:p>
          <a:p>
            <a:pPr lvl="1"/>
            <a:r>
              <a:rPr lang="ja-JP" altLang="en-US" b="0" dirty="0">
                <a:latin typeface="メイリオ" panose="020B0604030504040204" pitchFamily="50" charset="-128"/>
                <a:ea typeface="メイリオ" panose="020B0604030504040204" pitchFamily="50" charset="-128"/>
              </a:rPr>
              <a:t>成功という結果が強力すぎて、プロセスの違いは埋もれてしまった。迷わず進む「憧れ」と、悩み抜く「共感」のどちらも、人を同じくらい勇気づけた。</a:t>
            </a:r>
          </a:p>
          <a:p>
            <a:r>
              <a:rPr lang="ja-JP" altLang="en-US" b="0" dirty="0">
                <a:latin typeface="メイリオ" panose="020B0604030504040204" pitchFamily="50" charset="-128"/>
                <a:ea typeface="メイリオ" panose="020B0604030504040204" pitchFamily="50" charset="-128"/>
              </a:rPr>
              <a:t>エージェントが行動できなかった場合、「葛藤を見せない」と勇気レベルは低下し、「葛藤を見せる」と逆に上昇した。</a:t>
            </a:r>
          </a:p>
          <a:p>
            <a:pPr lvl="1"/>
            <a:r>
              <a:rPr lang="ja-JP" altLang="en-US" b="0" dirty="0">
                <a:latin typeface="メイリオ" panose="020B0604030504040204" pitchFamily="50" charset="-128"/>
                <a:ea typeface="メイリオ" panose="020B0604030504040204" pitchFamily="50" charset="-128"/>
              </a:rPr>
              <a:t>「葛藤」は失敗時の失望を防ぐセーフティネットであり、</a:t>
            </a:r>
            <a:r>
              <a:rPr lang="ja-JP" altLang="en-US" dirty="0">
                <a:latin typeface="メイリオ" panose="020B0604030504040204" pitchFamily="50" charset="-128"/>
                <a:ea typeface="メイリオ" panose="020B0604030504040204" pitchFamily="50" charset="-128"/>
              </a:rPr>
              <a:t>結果が出なくてもプロセスへの共感によって人を勇気づけられる</a:t>
            </a:r>
            <a:r>
              <a:rPr lang="ja-JP" altLang="en-US" b="0" dirty="0">
                <a:latin typeface="メイリオ" panose="020B0604030504040204" pitchFamily="50" charset="-128"/>
                <a:ea typeface="メイリオ" panose="020B0604030504040204" pitchFamily="50" charset="-128"/>
              </a:rPr>
              <a:t>こと</a:t>
            </a:r>
            <a:r>
              <a:rPr lang="ja-JP" altLang="en-US" dirty="0">
                <a:latin typeface="メイリオ" panose="020B0604030504040204" pitchFamily="50" charset="-128"/>
                <a:ea typeface="メイリオ" panose="020B0604030504040204" pitchFamily="50" charset="-128"/>
              </a:rPr>
              <a:t>がわかった</a:t>
            </a:r>
            <a:r>
              <a:rPr lang="ja-JP" altLang="en-US" b="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776497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2D51-D02C-2789-AEC5-AD2E071408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67E662-3E57-C906-D61C-6930DAD57D84}"/>
              </a:ext>
            </a:extLst>
          </p:cNvPr>
          <p:cNvSpPr txBox="1">
            <a:spLocks/>
          </p:cNvSpPr>
          <p:nvPr/>
        </p:nvSpPr>
        <p:spPr>
          <a:xfrm>
            <a:off x="473692" y="67503"/>
            <a:ext cx="107980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4000" dirty="0">
                <a:solidFill>
                  <a:schemeClr val="accent3">
                    <a:lumMod val="60000"/>
                    <a:lumOff val="40000"/>
                  </a:schemeClr>
                </a:solidFill>
                <a:latin typeface="メイリオ" panose="020B0604030504040204" pitchFamily="50" charset="-128"/>
                <a:ea typeface="メイリオ" panose="020B0604030504040204" pitchFamily="50" charset="-128"/>
              </a:rPr>
              <a:t>Conclusion</a:t>
            </a:r>
          </a:p>
        </p:txBody>
      </p:sp>
      <p:sp>
        <p:nvSpPr>
          <p:cNvPr id="5" name="コンテンツ プレースホルダー 4">
            <a:extLst>
              <a:ext uri="{FF2B5EF4-FFF2-40B4-BE49-F238E27FC236}">
                <a16:creationId xmlns:a16="http://schemas.microsoft.com/office/drawing/2014/main" id="{DF4693CF-CC47-42DE-7BB2-081EB7382ED0}"/>
              </a:ext>
            </a:extLst>
          </p:cNvPr>
          <p:cNvSpPr>
            <a:spLocks noGrp="1"/>
          </p:cNvSpPr>
          <p:nvPr>
            <p:ph idx="1"/>
          </p:nvPr>
        </p:nvSpPr>
        <p:spPr>
          <a:xfrm>
            <a:off x="555716" y="1169581"/>
            <a:ext cx="11023140" cy="5620916"/>
          </a:xfrm>
        </p:spPr>
        <p:txBody>
          <a:bodyPr>
            <a:normAutofit/>
          </a:bodyPr>
          <a:lstStyle/>
          <a:p>
            <a:r>
              <a:rPr lang="ja-JP" altLang="en-US" b="0" dirty="0">
                <a:latin typeface="メイリオ" panose="020B0604030504040204" pitchFamily="50" charset="-128"/>
                <a:ea typeface="メイリオ" panose="020B0604030504040204" pitchFamily="50" charset="-128"/>
              </a:rPr>
              <a:t>本実験では、行動の有無と葛藤の有無が観察者の勇気に与える影響を検証した。</a:t>
            </a:r>
          </a:p>
          <a:p>
            <a:r>
              <a:rPr lang="ja-JP" altLang="en-US" b="0" dirty="0">
                <a:latin typeface="メイリオ" panose="020B0604030504040204" pitchFamily="50" charset="-128"/>
                <a:ea typeface="メイリオ" panose="020B0604030504040204" pitchFamily="50" charset="-128"/>
              </a:rPr>
              <a:t>エージェントによる勇気づけにおいて、行動することはその要因だが、</a:t>
            </a:r>
            <a:r>
              <a:rPr lang="ja-JP" altLang="en-US" dirty="0">
                <a:latin typeface="メイリオ" panose="020B0604030504040204" pitchFamily="50" charset="-128"/>
                <a:ea typeface="メイリオ" panose="020B0604030504040204" pitchFamily="50" charset="-128"/>
              </a:rPr>
              <a:t>行動に至らない状況であっても、葛藤が表出されていれば、観察者は内面的な勇気を得られる</a:t>
            </a:r>
            <a:r>
              <a:rPr lang="ja-JP" altLang="en-US" b="0" dirty="0">
                <a:latin typeface="メイリオ" panose="020B0604030504040204" pitchFamily="50" charset="-128"/>
                <a:ea typeface="メイリオ" panose="020B0604030504040204" pitchFamily="50" charset="-128"/>
              </a:rPr>
              <a:t>ことが実証された。</a:t>
            </a:r>
            <a:endParaRPr lang="en-US" altLang="ja-JP" b="0" dirty="0">
              <a:latin typeface="メイリオ" panose="020B0604030504040204" pitchFamily="50" charset="-128"/>
              <a:ea typeface="メイリオ" panose="020B0604030504040204" pitchFamily="50" charset="-128"/>
            </a:endParaRPr>
          </a:p>
          <a:p>
            <a:r>
              <a:rPr lang="ja-JP" altLang="en-US" b="0" dirty="0">
                <a:latin typeface="メイリオ" panose="020B0604030504040204" pitchFamily="50" charset="-128"/>
                <a:ea typeface="メイリオ" panose="020B0604030504040204" pitchFamily="50" charset="-128"/>
              </a:rPr>
              <a:t>これは、実験</a:t>
            </a:r>
            <a:r>
              <a:rPr lang="en-US" altLang="ja-JP" b="0" dirty="0">
                <a:latin typeface="メイリオ" panose="020B0604030504040204" pitchFamily="50" charset="-128"/>
                <a:ea typeface="メイリオ" panose="020B0604030504040204" pitchFamily="50" charset="-128"/>
              </a:rPr>
              <a:t>1</a:t>
            </a:r>
            <a:r>
              <a:rPr lang="ja-JP" altLang="en-US" b="0" dirty="0">
                <a:latin typeface="メイリオ" panose="020B0604030504040204" pitchFamily="50" charset="-128"/>
                <a:ea typeface="メイリオ" panose="020B0604030504040204" pitchFamily="50" charset="-128"/>
              </a:rPr>
              <a:t>で示された「葛藤する姿に対しての勇気の知覚」が、観察者自身の勇気づけに対しても有効であること、特に</a:t>
            </a:r>
            <a:r>
              <a:rPr lang="ja-JP" altLang="en-US" dirty="0">
                <a:latin typeface="メイリオ" panose="020B0604030504040204" pitchFamily="50" charset="-128"/>
                <a:ea typeface="メイリオ" panose="020B0604030504040204" pitchFamily="50" charset="-128"/>
              </a:rPr>
              <a:t>具体的な行動成果が得られない場面でこそ、そのプロセスの共有が重要になる</a:t>
            </a:r>
            <a:r>
              <a:rPr lang="ja-JP" altLang="en-US" b="0" dirty="0">
                <a:latin typeface="メイリオ" panose="020B0604030504040204" pitchFamily="50" charset="-128"/>
                <a:ea typeface="メイリオ" panose="020B0604030504040204" pitchFamily="50" charset="-128"/>
              </a:rPr>
              <a:t>ことを示唆している。</a:t>
            </a:r>
          </a:p>
        </p:txBody>
      </p:sp>
    </p:spTree>
    <p:extLst>
      <p:ext uri="{BB962C8B-B14F-4D97-AF65-F5344CB8AC3E}">
        <p14:creationId xmlns:p14="http://schemas.microsoft.com/office/powerpoint/2010/main" val="921485303"/>
      </p:ext>
    </p:extLst>
  </p:cSld>
  <p:clrMapOvr>
    <a:masterClrMapping/>
  </p:clrMapOvr>
</p:sld>
</file>

<file path=ppt/theme/theme1.xml><?xml version="1.0" encoding="utf-8"?>
<a:theme xmlns:a="http://schemas.openxmlformats.org/drawingml/2006/main" name="Office テーマ">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2">
      <a:majorFont>
        <a:latin typeface="Segoe UI"/>
        <a:ea typeface="游ゴシック Medium"/>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研究発表用テンプレート2018版.potx" id="{A469081F-64EF-4CF6-91D3-5B6940AC2E8C}" vid="{E103DA89-B06B-4F94-A5A3-B576187FA3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33ED81-A378-482E-B710-0D21A32023B2}">
  <ds:schemaRefs>
    <ds:schemaRef ds:uri="http://schemas.microsoft.com/office/2006/metadata/properties"/>
    <ds:schemaRef ds:uri="http://schemas.microsoft.com/office/2006/documentManagement/types"/>
    <ds:schemaRef ds:uri="http://purl.org/dc/dcmitype/"/>
    <ds:schemaRef ds:uri="http://purl.org/dc/terms/"/>
    <ds:schemaRef ds:uri="http://schemas.openxmlformats.org/package/2006/metadata/core-properties"/>
    <ds:schemaRef ds:uri="http://schemas.microsoft.com/office/infopath/2007/PartnerControls"/>
    <ds:schemaRef ds:uri="http://www.w3.org/XML/1998/namespace"/>
    <ds:schemaRef ds:uri="http://purl.org/dc/elements/1.1/"/>
  </ds:schemaRefs>
</ds:datastoreItem>
</file>

<file path=customXml/itemProps2.xml><?xml version="1.0" encoding="utf-8"?>
<ds:datastoreItem xmlns:ds="http://schemas.openxmlformats.org/officeDocument/2006/customXml" ds:itemID="{0EFD21F3-24CC-4605-A5CE-D678D2531AFB}">
  <ds:schemaRefs>
    <ds:schemaRef ds:uri="http://schemas.microsoft.com/sharepoint/v3/contenttype/forms"/>
  </ds:schemaRefs>
</ds:datastoreItem>
</file>

<file path=customXml/itemProps3.xml><?xml version="1.0" encoding="utf-8"?>
<ds:datastoreItem xmlns:ds="http://schemas.openxmlformats.org/officeDocument/2006/customXml" ds:itemID="{BE74453E-F96D-478A-A3EE-1788D5BEB2BD}">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テンプレート</Template>
  <TotalTime>60247</TotalTime>
  <Words>4040</Words>
  <Application>Microsoft Office PowerPoint</Application>
  <PresentationFormat>ワイド画面</PresentationFormat>
  <Paragraphs>399</Paragraphs>
  <Slides>31</Slides>
  <Notes>31</Notes>
  <HiddenSlides>0</HiddenSlides>
  <MMClips>2</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游ゴシック</vt:lpstr>
      <vt:lpstr>游ゴシック Medium</vt:lpstr>
      <vt:lpstr>Arial</vt:lpstr>
      <vt:lpstr>Cambria Math</vt:lpstr>
      <vt:lpstr>Segoe UI</vt:lpstr>
      <vt:lpstr>Wingdings</vt:lpstr>
      <vt:lpstr>Office テーマ</vt:lpstr>
      <vt:lpstr>エージェントの勇気ある行動の観察が人の勇気を引き出す効果の検証</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友貴 清水</dc:creator>
  <cp:lastModifiedBy>友貴 清水</cp:lastModifiedBy>
  <cp:revision>30</cp:revision>
  <cp:lastPrinted>2025-09-06T08:19:20Z</cp:lastPrinted>
  <dcterms:created xsi:type="dcterms:W3CDTF">2024-04-05T10:23:25Z</dcterms:created>
  <dcterms:modified xsi:type="dcterms:W3CDTF">2026-02-03T04:55:24Z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